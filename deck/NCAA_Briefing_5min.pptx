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ANSWER (30s). The NCAA hired us as its new data team and asked one question: who wins the next title? Our system's answer: Villanova, with a 38.6 percent chance to win the 2019 championship, well ahead of Duke at 14.5. That number is not a hunch. It comes from projecting every team's strength into next season, building a likely field of 68, and playing that tournament ten thousand times inside BigQuery. It is a forecast with honest uncertainty: Villanova's projected margin has an 80 percent band of plus 24.5 to plus 41.2, and the projection cannot see early NBA departures or transfers.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LEAGUE (30s). First, what the league looks like. The Big 12 was the strongest conference in 2017-18, just ahead of the Big East and ACC. The game is changing: pace rose from 66.5 to about 71 possessions per game, and the share of shots from three went up every season, from 34.3 to 37.4 percent. And March is noisy: about one tournament game in four went to the worse seed. Three of the last four champions were not the strongest team going in. So we do not pick a team. We play the tournament ten thousand times and count champions.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(1 min 15s). Read left to right. Raw NCAA tables and Knowledge Catalog scans come in; one dbt project cleans them, tests them, and builds a report card for every team and season. The intelligence layer is all in BigQuery: a BQML model predicts any single matchup, we project every team into next season and build a likely field of 68, a pure-SQL simulation plays that bracket ten thousand times, and AI.GENERATE writes scouting reports. On top, the Data Agent and the Looker report are being built now on these marts, and Gemini Enterprise is the target front door. Three choices, and why: compute stays next to the data, so governance holds. Every answer traces to SQL, and Gemini sees numbers, never names, so it cannot lean on what it knows about 2019. And everything rebuilds from code: one command for the pipeline, one for the Gemini outputs, and 322 dbt tests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TRUST IT (1 min). A forecast is only worth something if it beats the simple answers. We replayed the 2015, 2016 and 2017 tournaments, 201 games, using only games played before each one. Log loss punishes confident wrong calls. Our model's error was 0.524, against 0.574 for "the better seed always wins" and 0.703 for "the better record always wins". It beat both baselines in all three years, and called 72 percent of games. The forecast uses the ratings-only version, which scored 0.526. In Villanova's 2017-18 profile, the model weighs adjusted offense, adjusted scoring margin, and strength of schedule most. The next-season projection also beat simply carrying ratings forward, RMSE 6.49 against 7.63. And the rehearsed agent answer, verified in SQL, shows the real champions ranked fourth, sixth and third in our pre-tournament odds.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LEARNED (45s). The judges asked what we explored and what we overcame. We hit three walls. No permission for Dataform, so we moved to dbt, which gave us tests and CI for free. AI.GENERATE_TABLE needs a connection we could not create, so we used AI.GENERATE with an output schema and got the same structured scouting reports. And Gemini already knows real results after 2018, so our prompts give it only a team's numbers, with no name, conference or seed, and it cannot peek. The lesson we would take to any client: keep compute next to the data, and ground every AI claim in a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CONSULTING REUSE AND CLOSE (1 min). Nothing here is really about basketball. The pattern is: discover the data with Knowledge Catalog, govern it in a dbt semantic layer, predict with BQML and simulation, and explain through a grounded agent. Swap the dataset and it is a retailer asking which products sell out, a bank asking which loans default, a subscription business asking who churns, or a sales team asking which deals close. For clients already on Google Cloud, we can package it as a two-week engagement, from discovery to a working agent. So: Villanova, 38.6 percent. Grounded, reproducible, reusable.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61C"/>
        </a:solidFill>
      </p:bgPr>
    </p:bg>
    <p:spTree>
      <p:nvGrpSpPr>
        <p:cNvPr id="1" name=""/>
        <p:cNvGrpSpPr/>
        <p:nvPr/>
      </p:nvGrpSpPr>
      <p:grpSpPr>
        <a:xfrm>
          <a:off x="0" y="0"/>
          <a:ext cx="0" cy="0"/>
          <a:chOff x="0" y="0"/>
          <a:chExt cx="0" cy="0"/>
        </a:xfrm>
      </p:grpSpPr>
      <p:sp>
        <p:nvSpPr>
          <p:cNvPr id="2" name="Text 0"/>
          <p:cNvSpPr/>
          <p:nvPr/>
        </p:nvSpPr>
        <p:spPr>
          <a:xfrm>
            <a:off x="548640" y="457200"/>
            <a:ext cx="4206240" cy="256032"/>
          </a:xfrm>
          <a:prstGeom prst="rect">
            <a:avLst/>
          </a:prstGeom>
          <a:noFill/>
          <a:ln/>
        </p:spPr>
        <p:txBody>
          <a:bodyPr wrap="square" lIns="0" tIns="0" rIns="0" bIns="0" rtlCol="0" anchor="ctr"/>
          <a:lstStyle/>
          <a:p>
            <a:pPr indent="0" marL="0">
              <a:buNone/>
            </a:pPr>
            <a:r>
              <a:rPr lang="en-US" sz="1000" b="1" spc="200" kern="0" dirty="0">
                <a:solidFill>
                  <a:srgbClr val="F07F2A"/>
                </a:solidFill>
                <a:latin typeface="Arial" pitchFamily="34" charset="0"/>
                <a:ea typeface="Arial" pitchFamily="34" charset="-122"/>
                <a:cs typeface="Arial" pitchFamily="34" charset="-120"/>
              </a:rPr>
              <a:t>TEAM TEXAS_LONGHORNS</a:t>
            </a:r>
            <a:endParaRPr lang="en-US" sz="1000" dirty="0"/>
          </a:p>
        </p:txBody>
      </p:sp>
      <p:sp>
        <p:nvSpPr>
          <p:cNvPr id="3" name="Text 1"/>
          <p:cNvSpPr/>
          <p:nvPr/>
        </p:nvSpPr>
        <p:spPr>
          <a:xfrm>
            <a:off x="548640" y="868680"/>
            <a:ext cx="4206240" cy="365760"/>
          </a:xfrm>
          <a:prstGeom prst="rect">
            <a:avLst/>
          </a:prstGeom>
          <a:noFill/>
          <a:ln/>
        </p:spPr>
        <p:txBody>
          <a:bodyPr wrap="square" lIns="0" tIns="0" rIns="0" bIns="0" rtlCol="0" anchor="ctr"/>
          <a:lstStyle/>
          <a:p>
            <a:pPr indent="0" marL="0">
              <a:buNone/>
            </a:pPr>
            <a:r>
              <a:rPr lang="en-US" sz="1800" dirty="0">
                <a:solidFill>
                  <a:srgbClr val="9AA3B2"/>
                </a:solidFill>
                <a:latin typeface="Arial" pitchFamily="34" charset="0"/>
                <a:ea typeface="Arial" pitchFamily="34" charset="-122"/>
                <a:cs typeface="Arial" pitchFamily="34" charset="-120"/>
              </a:rPr>
              <a:t>Who wins the 2019 national title?</a:t>
            </a:r>
            <a:endParaRPr lang="en-US" sz="1800" dirty="0"/>
          </a:p>
        </p:txBody>
      </p:sp>
      <p:sp>
        <p:nvSpPr>
          <p:cNvPr id="4" name="Text 2"/>
          <p:cNvSpPr/>
          <p:nvPr/>
        </p:nvSpPr>
        <p:spPr>
          <a:xfrm>
            <a:off x="548640" y="1234440"/>
            <a:ext cx="4206240"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Villanova</a:t>
            </a:r>
            <a:endParaRPr lang="en-US" sz="4400" dirty="0"/>
          </a:p>
        </p:txBody>
      </p:sp>
      <p:sp>
        <p:nvSpPr>
          <p:cNvPr id="5" name="Text 3"/>
          <p:cNvSpPr/>
          <p:nvPr/>
        </p:nvSpPr>
        <p:spPr>
          <a:xfrm>
            <a:off x="548640" y="1920240"/>
            <a:ext cx="3931920" cy="256032"/>
          </a:xfrm>
          <a:prstGeom prst="rect">
            <a:avLst/>
          </a:prstGeom>
          <a:noFill/>
          <a:ln/>
        </p:spPr>
        <p:txBody>
          <a:bodyPr wrap="square" lIns="0" tIns="0" rIns="0" bIns="0" rtlCol="0" anchor="ctr"/>
          <a:lstStyle/>
          <a:p>
            <a:pPr indent="0" marL="0">
              <a:buNone/>
            </a:pPr>
            <a:r>
              <a:rPr lang="en-US" sz="1200" dirty="0">
                <a:solidFill>
                  <a:srgbClr val="9AA3B2"/>
                </a:solidFill>
                <a:latin typeface="Arial" pitchFamily="34" charset="0"/>
                <a:ea typeface="Arial" pitchFamily="34" charset="-122"/>
                <a:cs typeface="Arial" pitchFamily="34" charset="-120"/>
              </a:rPr>
              <a:t>Projected #1 seed, East</a:t>
            </a:r>
            <a:endParaRPr lang="en-US" sz="1200" dirty="0"/>
          </a:p>
        </p:txBody>
      </p:sp>
      <p:sp>
        <p:nvSpPr>
          <p:cNvPr id="6" name="Text 4"/>
          <p:cNvSpPr/>
          <p:nvPr/>
        </p:nvSpPr>
        <p:spPr>
          <a:xfrm>
            <a:off x="548640" y="2176272"/>
            <a:ext cx="4206240" cy="1188720"/>
          </a:xfrm>
          <a:prstGeom prst="rect">
            <a:avLst/>
          </a:prstGeom>
          <a:noFill/>
          <a:ln/>
        </p:spPr>
        <p:txBody>
          <a:bodyPr wrap="square" lIns="0" tIns="0" rIns="0" bIns="0" rtlCol="0" anchor="ctr"/>
          <a:lstStyle/>
          <a:p>
            <a:pPr indent="0" marL="0">
              <a:buNone/>
            </a:pPr>
            <a:r>
              <a:rPr lang="en-US" sz="9600" b="1" dirty="0">
                <a:solidFill>
                  <a:srgbClr val="F07F2A"/>
                </a:solidFill>
                <a:latin typeface="Arial" pitchFamily="34" charset="0"/>
                <a:ea typeface="Arial" pitchFamily="34" charset="-122"/>
                <a:cs typeface="Arial" pitchFamily="34" charset="-120"/>
              </a:rPr>
              <a:t>38.6%</a:t>
            </a:r>
            <a:endParaRPr lang="en-US" sz="9600" dirty="0"/>
          </a:p>
        </p:txBody>
      </p:sp>
      <p:sp>
        <p:nvSpPr>
          <p:cNvPr id="7" name="Text 5"/>
          <p:cNvSpPr/>
          <p:nvPr/>
        </p:nvSpPr>
        <p:spPr>
          <a:xfrm>
            <a:off x="548640" y="3401568"/>
            <a:ext cx="3931920" cy="54864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chance to win it all, across 10,000 simulated tournaments</a:t>
            </a:r>
            <a:endParaRPr lang="en-US" sz="1500" dirty="0"/>
          </a:p>
        </p:txBody>
      </p:sp>
      <p:sp>
        <p:nvSpPr>
          <p:cNvPr id="8" name="Text 6"/>
          <p:cNvSpPr/>
          <p:nvPr/>
        </p:nvSpPr>
        <p:spPr>
          <a:xfrm>
            <a:off x="548640" y="3931920"/>
            <a:ext cx="4114800" cy="256032"/>
          </a:xfrm>
          <a:prstGeom prst="rect">
            <a:avLst/>
          </a:prstGeom>
          <a:noFill/>
          <a:ln/>
        </p:spPr>
        <p:txBody>
          <a:bodyPr wrap="square" lIns="0" tIns="0" rIns="0" bIns="0" rtlCol="0" anchor="ctr"/>
          <a:lstStyle/>
          <a:p>
            <a:pPr indent="0" marL="0">
              <a:buNone/>
            </a:pPr>
            <a:r>
              <a:rPr lang="en-US" sz="1100" dirty="0">
                <a:solidFill>
                  <a:srgbClr val="9AA3B2"/>
                </a:solidFill>
                <a:latin typeface="Arial" pitchFamily="34" charset="0"/>
                <a:ea typeface="Arial" pitchFamily="34" charset="-122"/>
                <a:cs typeface="Arial" pitchFamily="34" charset="-120"/>
              </a:rPr>
              <a:t>Projected margin +32.8 pts / 100 poss. (80% band +24.5 to +41.2)</a:t>
            </a:r>
            <a:endParaRPr lang="en-US" sz="1100" dirty="0"/>
          </a:p>
        </p:txBody>
      </p:sp>
      <p:sp>
        <p:nvSpPr>
          <p:cNvPr id="9" name="Text 7"/>
          <p:cNvSpPr/>
          <p:nvPr/>
        </p:nvSpPr>
        <p:spPr>
          <a:xfrm>
            <a:off x="548640" y="4224528"/>
            <a:ext cx="3931920" cy="365760"/>
          </a:xfrm>
          <a:prstGeom prst="rect">
            <a:avLst/>
          </a:prstGeom>
          <a:noFill/>
          <a:ln/>
        </p:spPr>
        <p:txBody>
          <a:bodyPr wrap="square" lIns="0" tIns="0" rIns="0" bIns="0" rtlCol="0" anchor="ctr"/>
          <a:lstStyle/>
          <a:p>
            <a:pPr indent="0" marL="0">
              <a:buNone/>
            </a:pPr>
            <a:r>
              <a:rPr lang="en-US" sz="1600" i="1" dirty="0">
                <a:solidFill>
                  <a:srgbClr val="9AA3B2"/>
                </a:solidFill>
                <a:latin typeface="Georgia" pitchFamily="34" charset="0"/>
                <a:ea typeface="Georgia" pitchFamily="34" charset="-122"/>
                <a:cs typeface="Georgia" pitchFamily="34" charset="-120"/>
              </a:rPr>
              <a:t>A forecast, not a guess.</a:t>
            </a:r>
            <a:endParaRPr lang="en-US" sz="1600" dirty="0"/>
          </a:p>
        </p:txBody>
      </p:sp>
      <p:sp>
        <p:nvSpPr>
          <p:cNvPr id="10" name="Shape 8"/>
          <p:cNvSpPr/>
          <p:nvPr/>
        </p:nvSpPr>
        <p:spPr>
          <a:xfrm>
            <a:off x="4846320" y="457200"/>
            <a:ext cx="3840480" cy="4206240"/>
          </a:xfrm>
          <a:prstGeom prst="roundRect">
            <a:avLst>
              <a:gd name="adj" fmla="val 1905"/>
            </a:avLst>
          </a:prstGeom>
          <a:solidFill>
            <a:srgbClr val="1F242D"/>
          </a:solidFill>
          <a:ln/>
        </p:spPr>
      </p:sp>
      <p:sp>
        <p:nvSpPr>
          <p:cNvPr id="11" name="Text 9"/>
          <p:cNvSpPr/>
          <p:nvPr/>
        </p:nvSpPr>
        <p:spPr>
          <a:xfrm>
            <a:off x="5074920" y="658368"/>
            <a:ext cx="338328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Title odds, top 5 contenders</a:t>
            </a:r>
            <a:endParaRPr lang="en-US" sz="1300" dirty="0"/>
          </a:p>
        </p:txBody>
      </p:sp>
      <p:sp>
        <p:nvSpPr>
          <p:cNvPr id="12" name="Text 10"/>
          <p:cNvSpPr/>
          <p:nvPr/>
        </p:nvSpPr>
        <p:spPr>
          <a:xfrm>
            <a:off x="5074920" y="1188720"/>
            <a:ext cx="137160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Villanova</a:t>
            </a:r>
            <a:endParaRPr lang="en-US" sz="1300" dirty="0"/>
          </a:p>
        </p:txBody>
      </p:sp>
      <p:sp>
        <p:nvSpPr>
          <p:cNvPr id="13" name="Shape 11"/>
          <p:cNvSpPr/>
          <p:nvPr/>
        </p:nvSpPr>
        <p:spPr>
          <a:xfrm>
            <a:off x="6492240" y="1261872"/>
            <a:ext cx="2011680" cy="219456"/>
          </a:xfrm>
          <a:prstGeom prst="roundRect">
            <a:avLst>
              <a:gd name="adj" fmla="val 50000"/>
            </a:avLst>
          </a:prstGeom>
          <a:solidFill>
            <a:srgbClr val="2A303B"/>
          </a:solidFill>
          <a:ln/>
        </p:spPr>
      </p:sp>
      <p:sp>
        <p:nvSpPr>
          <p:cNvPr id="14" name="Shape 12"/>
          <p:cNvSpPr/>
          <p:nvPr/>
        </p:nvSpPr>
        <p:spPr>
          <a:xfrm>
            <a:off x="6492240" y="1261872"/>
            <a:ext cx="1371600" cy="219456"/>
          </a:xfrm>
          <a:prstGeom prst="roundRect">
            <a:avLst>
              <a:gd name="adj" fmla="val 50000"/>
            </a:avLst>
          </a:prstGeom>
          <a:solidFill>
            <a:srgbClr val="F07F2A"/>
          </a:solidFill>
          <a:ln/>
        </p:spPr>
      </p:sp>
      <p:sp>
        <p:nvSpPr>
          <p:cNvPr id="15" name="Text 13"/>
          <p:cNvSpPr/>
          <p:nvPr/>
        </p:nvSpPr>
        <p:spPr>
          <a:xfrm>
            <a:off x="7936992" y="1188720"/>
            <a:ext cx="594360" cy="365760"/>
          </a:xfrm>
          <a:prstGeom prst="rect">
            <a:avLst/>
          </a:prstGeom>
          <a:noFill/>
          <a:ln/>
        </p:spPr>
        <p:txBody>
          <a:bodyPr wrap="square" lIns="0" tIns="0" rIns="0" bIns="0" rtlCol="0" anchor="ctr"/>
          <a:lstStyle/>
          <a:p>
            <a:pPr indent="0" marL="0">
              <a:buNone/>
            </a:pPr>
            <a:r>
              <a:rPr lang="en-US" sz="1300" b="1" dirty="0">
                <a:solidFill>
                  <a:srgbClr val="F07F2A"/>
                </a:solidFill>
                <a:latin typeface="Arial" pitchFamily="34" charset="0"/>
                <a:ea typeface="Arial" pitchFamily="34" charset="-122"/>
                <a:cs typeface="Arial" pitchFamily="34" charset="-120"/>
              </a:rPr>
              <a:t>38.6%</a:t>
            </a:r>
            <a:endParaRPr lang="en-US" sz="1300" dirty="0"/>
          </a:p>
        </p:txBody>
      </p:sp>
      <p:sp>
        <p:nvSpPr>
          <p:cNvPr id="16" name="Text 14"/>
          <p:cNvSpPr/>
          <p:nvPr/>
        </p:nvSpPr>
        <p:spPr>
          <a:xfrm>
            <a:off x="5074920" y="1755648"/>
            <a:ext cx="1371600" cy="365760"/>
          </a:xfrm>
          <a:prstGeom prst="rect">
            <a:avLst/>
          </a:prstGeom>
          <a:noFill/>
          <a:ln/>
        </p:spPr>
        <p:txBody>
          <a:bodyPr wrap="square" lIns="0" tIns="0" rIns="0" bIns="0" rtlCol="0" anchor="ctr"/>
          <a:lstStyle/>
          <a:p>
            <a:pPr indent="0" marL="0">
              <a:buNone/>
            </a:pPr>
            <a:r>
              <a:rPr lang="en-US" sz="1300" dirty="0">
                <a:solidFill>
                  <a:srgbClr val="9AA3B2"/>
                </a:solidFill>
                <a:latin typeface="Arial" pitchFamily="34" charset="0"/>
                <a:ea typeface="Arial" pitchFamily="34" charset="-122"/>
                <a:cs typeface="Arial" pitchFamily="34" charset="-120"/>
              </a:rPr>
              <a:t>Duke</a:t>
            </a:r>
            <a:endParaRPr lang="en-US" sz="1300" dirty="0"/>
          </a:p>
        </p:txBody>
      </p:sp>
      <p:sp>
        <p:nvSpPr>
          <p:cNvPr id="17" name="Shape 15"/>
          <p:cNvSpPr/>
          <p:nvPr/>
        </p:nvSpPr>
        <p:spPr>
          <a:xfrm>
            <a:off x="6492240" y="1828800"/>
            <a:ext cx="2011680" cy="219456"/>
          </a:xfrm>
          <a:prstGeom prst="roundRect">
            <a:avLst>
              <a:gd name="adj" fmla="val 50000"/>
            </a:avLst>
          </a:prstGeom>
          <a:solidFill>
            <a:srgbClr val="2A303B"/>
          </a:solidFill>
          <a:ln/>
        </p:spPr>
      </p:sp>
      <p:sp>
        <p:nvSpPr>
          <p:cNvPr id="18" name="Shape 16"/>
          <p:cNvSpPr/>
          <p:nvPr/>
        </p:nvSpPr>
        <p:spPr>
          <a:xfrm>
            <a:off x="6492240" y="1828800"/>
            <a:ext cx="515238" cy="219456"/>
          </a:xfrm>
          <a:prstGeom prst="roundRect">
            <a:avLst>
              <a:gd name="adj" fmla="val 50000"/>
            </a:avLst>
          </a:prstGeom>
          <a:solidFill>
            <a:srgbClr val="5A6475"/>
          </a:solidFill>
          <a:ln/>
        </p:spPr>
      </p:sp>
      <p:sp>
        <p:nvSpPr>
          <p:cNvPr id="19" name="Text 17"/>
          <p:cNvSpPr/>
          <p:nvPr/>
        </p:nvSpPr>
        <p:spPr>
          <a:xfrm>
            <a:off x="7080630" y="1755648"/>
            <a:ext cx="59436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14.5%</a:t>
            </a:r>
            <a:endParaRPr lang="en-US" sz="1300" dirty="0"/>
          </a:p>
        </p:txBody>
      </p:sp>
      <p:sp>
        <p:nvSpPr>
          <p:cNvPr id="20" name="Text 18"/>
          <p:cNvSpPr/>
          <p:nvPr/>
        </p:nvSpPr>
        <p:spPr>
          <a:xfrm>
            <a:off x="5074920" y="2322576"/>
            <a:ext cx="1371600" cy="365760"/>
          </a:xfrm>
          <a:prstGeom prst="rect">
            <a:avLst/>
          </a:prstGeom>
          <a:noFill/>
          <a:ln/>
        </p:spPr>
        <p:txBody>
          <a:bodyPr wrap="square" lIns="0" tIns="0" rIns="0" bIns="0" rtlCol="0" anchor="ctr"/>
          <a:lstStyle/>
          <a:p>
            <a:pPr indent="0" marL="0">
              <a:buNone/>
            </a:pPr>
            <a:r>
              <a:rPr lang="en-US" sz="1300" dirty="0">
                <a:solidFill>
                  <a:srgbClr val="9AA3B2"/>
                </a:solidFill>
                <a:latin typeface="Arial" pitchFamily="34" charset="0"/>
                <a:ea typeface="Arial" pitchFamily="34" charset="-122"/>
                <a:cs typeface="Arial" pitchFamily="34" charset="-120"/>
              </a:rPr>
              <a:t>Michigan State</a:t>
            </a:r>
            <a:endParaRPr lang="en-US" sz="1300" dirty="0"/>
          </a:p>
        </p:txBody>
      </p:sp>
      <p:sp>
        <p:nvSpPr>
          <p:cNvPr id="21" name="Shape 19"/>
          <p:cNvSpPr/>
          <p:nvPr/>
        </p:nvSpPr>
        <p:spPr>
          <a:xfrm>
            <a:off x="6492240" y="2395728"/>
            <a:ext cx="2011680" cy="219456"/>
          </a:xfrm>
          <a:prstGeom prst="roundRect">
            <a:avLst>
              <a:gd name="adj" fmla="val 50000"/>
            </a:avLst>
          </a:prstGeom>
          <a:solidFill>
            <a:srgbClr val="2A303B"/>
          </a:solidFill>
          <a:ln/>
        </p:spPr>
      </p:sp>
      <p:sp>
        <p:nvSpPr>
          <p:cNvPr id="22" name="Shape 20"/>
          <p:cNvSpPr/>
          <p:nvPr/>
        </p:nvSpPr>
        <p:spPr>
          <a:xfrm>
            <a:off x="6492240" y="2395728"/>
            <a:ext cx="316250" cy="219456"/>
          </a:xfrm>
          <a:prstGeom prst="roundRect">
            <a:avLst>
              <a:gd name="adj" fmla="val 50000"/>
            </a:avLst>
          </a:prstGeom>
          <a:solidFill>
            <a:srgbClr val="5A6475"/>
          </a:solidFill>
          <a:ln/>
        </p:spPr>
      </p:sp>
      <p:sp>
        <p:nvSpPr>
          <p:cNvPr id="23" name="Text 21"/>
          <p:cNvSpPr/>
          <p:nvPr/>
        </p:nvSpPr>
        <p:spPr>
          <a:xfrm>
            <a:off x="6881642" y="2322576"/>
            <a:ext cx="59436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8.9%</a:t>
            </a:r>
            <a:endParaRPr lang="en-US" sz="1300" dirty="0"/>
          </a:p>
        </p:txBody>
      </p:sp>
      <p:sp>
        <p:nvSpPr>
          <p:cNvPr id="24" name="Text 22"/>
          <p:cNvSpPr/>
          <p:nvPr/>
        </p:nvSpPr>
        <p:spPr>
          <a:xfrm>
            <a:off x="5074920" y="2889504"/>
            <a:ext cx="1371600" cy="365760"/>
          </a:xfrm>
          <a:prstGeom prst="rect">
            <a:avLst/>
          </a:prstGeom>
          <a:noFill/>
          <a:ln/>
        </p:spPr>
        <p:txBody>
          <a:bodyPr wrap="square" lIns="0" tIns="0" rIns="0" bIns="0" rtlCol="0" anchor="ctr"/>
          <a:lstStyle/>
          <a:p>
            <a:pPr indent="0" marL="0">
              <a:buNone/>
            </a:pPr>
            <a:r>
              <a:rPr lang="en-US" sz="1300" dirty="0">
                <a:solidFill>
                  <a:srgbClr val="9AA3B2"/>
                </a:solidFill>
                <a:latin typeface="Arial" pitchFamily="34" charset="0"/>
                <a:ea typeface="Arial" pitchFamily="34" charset="-122"/>
                <a:cs typeface="Arial" pitchFamily="34" charset="-120"/>
              </a:rPr>
              <a:t>Virginia</a:t>
            </a:r>
            <a:endParaRPr lang="en-US" sz="1300" dirty="0"/>
          </a:p>
        </p:txBody>
      </p:sp>
      <p:sp>
        <p:nvSpPr>
          <p:cNvPr id="25" name="Shape 23"/>
          <p:cNvSpPr/>
          <p:nvPr/>
        </p:nvSpPr>
        <p:spPr>
          <a:xfrm>
            <a:off x="6492240" y="2962656"/>
            <a:ext cx="2011680" cy="219456"/>
          </a:xfrm>
          <a:prstGeom prst="roundRect">
            <a:avLst>
              <a:gd name="adj" fmla="val 50000"/>
            </a:avLst>
          </a:prstGeom>
          <a:solidFill>
            <a:srgbClr val="2A303B"/>
          </a:solidFill>
          <a:ln/>
        </p:spPr>
      </p:sp>
      <p:sp>
        <p:nvSpPr>
          <p:cNvPr id="26" name="Shape 24"/>
          <p:cNvSpPr/>
          <p:nvPr/>
        </p:nvSpPr>
        <p:spPr>
          <a:xfrm>
            <a:off x="6492240" y="2962656"/>
            <a:ext cx="262949" cy="219456"/>
          </a:xfrm>
          <a:prstGeom prst="roundRect">
            <a:avLst>
              <a:gd name="adj" fmla="val 50000"/>
            </a:avLst>
          </a:prstGeom>
          <a:solidFill>
            <a:srgbClr val="5A6475"/>
          </a:solidFill>
          <a:ln/>
        </p:spPr>
      </p:sp>
      <p:sp>
        <p:nvSpPr>
          <p:cNvPr id="27" name="Text 25"/>
          <p:cNvSpPr/>
          <p:nvPr/>
        </p:nvSpPr>
        <p:spPr>
          <a:xfrm>
            <a:off x="6828341" y="2889504"/>
            <a:ext cx="59436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7.4%</a:t>
            </a:r>
            <a:endParaRPr lang="en-US" sz="1300" dirty="0"/>
          </a:p>
        </p:txBody>
      </p:sp>
      <p:sp>
        <p:nvSpPr>
          <p:cNvPr id="28" name="Text 26"/>
          <p:cNvSpPr/>
          <p:nvPr/>
        </p:nvSpPr>
        <p:spPr>
          <a:xfrm>
            <a:off x="5074920" y="3456432"/>
            <a:ext cx="1371600" cy="365760"/>
          </a:xfrm>
          <a:prstGeom prst="rect">
            <a:avLst/>
          </a:prstGeom>
          <a:noFill/>
          <a:ln/>
        </p:spPr>
        <p:txBody>
          <a:bodyPr wrap="square" lIns="0" tIns="0" rIns="0" bIns="0" rtlCol="0" anchor="ctr"/>
          <a:lstStyle/>
          <a:p>
            <a:pPr indent="0" marL="0">
              <a:buNone/>
            </a:pPr>
            <a:r>
              <a:rPr lang="en-US" sz="1300" dirty="0">
                <a:solidFill>
                  <a:srgbClr val="9AA3B2"/>
                </a:solidFill>
                <a:latin typeface="Arial" pitchFamily="34" charset="0"/>
                <a:ea typeface="Arial" pitchFamily="34" charset="-122"/>
                <a:cs typeface="Arial" pitchFamily="34" charset="-120"/>
              </a:rPr>
              <a:t>Kentucky</a:t>
            </a:r>
            <a:endParaRPr lang="en-US" sz="1300" dirty="0"/>
          </a:p>
        </p:txBody>
      </p:sp>
      <p:sp>
        <p:nvSpPr>
          <p:cNvPr id="29" name="Shape 27"/>
          <p:cNvSpPr/>
          <p:nvPr/>
        </p:nvSpPr>
        <p:spPr>
          <a:xfrm>
            <a:off x="6492240" y="3529584"/>
            <a:ext cx="2011680" cy="219456"/>
          </a:xfrm>
          <a:prstGeom prst="roundRect">
            <a:avLst>
              <a:gd name="adj" fmla="val 50000"/>
            </a:avLst>
          </a:prstGeom>
          <a:solidFill>
            <a:srgbClr val="2A303B"/>
          </a:solidFill>
          <a:ln/>
        </p:spPr>
      </p:sp>
      <p:sp>
        <p:nvSpPr>
          <p:cNvPr id="30" name="Shape 28"/>
          <p:cNvSpPr/>
          <p:nvPr/>
        </p:nvSpPr>
        <p:spPr>
          <a:xfrm>
            <a:off x="6492240" y="3529584"/>
            <a:ext cx="219456" cy="219456"/>
          </a:xfrm>
          <a:prstGeom prst="roundRect">
            <a:avLst>
              <a:gd name="adj" fmla="val 50000"/>
            </a:avLst>
          </a:prstGeom>
          <a:solidFill>
            <a:srgbClr val="5A6475"/>
          </a:solidFill>
          <a:ln/>
        </p:spPr>
      </p:sp>
      <p:sp>
        <p:nvSpPr>
          <p:cNvPr id="31" name="Text 29"/>
          <p:cNvSpPr/>
          <p:nvPr/>
        </p:nvSpPr>
        <p:spPr>
          <a:xfrm>
            <a:off x="6784848" y="3456432"/>
            <a:ext cx="59436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4.3%</a:t>
            </a:r>
            <a:endParaRPr lang="en-US" sz="1300" dirty="0"/>
          </a:p>
        </p:txBody>
      </p:sp>
      <p:sp>
        <p:nvSpPr>
          <p:cNvPr id="32" name="Text 30"/>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8C96A6"/>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BF5700"/>
                </a:solidFill>
                <a:latin typeface="Arial" pitchFamily="34" charset="0"/>
                <a:ea typeface="Arial" pitchFamily="34" charset="-122"/>
                <a:cs typeface="Arial" pitchFamily="34" charset="-120"/>
              </a:rPr>
              <a:t>THE LEAGUE</a:t>
            </a:r>
            <a:endParaRPr lang="en-US" sz="1000" dirty="0"/>
          </a:p>
        </p:txBody>
      </p:sp>
      <p:sp>
        <p:nvSpPr>
          <p:cNvPr id="3" name="Text 1"/>
          <p:cNvSpPr/>
          <p:nvPr/>
        </p:nvSpPr>
        <p:spPr>
          <a:xfrm>
            <a:off x="548640" y="585216"/>
            <a:ext cx="8046720" cy="566928"/>
          </a:xfrm>
          <a:prstGeom prst="rect">
            <a:avLst/>
          </a:prstGeom>
          <a:noFill/>
          <a:ln/>
        </p:spPr>
        <p:txBody>
          <a:bodyPr wrap="square" lIns="0" tIns="0" rIns="0" bIns="0" rtlCol="0" anchor="t"/>
          <a:lstStyle/>
          <a:p>
            <a:pPr indent="0" marL="0">
              <a:buNone/>
            </a:pPr>
            <a:r>
              <a:rPr lang="en-US" sz="2800" b="1" dirty="0">
                <a:solidFill>
                  <a:srgbClr val="13161C"/>
                </a:solidFill>
                <a:latin typeface="Arial" pitchFamily="34" charset="0"/>
                <a:ea typeface="Arial" pitchFamily="34" charset="-122"/>
                <a:cs typeface="Arial" pitchFamily="34" charset="-120"/>
              </a:rPr>
              <a:t>A strong, changing league with a noisy March</a:t>
            </a:r>
            <a:endParaRPr lang="en-US" sz="2800" dirty="0"/>
          </a:p>
        </p:txBody>
      </p:sp>
      <p:sp>
        <p:nvSpPr>
          <p:cNvPr id="4" name="Shape 2"/>
          <p:cNvSpPr/>
          <p:nvPr/>
        </p:nvSpPr>
        <p:spPr>
          <a:xfrm>
            <a:off x="548640" y="1280160"/>
            <a:ext cx="3429000" cy="1783080"/>
          </a:xfrm>
          <a:prstGeom prst="roundRect">
            <a:avLst>
              <a:gd name="adj" fmla="val 4103"/>
            </a:avLst>
          </a:prstGeom>
          <a:solidFill>
            <a:srgbClr val="F3F4F6"/>
          </a:solidFill>
          <a:ln/>
        </p:spPr>
      </p:sp>
      <p:sp>
        <p:nvSpPr>
          <p:cNvPr id="5" name="Text 3"/>
          <p:cNvSpPr/>
          <p:nvPr/>
        </p:nvSpPr>
        <p:spPr>
          <a:xfrm>
            <a:off x="731520" y="1389888"/>
            <a:ext cx="3108960" cy="237744"/>
          </a:xfrm>
          <a:prstGeom prst="rect">
            <a:avLst/>
          </a:prstGeom>
          <a:noFill/>
          <a:ln/>
        </p:spPr>
        <p:txBody>
          <a:bodyPr wrap="square" lIns="0" tIns="0" rIns="0" bIns="0" rtlCol="0" anchor="ctr"/>
          <a:lstStyle/>
          <a:p>
            <a:pPr indent="0" marL="0">
              <a:buNone/>
            </a:pPr>
            <a:r>
              <a:rPr lang="en-US" sz="1200" b="1" dirty="0">
                <a:solidFill>
                  <a:srgbClr val="222731"/>
                </a:solidFill>
                <a:latin typeface="Arial" pitchFamily="34" charset="0"/>
                <a:ea typeface="Arial" pitchFamily="34" charset="-122"/>
                <a:cs typeface="Arial" pitchFamily="34" charset="-120"/>
              </a:rPr>
              <a:t>Strongest conferences, 2017-18</a:t>
            </a:r>
            <a:endParaRPr lang="en-US" sz="1200" dirty="0"/>
          </a:p>
        </p:txBody>
      </p:sp>
      <p:sp>
        <p:nvSpPr>
          <p:cNvPr id="6" name="Text 4"/>
          <p:cNvSpPr/>
          <p:nvPr/>
        </p:nvSpPr>
        <p:spPr>
          <a:xfrm>
            <a:off x="731520" y="1682496"/>
            <a:ext cx="777240" cy="201168"/>
          </a:xfrm>
          <a:prstGeom prst="rect">
            <a:avLst/>
          </a:prstGeom>
          <a:noFill/>
          <a:ln/>
        </p:spPr>
        <p:txBody>
          <a:bodyPr wrap="square" lIns="0" tIns="0" rIns="0" bIns="0" rtlCol="0" anchor="ctr"/>
          <a:lstStyle/>
          <a:p>
            <a:pPr indent="0" marL="0">
              <a:buNone/>
            </a:pPr>
            <a:r>
              <a:rPr lang="en-US" sz="1050" b="1" dirty="0">
                <a:solidFill>
                  <a:srgbClr val="222731"/>
                </a:solidFill>
                <a:latin typeface="Arial" pitchFamily="34" charset="0"/>
                <a:ea typeface="Arial" pitchFamily="34" charset="-122"/>
                <a:cs typeface="Arial" pitchFamily="34" charset="-120"/>
              </a:rPr>
              <a:t>Big 12</a:t>
            </a:r>
            <a:endParaRPr lang="en-US" sz="1050" dirty="0"/>
          </a:p>
        </p:txBody>
      </p:sp>
      <p:sp>
        <p:nvSpPr>
          <p:cNvPr id="7" name="Shape 5"/>
          <p:cNvSpPr/>
          <p:nvPr/>
        </p:nvSpPr>
        <p:spPr>
          <a:xfrm>
            <a:off x="1554480" y="1719072"/>
            <a:ext cx="1828800" cy="137160"/>
          </a:xfrm>
          <a:prstGeom prst="roundRect">
            <a:avLst>
              <a:gd name="adj" fmla="val 46667"/>
            </a:avLst>
          </a:prstGeom>
          <a:solidFill>
            <a:srgbClr val="BF5700"/>
          </a:solidFill>
          <a:ln/>
        </p:spPr>
      </p:sp>
      <p:sp>
        <p:nvSpPr>
          <p:cNvPr id="8" name="Text 6"/>
          <p:cNvSpPr/>
          <p:nvPr/>
        </p:nvSpPr>
        <p:spPr>
          <a:xfrm>
            <a:off x="3438144" y="1682496"/>
            <a:ext cx="457200" cy="201168"/>
          </a:xfrm>
          <a:prstGeom prst="rect">
            <a:avLst/>
          </a:prstGeom>
          <a:noFill/>
          <a:ln/>
        </p:spPr>
        <p:txBody>
          <a:bodyPr wrap="square" lIns="0" tIns="0" rIns="0" bIns="0" rtlCol="0" anchor="ctr"/>
          <a:lstStyle/>
          <a:p>
            <a:pPr indent="0" marL="0">
              <a:buNone/>
            </a:pPr>
            <a:r>
              <a:rPr lang="en-US" sz="1000" b="1" dirty="0">
                <a:solidFill>
                  <a:srgbClr val="222731"/>
                </a:solidFill>
                <a:latin typeface="Arial" pitchFamily="34" charset="0"/>
                <a:ea typeface="Arial" pitchFamily="34" charset="-122"/>
                <a:cs typeface="Arial" pitchFamily="34" charset="-120"/>
              </a:rPr>
              <a:t>+17.0</a:t>
            </a:r>
            <a:endParaRPr lang="en-US" sz="1000" dirty="0"/>
          </a:p>
        </p:txBody>
      </p:sp>
      <p:sp>
        <p:nvSpPr>
          <p:cNvPr id="9" name="Text 7"/>
          <p:cNvSpPr/>
          <p:nvPr/>
        </p:nvSpPr>
        <p:spPr>
          <a:xfrm>
            <a:off x="731520" y="1911096"/>
            <a:ext cx="777240" cy="201168"/>
          </a:xfrm>
          <a:prstGeom prst="rect">
            <a:avLst/>
          </a:prstGeom>
          <a:noFill/>
          <a:ln/>
        </p:spPr>
        <p:txBody>
          <a:bodyPr wrap="square" lIns="0" tIns="0" rIns="0" bIns="0" rtlCol="0" anchor="ctr"/>
          <a:lstStyle/>
          <a:p>
            <a:pPr indent="0" marL="0">
              <a:buNone/>
            </a:pPr>
            <a:r>
              <a:rPr lang="en-US" sz="1050" dirty="0">
                <a:solidFill>
                  <a:srgbClr val="222731"/>
                </a:solidFill>
                <a:latin typeface="Arial" pitchFamily="34" charset="0"/>
                <a:ea typeface="Arial" pitchFamily="34" charset="-122"/>
                <a:cs typeface="Arial" pitchFamily="34" charset="-120"/>
              </a:rPr>
              <a:t>Big East</a:t>
            </a:r>
            <a:endParaRPr lang="en-US" sz="1050" dirty="0"/>
          </a:p>
        </p:txBody>
      </p:sp>
      <p:sp>
        <p:nvSpPr>
          <p:cNvPr id="10" name="Shape 8"/>
          <p:cNvSpPr/>
          <p:nvPr/>
        </p:nvSpPr>
        <p:spPr>
          <a:xfrm>
            <a:off x="1554480" y="1947672"/>
            <a:ext cx="1699708" cy="137160"/>
          </a:xfrm>
          <a:prstGeom prst="roundRect">
            <a:avLst>
              <a:gd name="adj" fmla="val 46667"/>
            </a:avLst>
          </a:prstGeom>
          <a:solidFill>
            <a:srgbClr val="8C96A6"/>
          </a:solidFill>
          <a:ln/>
        </p:spPr>
      </p:sp>
      <p:sp>
        <p:nvSpPr>
          <p:cNvPr id="11" name="Text 9"/>
          <p:cNvSpPr/>
          <p:nvPr/>
        </p:nvSpPr>
        <p:spPr>
          <a:xfrm>
            <a:off x="3309052" y="1911096"/>
            <a:ext cx="457200" cy="201168"/>
          </a:xfrm>
          <a:prstGeom prst="rect">
            <a:avLst/>
          </a:prstGeom>
          <a:noFill/>
          <a:ln/>
        </p:spPr>
        <p:txBody>
          <a:bodyPr wrap="square" lIns="0" tIns="0" rIns="0" bIns="0" rtlCol="0" anchor="ctr"/>
          <a:lstStyle/>
          <a:p>
            <a:pPr indent="0" marL="0">
              <a:buNone/>
            </a:pPr>
            <a:r>
              <a:rPr lang="en-US" sz="1000" b="1" dirty="0">
                <a:solidFill>
                  <a:srgbClr val="222731"/>
                </a:solidFill>
                <a:latin typeface="Arial" pitchFamily="34" charset="0"/>
                <a:ea typeface="Arial" pitchFamily="34" charset="-122"/>
                <a:cs typeface="Arial" pitchFamily="34" charset="-120"/>
              </a:rPr>
              <a:t>+15.8</a:t>
            </a:r>
            <a:endParaRPr lang="en-US" sz="1000" dirty="0"/>
          </a:p>
        </p:txBody>
      </p:sp>
      <p:sp>
        <p:nvSpPr>
          <p:cNvPr id="12" name="Text 10"/>
          <p:cNvSpPr/>
          <p:nvPr/>
        </p:nvSpPr>
        <p:spPr>
          <a:xfrm>
            <a:off x="731520" y="2139696"/>
            <a:ext cx="777240" cy="201168"/>
          </a:xfrm>
          <a:prstGeom prst="rect">
            <a:avLst/>
          </a:prstGeom>
          <a:noFill/>
          <a:ln/>
        </p:spPr>
        <p:txBody>
          <a:bodyPr wrap="square" lIns="0" tIns="0" rIns="0" bIns="0" rtlCol="0" anchor="ctr"/>
          <a:lstStyle/>
          <a:p>
            <a:pPr indent="0" marL="0">
              <a:buNone/>
            </a:pPr>
            <a:r>
              <a:rPr lang="en-US" sz="1050" dirty="0">
                <a:solidFill>
                  <a:srgbClr val="222731"/>
                </a:solidFill>
                <a:latin typeface="Arial" pitchFamily="34" charset="0"/>
                <a:ea typeface="Arial" pitchFamily="34" charset="-122"/>
                <a:cs typeface="Arial" pitchFamily="34" charset="-120"/>
              </a:rPr>
              <a:t>ACC</a:t>
            </a:r>
            <a:endParaRPr lang="en-US" sz="1050" dirty="0"/>
          </a:p>
        </p:txBody>
      </p:sp>
      <p:sp>
        <p:nvSpPr>
          <p:cNvPr id="13" name="Shape 11"/>
          <p:cNvSpPr/>
          <p:nvPr/>
        </p:nvSpPr>
        <p:spPr>
          <a:xfrm>
            <a:off x="1554480" y="2176272"/>
            <a:ext cx="1688951" cy="137160"/>
          </a:xfrm>
          <a:prstGeom prst="roundRect">
            <a:avLst>
              <a:gd name="adj" fmla="val 46667"/>
            </a:avLst>
          </a:prstGeom>
          <a:solidFill>
            <a:srgbClr val="8C96A6"/>
          </a:solidFill>
          <a:ln/>
        </p:spPr>
      </p:sp>
      <p:sp>
        <p:nvSpPr>
          <p:cNvPr id="14" name="Text 12"/>
          <p:cNvSpPr/>
          <p:nvPr/>
        </p:nvSpPr>
        <p:spPr>
          <a:xfrm>
            <a:off x="3298295" y="2139696"/>
            <a:ext cx="457200" cy="201168"/>
          </a:xfrm>
          <a:prstGeom prst="rect">
            <a:avLst/>
          </a:prstGeom>
          <a:noFill/>
          <a:ln/>
        </p:spPr>
        <p:txBody>
          <a:bodyPr wrap="square" lIns="0" tIns="0" rIns="0" bIns="0" rtlCol="0" anchor="ctr"/>
          <a:lstStyle/>
          <a:p>
            <a:pPr indent="0" marL="0">
              <a:buNone/>
            </a:pPr>
            <a:r>
              <a:rPr lang="en-US" sz="1000" b="1" dirty="0">
                <a:solidFill>
                  <a:srgbClr val="222731"/>
                </a:solidFill>
                <a:latin typeface="Arial" pitchFamily="34" charset="0"/>
                <a:ea typeface="Arial" pitchFamily="34" charset="-122"/>
                <a:cs typeface="Arial" pitchFamily="34" charset="-120"/>
              </a:rPr>
              <a:t>+15.7</a:t>
            </a:r>
            <a:endParaRPr lang="en-US" sz="1000" dirty="0"/>
          </a:p>
        </p:txBody>
      </p:sp>
      <p:sp>
        <p:nvSpPr>
          <p:cNvPr id="15" name="Text 13"/>
          <p:cNvSpPr/>
          <p:nvPr/>
        </p:nvSpPr>
        <p:spPr>
          <a:xfrm>
            <a:off x="731520" y="2368296"/>
            <a:ext cx="777240" cy="201168"/>
          </a:xfrm>
          <a:prstGeom prst="rect">
            <a:avLst/>
          </a:prstGeom>
          <a:noFill/>
          <a:ln/>
        </p:spPr>
        <p:txBody>
          <a:bodyPr wrap="square" lIns="0" tIns="0" rIns="0" bIns="0" rtlCol="0" anchor="ctr"/>
          <a:lstStyle/>
          <a:p>
            <a:pPr indent="0" marL="0">
              <a:buNone/>
            </a:pPr>
            <a:r>
              <a:rPr lang="en-US" sz="1050" dirty="0">
                <a:solidFill>
                  <a:srgbClr val="222731"/>
                </a:solidFill>
                <a:latin typeface="Arial" pitchFamily="34" charset="0"/>
                <a:ea typeface="Arial" pitchFamily="34" charset="-122"/>
                <a:cs typeface="Arial" pitchFamily="34" charset="-120"/>
              </a:rPr>
              <a:t>Big Ten</a:t>
            </a:r>
            <a:endParaRPr lang="en-US" sz="1050" dirty="0"/>
          </a:p>
        </p:txBody>
      </p:sp>
      <p:sp>
        <p:nvSpPr>
          <p:cNvPr id="16" name="Shape 14"/>
          <p:cNvSpPr/>
          <p:nvPr/>
        </p:nvSpPr>
        <p:spPr>
          <a:xfrm>
            <a:off x="1554480" y="2404872"/>
            <a:ext cx="1581374" cy="137160"/>
          </a:xfrm>
          <a:prstGeom prst="roundRect">
            <a:avLst>
              <a:gd name="adj" fmla="val 46667"/>
            </a:avLst>
          </a:prstGeom>
          <a:solidFill>
            <a:srgbClr val="8C96A6"/>
          </a:solidFill>
          <a:ln/>
        </p:spPr>
      </p:sp>
      <p:sp>
        <p:nvSpPr>
          <p:cNvPr id="17" name="Text 15"/>
          <p:cNvSpPr/>
          <p:nvPr/>
        </p:nvSpPr>
        <p:spPr>
          <a:xfrm>
            <a:off x="3190718" y="2368296"/>
            <a:ext cx="457200" cy="201168"/>
          </a:xfrm>
          <a:prstGeom prst="rect">
            <a:avLst/>
          </a:prstGeom>
          <a:noFill/>
          <a:ln/>
        </p:spPr>
        <p:txBody>
          <a:bodyPr wrap="square" lIns="0" tIns="0" rIns="0" bIns="0" rtlCol="0" anchor="ctr"/>
          <a:lstStyle/>
          <a:p>
            <a:pPr indent="0" marL="0">
              <a:buNone/>
            </a:pPr>
            <a:r>
              <a:rPr lang="en-US" sz="1000" b="1" dirty="0">
                <a:solidFill>
                  <a:srgbClr val="222731"/>
                </a:solidFill>
                <a:latin typeface="Arial" pitchFamily="34" charset="0"/>
                <a:ea typeface="Arial" pitchFamily="34" charset="-122"/>
                <a:cs typeface="Arial" pitchFamily="34" charset="-120"/>
              </a:rPr>
              <a:t>+14.7</a:t>
            </a:r>
            <a:endParaRPr lang="en-US" sz="1000" dirty="0"/>
          </a:p>
        </p:txBody>
      </p:sp>
      <p:sp>
        <p:nvSpPr>
          <p:cNvPr id="18" name="Text 16"/>
          <p:cNvSpPr/>
          <p:nvPr/>
        </p:nvSpPr>
        <p:spPr>
          <a:xfrm>
            <a:off x="731520" y="2596896"/>
            <a:ext cx="777240" cy="201168"/>
          </a:xfrm>
          <a:prstGeom prst="rect">
            <a:avLst/>
          </a:prstGeom>
          <a:noFill/>
          <a:ln/>
        </p:spPr>
        <p:txBody>
          <a:bodyPr wrap="square" lIns="0" tIns="0" rIns="0" bIns="0" rtlCol="0" anchor="ctr"/>
          <a:lstStyle/>
          <a:p>
            <a:pPr indent="0" marL="0">
              <a:buNone/>
            </a:pPr>
            <a:r>
              <a:rPr lang="en-US" sz="1050" dirty="0">
                <a:solidFill>
                  <a:srgbClr val="222731"/>
                </a:solidFill>
                <a:latin typeface="Arial" pitchFamily="34" charset="0"/>
                <a:ea typeface="Arial" pitchFamily="34" charset="-122"/>
                <a:cs typeface="Arial" pitchFamily="34" charset="-120"/>
              </a:rPr>
              <a:t>SEC</a:t>
            </a:r>
            <a:endParaRPr lang="en-US" sz="1050" dirty="0"/>
          </a:p>
        </p:txBody>
      </p:sp>
      <p:sp>
        <p:nvSpPr>
          <p:cNvPr id="19" name="Shape 17"/>
          <p:cNvSpPr/>
          <p:nvPr/>
        </p:nvSpPr>
        <p:spPr>
          <a:xfrm>
            <a:off x="1554480" y="2633472"/>
            <a:ext cx="1549101" cy="137160"/>
          </a:xfrm>
          <a:prstGeom prst="roundRect">
            <a:avLst>
              <a:gd name="adj" fmla="val 46667"/>
            </a:avLst>
          </a:prstGeom>
          <a:solidFill>
            <a:srgbClr val="8C96A6"/>
          </a:solidFill>
          <a:ln/>
        </p:spPr>
      </p:sp>
      <p:sp>
        <p:nvSpPr>
          <p:cNvPr id="20" name="Text 18"/>
          <p:cNvSpPr/>
          <p:nvPr/>
        </p:nvSpPr>
        <p:spPr>
          <a:xfrm>
            <a:off x="3158445" y="2596896"/>
            <a:ext cx="457200" cy="201168"/>
          </a:xfrm>
          <a:prstGeom prst="rect">
            <a:avLst/>
          </a:prstGeom>
          <a:noFill/>
          <a:ln/>
        </p:spPr>
        <p:txBody>
          <a:bodyPr wrap="square" lIns="0" tIns="0" rIns="0" bIns="0" rtlCol="0" anchor="ctr"/>
          <a:lstStyle/>
          <a:p>
            <a:pPr indent="0" marL="0">
              <a:buNone/>
            </a:pPr>
            <a:r>
              <a:rPr lang="en-US" sz="1000" b="1" dirty="0">
                <a:solidFill>
                  <a:srgbClr val="222731"/>
                </a:solidFill>
                <a:latin typeface="Arial" pitchFamily="34" charset="0"/>
                <a:ea typeface="Arial" pitchFamily="34" charset="-122"/>
                <a:cs typeface="Arial" pitchFamily="34" charset="-120"/>
              </a:rPr>
              <a:t>+14.4</a:t>
            </a:r>
            <a:endParaRPr lang="en-US" sz="1000" dirty="0"/>
          </a:p>
        </p:txBody>
      </p:sp>
      <p:sp>
        <p:nvSpPr>
          <p:cNvPr id="21" name="Text 19"/>
          <p:cNvSpPr/>
          <p:nvPr/>
        </p:nvSpPr>
        <p:spPr>
          <a:xfrm>
            <a:off x="731520" y="2834640"/>
            <a:ext cx="3108960" cy="182880"/>
          </a:xfrm>
          <a:prstGeom prst="rect">
            <a:avLst/>
          </a:prstGeom>
          <a:noFill/>
          <a:ln/>
        </p:spPr>
        <p:txBody>
          <a:bodyPr wrap="square" lIns="0" tIns="0" rIns="0" bIns="0" rtlCol="0" anchor="ctr"/>
          <a:lstStyle/>
          <a:p>
            <a:pPr indent="0" marL="0">
              <a:buNone/>
            </a:pPr>
            <a:r>
              <a:rPr lang="en-US" sz="850" i="1" dirty="0">
                <a:solidFill>
                  <a:srgbClr val="6B7280"/>
                </a:solidFill>
                <a:latin typeface="Arial" pitchFamily="34" charset="0"/>
                <a:ea typeface="Arial" pitchFamily="34" charset="-122"/>
                <a:cs typeface="Arial" pitchFamily="34" charset="-120"/>
              </a:rPr>
              <a:t>Average adjusted margin, pts / 100 poss.</a:t>
            </a:r>
            <a:endParaRPr lang="en-US" sz="850" dirty="0"/>
          </a:p>
        </p:txBody>
      </p:sp>
      <p:sp>
        <p:nvSpPr>
          <p:cNvPr id="22" name="Shape 20"/>
          <p:cNvSpPr/>
          <p:nvPr/>
        </p:nvSpPr>
        <p:spPr>
          <a:xfrm>
            <a:off x="4160520" y="1280160"/>
            <a:ext cx="2148840" cy="1783080"/>
          </a:xfrm>
          <a:prstGeom prst="roundRect">
            <a:avLst>
              <a:gd name="adj" fmla="val 4103"/>
            </a:avLst>
          </a:prstGeom>
          <a:solidFill>
            <a:srgbClr val="F3F4F6"/>
          </a:solidFill>
          <a:ln/>
        </p:spPr>
      </p:sp>
      <p:sp>
        <p:nvSpPr>
          <p:cNvPr id="23" name="Shape 21"/>
          <p:cNvSpPr/>
          <p:nvPr/>
        </p:nvSpPr>
        <p:spPr>
          <a:xfrm>
            <a:off x="4343400" y="1417320"/>
            <a:ext cx="384048" cy="384048"/>
          </a:xfrm>
          <a:prstGeom prst="ellipse">
            <a:avLst/>
          </a:prstGeom>
          <a:solidFill>
            <a:srgbClr val="BF5700"/>
          </a:solidFill>
          <a:ln/>
        </p:spPr>
      </p:sp>
      <p:pic>
        <p:nvPicPr>
          <p:cNvPr id="24" name="Image 0" descr="preencoded.png">    </p:cNvPr>
          <p:cNvPicPr>
            <a:picLocks noChangeAspect="1"/>
          </p:cNvPicPr>
          <p:nvPr/>
        </p:nvPicPr>
        <p:blipFill>
          <a:blip r:embed="rId1"/>
          <a:stretch>
            <a:fillRect/>
          </a:stretch>
        </p:blipFill>
        <p:spPr>
          <a:xfrm>
            <a:off x="4443252" y="1517172"/>
            <a:ext cx="184343" cy="184343"/>
          </a:xfrm>
          <a:prstGeom prst="rect">
            <a:avLst/>
          </a:prstGeom>
        </p:spPr>
      </p:pic>
      <p:sp>
        <p:nvSpPr>
          <p:cNvPr id="25" name="Text 22"/>
          <p:cNvSpPr/>
          <p:nvPr/>
        </p:nvSpPr>
        <p:spPr>
          <a:xfrm>
            <a:off x="4818888" y="1463040"/>
            <a:ext cx="1417320" cy="292608"/>
          </a:xfrm>
          <a:prstGeom prst="rect">
            <a:avLst/>
          </a:prstGeom>
          <a:noFill/>
          <a:ln/>
        </p:spPr>
        <p:txBody>
          <a:bodyPr wrap="square" lIns="0" tIns="0" rIns="0" bIns="0" rtlCol="0" anchor="ctr"/>
          <a:lstStyle/>
          <a:p>
            <a:pPr indent="0" marL="0">
              <a:buNone/>
            </a:pPr>
            <a:r>
              <a:rPr lang="en-US" sz="1200" b="1" dirty="0">
                <a:solidFill>
                  <a:srgbClr val="222731"/>
                </a:solidFill>
                <a:latin typeface="Arial" pitchFamily="34" charset="0"/>
                <a:ea typeface="Arial" pitchFamily="34" charset="-122"/>
                <a:cs typeface="Arial" pitchFamily="34" charset="-120"/>
              </a:rPr>
              <a:t>A faster game</a:t>
            </a:r>
            <a:endParaRPr lang="en-US" sz="1200" dirty="0"/>
          </a:p>
        </p:txBody>
      </p:sp>
      <p:sp>
        <p:nvSpPr>
          <p:cNvPr id="26" name="Text 23"/>
          <p:cNvSpPr/>
          <p:nvPr/>
        </p:nvSpPr>
        <p:spPr>
          <a:xfrm>
            <a:off x="4343400" y="1920240"/>
            <a:ext cx="1920240" cy="502920"/>
          </a:xfrm>
          <a:prstGeom prst="rect">
            <a:avLst/>
          </a:prstGeom>
          <a:noFill/>
          <a:ln/>
        </p:spPr>
        <p:txBody>
          <a:bodyPr wrap="square" lIns="0" tIns="0" rIns="0" bIns="0" rtlCol="0" anchor="ctr"/>
          <a:lstStyle/>
          <a:p>
            <a:pPr indent="0" marL="0">
              <a:buNone/>
            </a:pPr>
            <a:r>
              <a:rPr lang="en-US" sz="2000" b="1" dirty="0">
                <a:solidFill>
                  <a:srgbClr val="BF5700"/>
                </a:solidFill>
                <a:latin typeface="Arial" pitchFamily="34" charset="0"/>
                <a:ea typeface="Arial" pitchFamily="34" charset="-122"/>
                <a:cs typeface="Arial" pitchFamily="34" charset="-120"/>
              </a:rPr>
              <a:t>66.5 → 70.9</a:t>
            </a:r>
            <a:endParaRPr lang="en-US" sz="2000" dirty="0"/>
          </a:p>
        </p:txBody>
      </p:sp>
      <p:sp>
        <p:nvSpPr>
          <p:cNvPr id="27" name="Text 24"/>
          <p:cNvSpPr/>
          <p:nvPr/>
        </p:nvSpPr>
        <p:spPr>
          <a:xfrm>
            <a:off x="4343400" y="2450592"/>
            <a:ext cx="1828800" cy="50292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possessions per game, 2014-15 to 2017-18</a:t>
            </a:r>
            <a:endParaRPr lang="en-US" sz="1000" dirty="0"/>
          </a:p>
        </p:txBody>
      </p:sp>
      <p:sp>
        <p:nvSpPr>
          <p:cNvPr id="28" name="Shape 25"/>
          <p:cNvSpPr/>
          <p:nvPr/>
        </p:nvSpPr>
        <p:spPr>
          <a:xfrm>
            <a:off x="6446520" y="1280160"/>
            <a:ext cx="2148840" cy="1783080"/>
          </a:xfrm>
          <a:prstGeom prst="roundRect">
            <a:avLst>
              <a:gd name="adj" fmla="val 4103"/>
            </a:avLst>
          </a:prstGeom>
          <a:solidFill>
            <a:srgbClr val="F3F4F6"/>
          </a:solidFill>
          <a:ln/>
        </p:spPr>
      </p:sp>
      <p:sp>
        <p:nvSpPr>
          <p:cNvPr id="29" name="Shape 26"/>
          <p:cNvSpPr/>
          <p:nvPr/>
        </p:nvSpPr>
        <p:spPr>
          <a:xfrm>
            <a:off x="6629400" y="1417320"/>
            <a:ext cx="384048" cy="384048"/>
          </a:xfrm>
          <a:prstGeom prst="ellipse">
            <a:avLst/>
          </a:prstGeom>
          <a:solidFill>
            <a:srgbClr val="BF5700"/>
          </a:solidFill>
          <a:ln/>
        </p:spPr>
      </p:sp>
      <p:pic>
        <p:nvPicPr>
          <p:cNvPr id="30" name="Image 1" descr="preencoded.png">    </p:cNvPr>
          <p:cNvPicPr>
            <a:picLocks noChangeAspect="1"/>
          </p:cNvPicPr>
          <p:nvPr/>
        </p:nvPicPr>
        <p:blipFill>
          <a:blip r:embed="rId2"/>
          <a:stretch>
            <a:fillRect/>
          </a:stretch>
        </p:blipFill>
        <p:spPr>
          <a:xfrm>
            <a:off x="6729252" y="1517172"/>
            <a:ext cx="184343" cy="184343"/>
          </a:xfrm>
          <a:prstGeom prst="rect">
            <a:avLst/>
          </a:prstGeom>
        </p:spPr>
      </p:pic>
      <p:sp>
        <p:nvSpPr>
          <p:cNvPr id="31" name="Text 27"/>
          <p:cNvSpPr/>
          <p:nvPr/>
        </p:nvSpPr>
        <p:spPr>
          <a:xfrm>
            <a:off x="7104888" y="1463040"/>
            <a:ext cx="1417320" cy="292608"/>
          </a:xfrm>
          <a:prstGeom prst="rect">
            <a:avLst/>
          </a:prstGeom>
          <a:noFill/>
          <a:ln/>
        </p:spPr>
        <p:txBody>
          <a:bodyPr wrap="square" lIns="0" tIns="0" rIns="0" bIns="0" rtlCol="0" anchor="ctr"/>
          <a:lstStyle/>
          <a:p>
            <a:pPr indent="0" marL="0">
              <a:buNone/>
            </a:pPr>
            <a:r>
              <a:rPr lang="en-US" sz="1200" b="1" dirty="0">
                <a:solidFill>
                  <a:srgbClr val="222731"/>
                </a:solidFill>
                <a:latin typeface="Arial" pitchFamily="34" charset="0"/>
                <a:ea typeface="Arial" pitchFamily="34" charset="-122"/>
                <a:cs typeface="Arial" pitchFamily="34" charset="-120"/>
              </a:rPr>
              <a:t>More threes</a:t>
            </a:r>
            <a:endParaRPr lang="en-US" sz="1200" dirty="0"/>
          </a:p>
        </p:txBody>
      </p:sp>
      <p:sp>
        <p:nvSpPr>
          <p:cNvPr id="32" name="Text 28"/>
          <p:cNvSpPr/>
          <p:nvPr/>
        </p:nvSpPr>
        <p:spPr>
          <a:xfrm>
            <a:off x="6629400" y="1920240"/>
            <a:ext cx="1920240" cy="502920"/>
          </a:xfrm>
          <a:prstGeom prst="rect">
            <a:avLst/>
          </a:prstGeom>
          <a:noFill/>
          <a:ln/>
        </p:spPr>
        <p:txBody>
          <a:bodyPr wrap="square" lIns="0" tIns="0" rIns="0" bIns="0" rtlCol="0" anchor="ctr"/>
          <a:lstStyle/>
          <a:p>
            <a:pPr indent="0" marL="0">
              <a:buNone/>
            </a:pPr>
            <a:r>
              <a:rPr lang="en-US" sz="2000" b="1" dirty="0">
                <a:solidFill>
                  <a:srgbClr val="BF5700"/>
                </a:solidFill>
                <a:latin typeface="Arial" pitchFamily="34" charset="0"/>
                <a:ea typeface="Arial" pitchFamily="34" charset="-122"/>
                <a:cs typeface="Arial" pitchFamily="34" charset="-120"/>
              </a:rPr>
              <a:t>34.3% → 37.4%</a:t>
            </a:r>
            <a:endParaRPr lang="en-US" sz="2000" dirty="0"/>
          </a:p>
        </p:txBody>
      </p:sp>
      <p:sp>
        <p:nvSpPr>
          <p:cNvPr id="33" name="Text 29"/>
          <p:cNvSpPr/>
          <p:nvPr/>
        </p:nvSpPr>
        <p:spPr>
          <a:xfrm>
            <a:off x="6629400" y="2450592"/>
            <a:ext cx="1828800" cy="50292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share of shots from three, up every season</a:t>
            </a:r>
            <a:endParaRPr lang="en-US" sz="1000" dirty="0"/>
          </a:p>
        </p:txBody>
      </p:sp>
      <p:sp>
        <p:nvSpPr>
          <p:cNvPr id="34" name="Shape 30"/>
          <p:cNvSpPr/>
          <p:nvPr/>
        </p:nvSpPr>
        <p:spPr>
          <a:xfrm>
            <a:off x="548640" y="3246120"/>
            <a:ext cx="8046720" cy="1417320"/>
          </a:xfrm>
          <a:prstGeom prst="roundRect">
            <a:avLst>
              <a:gd name="adj" fmla="val 5161"/>
            </a:avLst>
          </a:prstGeom>
          <a:solidFill>
            <a:srgbClr val="13161C"/>
          </a:solidFill>
          <a:ln/>
        </p:spPr>
      </p:sp>
      <p:sp>
        <p:nvSpPr>
          <p:cNvPr id="35" name="Text 31"/>
          <p:cNvSpPr/>
          <p:nvPr/>
        </p:nvSpPr>
        <p:spPr>
          <a:xfrm>
            <a:off x="777240" y="3364992"/>
            <a:ext cx="1554480" cy="685800"/>
          </a:xfrm>
          <a:prstGeom prst="rect">
            <a:avLst/>
          </a:prstGeom>
          <a:noFill/>
          <a:ln/>
        </p:spPr>
        <p:txBody>
          <a:bodyPr wrap="square" lIns="0" tIns="0" rIns="0" bIns="0" rtlCol="0" anchor="ctr"/>
          <a:lstStyle/>
          <a:p>
            <a:pPr indent="0" marL="0">
              <a:buNone/>
            </a:pPr>
            <a:r>
              <a:rPr lang="en-US" sz="4000" b="1" dirty="0">
                <a:solidFill>
                  <a:srgbClr val="F07F2A"/>
                </a:solidFill>
                <a:latin typeface="Arial" pitchFamily="34" charset="0"/>
                <a:ea typeface="Arial" pitchFamily="34" charset="-122"/>
                <a:cs typeface="Arial" pitchFamily="34" charset="-120"/>
              </a:rPr>
              <a:t>24%</a:t>
            </a:r>
            <a:endParaRPr lang="en-US" sz="4000" dirty="0"/>
          </a:p>
        </p:txBody>
      </p:sp>
      <p:sp>
        <p:nvSpPr>
          <p:cNvPr id="36" name="Text 32"/>
          <p:cNvSpPr/>
          <p:nvPr/>
        </p:nvSpPr>
        <p:spPr>
          <a:xfrm>
            <a:off x="777240" y="4041648"/>
            <a:ext cx="2194560" cy="50292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of NCAA tournament games went to the worse seed, 2015–2017</a:t>
            </a:r>
            <a:endParaRPr lang="en-US" sz="1050" dirty="0"/>
          </a:p>
        </p:txBody>
      </p:sp>
      <p:sp>
        <p:nvSpPr>
          <p:cNvPr id="37" name="Text 33"/>
          <p:cNvSpPr/>
          <p:nvPr/>
        </p:nvSpPr>
        <p:spPr>
          <a:xfrm>
            <a:off x="3154680" y="3383280"/>
            <a:ext cx="3017520" cy="201168"/>
          </a:xfrm>
          <a:prstGeom prst="rect">
            <a:avLst/>
          </a:prstGeom>
          <a:noFill/>
          <a:ln/>
        </p:spPr>
        <p:txBody>
          <a:bodyPr wrap="square" lIns="0" tIns="0" rIns="0" bIns="0" rtlCol="0" anchor="ctr"/>
          <a:lstStyle/>
          <a:p>
            <a:pPr indent="0" marL="0">
              <a:buNone/>
            </a:pPr>
            <a:r>
              <a:rPr lang="en-US" sz="850" b="1" spc="120" kern="0" dirty="0">
                <a:solidFill>
                  <a:srgbClr val="F07F2A"/>
                </a:solidFill>
                <a:latin typeface="Arial" pitchFamily="34" charset="0"/>
                <a:ea typeface="Arial" pitchFamily="34" charset="-122"/>
                <a:cs typeface="Arial" pitchFamily="34" charset="-120"/>
              </a:rPr>
              <a:t>CHAMPION'S STRENGTH RANK GOING IN</a:t>
            </a:r>
            <a:endParaRPr lang="en-US" sz="850" dirty="0"/>
          </a:p>
        </p:txBody>
      </p:sp>
      <p:sp>
        <p:nvSpPr>
          <p:cNvPr id="38" name="Shape 34"/>
          <p:cNvSpPr/>
          <p:nvPr/>
        </p:nvSpPr>
        <p:spPr>
          <a:xfrm>
            <a:off x="3264408" y="3657600"/>
            <a:ext cx="475488" cy="475488"/>
          </a:xfrm>
          <a:prstGeom prst="ellipse">
            <a:avLst/>
          </a:prstGeom>
          <a:solidFill>
            <a:srgbClr val="BF5700"/>
          </a:solidFill>
          <a:ln/>
        </p:spPr>
      </p:sp>
      <p:sp>
        <p:nvSpPr>
          <p:cNvPr id="39" name="Text 35"/>
          <p:cNvSpPr/>
          <p:nvPr/>
        </p:nvSpPr>
        <p:spPr>
          <a:xfrm>
            <a:off x="3264408" y="365760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40" name="Text 36"/>
          <p:cNvSpPr/>
          <p:nvPr/>
        </p:nvSpPr>
        <p:spPr>
          <a:xfrm>
            <a:off x="3108960" y="4160520"/>
            <a:ext cx="786384" cy="38404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Duke</a:t>
            </a:r>
            <a:endParaRPr lang="en-US" sz="850" dirty="0"/>
          </a:p>
          <a:p>
            <a:pPr algn="ctr" indent="0" marL="0">
              <a:buNone/>
            </a:pPr>
            <a:r>
              <a:rPr lang="en-US" sz="850" dirty="0">
                <a:solidFill>
                  <a:srgbClr val="9AA3B2"/>
                </a:solidFill>
                <a:latin typeface="Arial" pitchFamily="34" charset="0"/>
                <a:ea typeface="Arial" pitchFamily="34" charset="-122"/>
                <a:cs typeface="Arial" pitchFamily="34" charset="-120"/>
              </a:rPr>
              <a:t>2014-15</a:t>
            </a:r>
            <a:endParaRPr lang="en-US" sz="850" dirty="0"/>
          </a:p>
        </p:txBody>
      </p:sp>
      <p:sp>
        <p:nvSpPr>
          <p:cNvPr id="41" name="Shape 37"/>
          <p:cNvSpPr/>
          <p:nvPr/>
        </p:nvSpPr>
        <p:spPr>
          <a:xfrm>
            <a:off x="4014216" y="3657600"/>
            <a:ext cx="475488" cy="475488"/>
          </a:xfrm>
          <a:prstGeom prst="ellipse">
            <a:avLst/>
          </a:prstGeom>
          <a:solidFill>
            <a:srgbClr val="BF5700"/>
          </a:solidFill>
          <a:ln/>
        </p:spPr>
      </p:sp>
      <p:sp>
        <p:nvSpPr>
          <p:cNvPr id="42" name="Text 38"/>
          <p:cNvSpPr/>
          <p:nvPr/>
        </p:nvSpPr>
        <p:spPr>
          <a:xfrm>
            <a:off x="4014216" y="365760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43" name="Text 39"/>
          <p:cNvSpPr/>
          <p:nvPr/>
        </p:nvSpPr>
        <p:spPr>
          <a:xfrm>
            <a:off x="3858768" y="4160520"/>
            <a:ext cx="786384" cy="38404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Villanova</a:t>
            </a:r>
            <a:endParaRPr lang="en-US" sz="850" dirty="0"/>
          </a:p>
          <a:p>
            <a:pPr algn="ctr" indent="0" marL="0">
              <a:buNone/>
            </a:pPr>
            <a:r>
              <a:rPr lang="en-US" sz="850" dirty="0">
                <a:solidFill>
                  <a:srgbClr val="9AA3B2"/>
                </a:solidFill>
                <a:latin typeface="Arial" pitchFamily="34" charset="0"/>
                <a:ea typeface="Arial" pitchFamily="34" charset="-122"/>
                <a:cs typeface="Arial" pitchFamily="34" charset="-120"/>
              </a:rPr>
              <a:t>2015-16</a:t>
            </a:r>
            <a:endParaRPr lang="en-US" sz="850" dirty="0"/>
          </a:p>
        </p:txBody>
      </p:sp>
      <p:sp>
        <p:nvSpPr>
          <p:cNvPr id="44" name="Shape 40"/>
          <p:cNvSpPr/>
          <p:nvPr/>
        </p:nvSpPr>
        <p:spPr>
          <a:xfrm>
            <a:off x="4764024" y="3657600"/>
            <a:ext cx="475488" cy="475488"/>
          </a:xfrm>
          <a:prstGeom prst="ellipse">
            <a:avLst/>
          </a:prstGeom>
          <a:solidFill>
            <a:srgbClr val="BF5700"/>
          </a:solidFill>
          <a:ln/>
        </p:spPr>
      </p:sp>
      <p:sp>
        <p:nvSpPr>
          <p:cNvPr id="45" name="Text 41"/>
          <p:cNvSpPr/>
          <p:nvPr/>
        </p:nvSpPr>
        <p:spPr>
          <a:xfrm>
            <a:off x="4764024" y="365760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46" name="Text 42"/>
          <p:cNvSpPr/>
          <p:nvPr/>
        </p:nvSpPr>
        <p:spPr>
          <a:xfrm>
            <a:off x="4608576" y="4160520"/>
            <a:ext cx="786384" cy="38404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UNC</a:t>
            </a:r>
            <a:endParaRPr lang="en-US" sz="850" dirty="0"/>
          </a:p>
          <a:p>
            <a:pPr algn="ctr" indent="0" marL="0">
              <a:buNone/>
            </a:pPr>
            <a:r>
              <a:rPr lang="en-US" sz="850" dirty="0">
                <a:solidFill>
                  <a:srgbClr val="9AA3B2"/>
                </a:solidFill>
                <a:latin typeface="Arial" pitchFamily="34" charset="0"/>
                <a:ea typeface="Arial" pitchFamily="34" charset="-122"/>
                <a:cs typeface="Arial" pitchFamily="34" charset="-120"/>
              </a:rPr>
              <a:t>2016-17</a:t>
            </a:r>
            <a:endParaRPr lang="en-US" sz="850" dirty="0"/>
          </a:p>
        </p:txBody>
      </p:sp>
      <p:sp>
        <p:nvSpPr>
          <p:cNvPr id="47" name="Shape 43"/>
          <p:cNvSpPr/>
          <p:nvPr/>
        </p:nvSpPr>
        <p:spPr>
          <a:xfrm>
            <a:off x="5513832" y="3657600"/>
            <a:ext cx="475488" cy="475488"/>
          </a:xfrm>
          <a:prstGeom prst="ellipse">
            <a:avLst/>
          </a:prstGeom>
          <a:solidFill>
            <a:srgbClr val="2A303B"/>
          </a:solidFill>
          <a:ln/>
        </p:spPr>
      </p:sp>
      <p:sp>
        <p:nvSpPr>
          <p:cNvPr id="48" name="Text 44"/>
          <p:cNvSpPr/>
          <p:nvPr/>
        </p:nvSpPr>
        <p:spPr>
          <a:xfrm>
            <a:off x="5513832" y="365760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49" name="Text 45"/>
          <p:cNvSpPr/>
          <p:nvPr/>
        </p:nvSpPr>
        <p:spPr>
          <a:xfrm>
            <a:off x="5358384" y="4160520"/>
            <a:ext cx="786384" cy="38404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Villanova</a:t>
            </a:r>
            <a:endParaRPr lang="en-US" sz="850" dirty="0"/>
          </a:p>
          <a:p>
            <a:pPr algn="ctr" indent="0" marL="0">
              <a:buNone/>
            </a:pPr>
            <a:r>
              <a:rPr lang="en-US" sz="850" dirty="0">
                <a:solidFill>
                  <a:srgbClr val="9AA3B2"/>
                </a:solidFill>
                <a:latin typeface="Arial" pitchFamily="34" charset="0"/>
                <a:ea typeface="Arial" pitchFamily="34" charset="-122"/>
                <a:cs typeface="Arial" pitchFamily="34" charset="-120"/>
              </a:rPr>
              <a:t>2017-18</a:t>
            </a:r>
            <a:endParaRPr lang="en-US" sz="850" dirty="0"/>
          </a:p>
        </p:txBody>
      </p:sp>
      <p:sp>
        <p:nvSpPr>
          <p:cNvPr id="50" name="Text 46"/>
          <p:cNvSpPr/>
          <p:nvPr/>
        </p:nvSpPr>
        <p:spPr>
          <a:xfrm>
            <a:off x="6355080" y="3383280"/>
            <a:ext cx="2103120" cy="11430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So we don't pick a team.</a:t>
            </a:r>
            <a:endParaRPr lang="en-US" sz="1200" dirty="0"/>
          </a:p>
          <a:p>
            <a:pPr indent="0" marL="0">
              <a:buNone/>
            </a:pPr>
            <a:r>
              <a:rPr lang="en-US" sz="1200" dirty="0">
                <a:solidFill>
                  <a:srgbClr val="9AA3B2"/>
                </a:solidFill>
                <a:latin typeface="Arial" pitchFamily="34" charset="0"/>
                <a:ea typeface="Arial" pitchFamily="34" charset="-122"/>
                <a:cs typeface="Arial" pitchFamily="34" charset="-120"/>
              </a:rPr>
              <a:t>We play the tournament 10,000 times and count champions.</a:t>
            </a:r>
            <a:endParaRPr lang="en-US" sz="1200" dirty="0"/>
          </a:p>
        </p:txBody>
      </p:sp>
      <p:sp>
        <p:nvSpPr>
          <p:cNvPr id="51" name="Text 47"/>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BF5700"/>
                </a:solidFill>
                <a:latin typeface="Arial" pitchFamily="34" charset="0"/>
                <a:ea typeface="Arial" pitchFamily="34" charset="-122"/>
                <a:cs typeface="Arial" pitchFamily="34" charset="-120"/>
              </a:rPr>
              <a:t>ARCHITECTURE</a:t>
            </a:r>
            <a:endParaRPr lang="en-US" sz="1000" dirty="0"/>
          </a:p>
        </p:txBody>
      </p:sp>
      <p:sp>
        <p:nvSpPr>
          <p:cNvPr id="3" name="Text 1"/>
          <p:cNvSpPr/>
          <p:nvPr/>
        </p:nvSpPr>
        <p:spPr>
          <a:xfrm>
            <a:off x="548640" y="585216"/>
            <a:ext cx="8046720" cy="566928"/>
          </a:xfrm>
          <a:prstGeom prst="rect">
            <a:avLst/>
          </a:prstGeom>
          <a:noFill/>
          <a:ln/>
        </p:spPr>
        <p:txBody>
          <a:bodyPr wrap="square" lIns="0" tIns="0" rIns="0" bIns="0" rtlCol="0" anchor="t"/>
          <a:lstStyle/>
          <a:p>
            <a:pPr indent="0" marL="0">
              <a:buNone/>
            </a:pPr>
            <a:r>
              <a:rPr lang="en-US" sz="2800" b="1" dirty="0">
                <a:solidFill>
                  <a:srgbClr val="13161C"/>
                </a:solidFill>
                <a:latin typeface="Arial" pitchFamily="34" charset="0"/>
                <a:ea typeface="Arial" pitchFamily="34" charset="-122"/>
                <a:cs typeface="Arial" pitchFamily="34" charset="-120"/>
              </a:rPr>
              <a:t>One governed engine, from raw data to answer</a:t>
            </a:r>
            <a:endParaRPr lang="en-US" sz="2800" dirty="0"/>
          </a:p>
        </p:txBody>
      </p:sp>
      <p:sp>
        <p:nvSpPr>
          <p:cNvPr id="4" name="Shape 2"/>
          <p:cNvSpPr/>
          <p:nvPr/>
        </p:nvSpPr>
        <p:spPr>
          <a:xfrm>
            <a:off x="548640" y="1280160"/>
            <a:ext cx="1828800" cy="2331720"/>
          </a:xfrm>
          <a:prstGeom prst="roundRect">
            <a:avLst>
              <a:gd name="adj" fmla="val 4000"/>
            </a:avLst>
          </a:prstGeom>
          <a:solidFill>
            <a:srgbClr val="F3F4F6"/>
          </a:solidFill>
          <a:ln/>
        </p:spPr>
      </p:sp>
      <p:sp>
        <p:nvSpPr>
          <p:cNvPr id="5" name="Text 3"/>
          <p:cNvSpPr/>
          <p:nvPr/>
        </p:nvSpPr>
        <p:spPr>
          <a:xfrm>
            <a:off x="676656" y="1371600"/>
            <a:ext cx="1572768" cy="219456"/>
          </a:xfrm>
          <a:prstGeom prst="rect">
            <a:avLst/>
          </a:prstGeom>
          <a:noFill/>
          <a:ln/>
        </p:spPr>
        <p:txBody>
          <a:bodyPr wrap="square" lIns="0" tIns="0" rIns="0" bIns="0" rtlCol="0" anchor="ctr"/>
          <a:lstStyle/>
          <a:p>
            <a:pPr indent="0" marL="0">
              <a:buNone/>
            </a:pPr>
            <a:r>
              <a:rPr lang="en-US" sz="900" b="1" spc="150" kern="0" dirty="0">
                <a:solidFill>
                  <a:srgbClr val="BF5700"/>
                </a:solidFill>
                <a:latin typeface="Arial" pitchFamily="34" charset="0"/>
                <a:ea typeface="Arial" pitchFamily="34" charset="-122"/>
                <a:cs typeface="Arial" pitchFamily="34" charset="-120"/>
              </a:rPr>
              <a:t>SOURCES</a:t>
            </a:r>
            <a:endParaRPr lang="en-US" sz="900" dirty="0"/>
          </a:p>
        </p:txBody>
      </p:sp>
      <p:sp>
        <p:nvSpPr>
          <p:cNvPr id="6" name="Shape 4"/>
          <p:cNvSpPr/>
          <p:nvPr/>
        </p:nvSpPr>
        <p:spPr>
          <a:xfrm>
            <a:off x="658368" y="1664208"/>
            <a:ext cx="1609344" cy="873252"/>
          </a:xfrm>
          <a:prstGeom prst="roundRect">
            <a:avLst>
              <a:gd name="adj" fmla="val 8377"/>
            </a:avLst>
          </a:prstGeom>
          <a:solidFill>
            <a:srgbClr val="FFFFFF"/>
          </a:solidFill>
          <a:ln w="12700">
            <a:solidFill>
              <a:srgbClr val="DDE0E5"/>
            </a:solidFill>
            <a:prstDash val="solid"/>
          </a:ln>
        </p:spPr>
      </p:sp>
      <p:sp>
        <p:nvSpPr>
          <p:cNvPr id="7" name="Text 5"/>
          <p:cNvSpPr/>
          <p:nvPr/>
        </p:nvSpPr>
        <p:spPr>
          <a:xfrm>
            <a:off x="731520" y="1664208"/>
            <a:ext cx="1463040" cy="873252"/>
          </a:xfrm>
          <a:prstGeom prst="rect">
            <a:avLst/>
          </a:prstGeom>
          <a:noFill/>
          <a:ln/>
        </p:spPr>
        <p:txBody>
          <a:bodyPr wrap="square" lIns="0" tIns="0" rIns="0" bIns="0" rtlCol="0" anchor="ctr"/>
          <a:lstStyle/>
          <a:p>
            <a:pPr indent="0" marL="0">
              <a:buNone/>
            </a:pPr>
            <a:r>
              <a:rPr lang="en-US" sz="1100" b="1" dirty="0">
                <a:solidFill>
                  <a:srgbClr val="13161C"/>
                </a:solidFill>
                <a:latin typeface="Arial" pitchFamily="34" charset="0"/>
                <a:ea typeface="Arial" pitchFamily="34" charset="-122"/>
                <a:cs typeface="Arial" pitchFamily="34" charset="-120"/>
              </a:rPr>
              <a:t>ncaa_basketball</a:t>
            </a:r>
            <a:endParaRPr lang="en-US" sz="1100" dirty="0"/>
          </a:p>
          <a:p>
            <a:pPr indent="0" marL="0">
              <a:buNone/>
            </a:pPr>
            <a:r>
              <a:rPr lang="en-US" sz="900" dirty="0">
                <a:solidFill>
                  <a:srgbClr val="6B7280"/>
                </a:solidFill>
                <a:latin typeface="Arial" pitchFamily="34" charset="0"/>
                <a:ea typeface="Arial" pitchFamily="34" charset="-122"/>
                <a:cs typeface="Arial" pitchFamily="34" charset="-120"/>
              </a:rPr>
              <a:t>raw tables, read-only</a:t>
            </a:r>
            <a:endParaRPr lang="en-US" sz="1100" dirty="0"/>
          </a:p>
        </p:txBody>
      </p:sp>
      <p:sp>
        <p:nvSpPr>
          <p:cNvPr id="8" name="Shape 6"/>
          <p:cNvSpPr/>
          <p:nvPr/>
        </p:nvSpPr>
        <p:spPr>
          <a:xfrm>
            <a:off x="658368" y="2628900"/>
            <a:ext cx="1609344" cy="873252"/>
          </a:xfrm>
          <a:prstGeom prst="roundRect">
            <a:avLst>
              <a:gd name="adj" fmla="val 8377"/>
            </a:avLst>
          </a:prstGeom>
          <a:solidFill>
            <a:srgbClr val="FFFFFF"/>
          </a:solidFill>
          <a:ln w="12700">
            <a:solidFill>
              <a:srgbClr val="DDE0E5"/>
            </a:solidFill>
            <a:prstDash val="solid"/>
          </a:ln>
        </p:spPr>
      </p:sp>
      <p:sp>
        <p:nvSpPr>
          <p:cNvPr id="9" name="Text 7"/>
          <p:cNvSpPr/>
          <p:nvPr/>
        </p:nvSpPr>
        <p:spPr>
          <a:xfrm>
            <a:off x="731520" y="2628900"/>
            <a:ext cx="1463040" cy="873252"/>
          </a:xfrm>
          <a:prstGeom prst="rect">
            <a:avLst/>
          </a:prstGeom>
          <a:noFill/>
          <a:ln/>
        </p:spPr>
        <p:txBody>
          <a:bodyPr wrap="square" lIns="0" tIns="0" rIns="0" bIns="0" rtlCol="0" anchor="ctr"/>
          <a:lstStyle/>
          <a:p>
            <a:pPr indent="0" marL="0">
              <a:buNone/>
            </a:pPr>
            <a:r>
              <a:rPr lang="en-US" sz="1100" b="1" dirty="0">
                <a:solidFill>
                  <a:srgbClr val="13161C"/>
                </a:solidFill>
                <a:latin typeface="Arial" pitchFamily="34" charset="0"/>
                <a:ea typeface="Arial" pitchFamily="34" charset="-122"/>
                <a:cs typeface="Arial" pitchFamily="34" charset="-120"/>
              </a:rPr>
              <a:t>Knowledge Catalog</a:t>
            </a:r>
            <a:endParaRPr lang="en-US" sz="1100" dirty="0"/>
          </a:p>
          <a:p>
            <a:pPr indent="0" marL="0">
              <a:buNone/>
            </a:pPr>
            <a:r>
              <a:rPr lang="en-US" sz="900" dirty="0">
                <a:solidFill>
                  <a:srgbClr val="6B7280"/>
                </a:solidFill>
                <a:latin typeface="Arial" pitchFamily="34" charset="0"/>
                <a:ea typeface="Arial" pitchFamily="34" charset="-122"/>
                <a:cs typeface="Arial" pitchFamily="34" charset="-120"/>
              </a:rPr>
              <a:t>scans + 151-term glossary</a:t>
            </a:r>
            <a:endParaRPr lang="en-US" sz="1100" dirty="0"/>
          </a:p>
        </p:txBody>
      </p:sp>
      <p:sp>
        <p:nvSpPr>
          <p:cNvPr id="10" name="Shape 8"/>
          <p:cNvSpPr/>
          <p:nvPr/>
        </p:nvSpPr>
        <p:spPr>
          <a:xfrm>
            <a:off x="2404872" y="2446020"/>
            <a:ext cx="192024" cy="0"/>
          </a:xfrm>
          <a:prstGeom prst="line">
            <a:avLst/>
          </a:prstGeom>
          <a:noFill/>
          <a:ln w="19050">
            <a:solidFill>
              <a:srgbClr val="BF5700"/>
            </a:solidFill>
            <a:prstDash val="solid"/>
            <a:tailEnd type="triangle"/>
          </a:ln>
        </p:spPr>
      </p:sp>
      <p:sp>
        <p:nvSpPr>
          <p:cNvPr id="11" name="Shape 9"/>
          <p:cNvSpPr/>
          <p:nvPr/>
        </p:nvSpPr>
        <p:spPr>
          <a:xfrm>
            <a:off x="2624328" y="1280160"/>
            <a:ext cx="1828800" cy="2331720"/>
          </a:xfrm>
          <a:prstGeom prst="roundRect">
            <a:avLst>
              <a:gd name="adj" fmla="val 4000"/>
            </a:avLst>
          </a:prstGeom>
          <a:solidFill>
            <a:srgbClr val="F3F4F6"/>
          </a:solidFill>
          <a:ln/>
        </p:spPr>
      </p:sp>
      <p:sp>
        <p:nvSpPr>
          <p:cNvPr id="12" name="Text 10"/>
          <p:cNvSpPr/>
          <p:nvPr/>
        </p:nvSpPr>
        <p:spPr>
          <a:xfrm>
            <a:off x="2752344" y="1371600"/>
            <a:ext cx="1572768" cy="219456"/>
          </a:xfrm>
          <a:prstGeom prst="rect">
            <a:avLst/>
          </a:prstGeom>
          <a:noFill/>
          <a:ln/>
        </p:spPr>
        <p:txBody>
          <a:bodyPr wrap="square" lIns="0" tIns="0" rIns="0" bIns="0" rtlCol="0" anchor="ctr"/>
          <a:lstStyle/>
          <a:p>
            <a:pPr indent="0" marL="0">
              <a:buNone/>
            </a:pPr>
            <a:r>
              <a:rPr lang="en-US" sz="900" b="1" spc="150" kern="0" dirty="0">
                <a:solidFill>
                  <a:srgbClr val="BF5700"/>
                </a:solidFill>
                <a:latin typeface="Arial" pitchFamily="34" charset="0"/>
                <a:ea typeface="Arial" pitchFamily="34" charset="-122"/>
                <a:cs typeface="Arial" pitchFamily="34" charset="-120"/>
              </a:rPr>
              <a:t>dbt ON BIGQUERY</a:t>
            </a:r>
            <a:endParaRPr lang="en-US" sz="900" dirty="0"/>
          </a:p>
        </p:txBody>
      </p:sp>
      <p:sp>
        <p:nvSpPr>
          <p:cNvPr id="13" name="Shape 11"/>
          <p:cNvSpPr/>
          <p:nvPr/>
        </p:nvSpPr>
        <p:spPr>
          <a:xfrm>
            <a:off x="2734056" y="1664208"/>
            <a:ext cx="1609344" cy="551688"/>
          </a:xfrm>
          <a:prstGeom prst="roundRect">
            <a:avLst>
              <a:gd name="adj" fmla="val 13260"/>
            </a:avLst>
          </a:prstGeom>
          <a:solidFill>
            <a:srgbClr val="FFFFFF"/>
          </a:solidFill>
          <a:ln w="12700">
            <a:solidFill>
              <a:srgbClr val="DDE0E5"/>
            </a:solidFill>
            <a:prstDash val="solid"/>
          </a:ln>
        </p:spPr>
      </p:sp>
      <p:sp>
        <p:nvSpPr>
          <p:cNvPr id="14" name="Text 12"/>
          <p:cNvSpPr/>
          <p:nvPr/>
        </p:nvSpPr>
        <p:spPr>
          <a:xfrm>
            <a:off x="2807208" y="1664208"/>
            <a:ext cx="1463040" cy="551688"/>
          </a:xfrm>
          <a:prstGeom prst="rect">
            <a:avLst/>
          </a:prstGeom>
          <a:noFill/>
          <a:ln/>
        </p:spPr>
        <p:txBody>
          <a:bodyPr wrap="square" lIns="0" tIns="0" rIns="0" bIns="0" rtlCol="0" anchor="ctr"/>
          <a:lstStyle/>
          <a:p>
            <a:pPr indent="0" marL="0">
              <a:buNone/>
            </a:pPr>
            <a:r>
              <a:rPr lang="en-US" sz="1100" b="1" dirty="0">
                <a:solidFill>
                  <a:srgbClr val="13161C"/>
                </a:solidFill>
                <a:latin typeface="Arial" pitchFamily="34" charset="0"/>
                <a:ea typeface="Arial" pitchFamily="34" charset="-122"/>
                <a:cs typeface="Arial" pitchFamily="34" charset="-120"/>
              </a:rPr>
              <a:t>stg_ · dq_</a:t>
            </a:r>
            <a:endParaRPr lang="en-US" sz="1100" dirty="0"/>
          </a:p>
          <a:p>
            <a:pPr indent="0" marL="0">
              <a:buNone/>
            </a:pPr>
            <a:r>
              <a:rPr lang="en-US" sz="900" dirty="0">
                <a:solidFill>
                  <a:srgbClr val="6B7280"/>
                </a:solidFill>
                <a:latin typeface="Arial" pitchFamily="34" charset="0"/>
                <a:ea typeface="Arial" pitchFamily="34" charset="-122"/>
                <a:cs typeface="Arial" pitchFamily="34" charset="-120"/>
              </a:rPr>
              <a:t>clean + quality gate</a:t>
            </a:r>
            <a:endParaRPr lang="en-US" sz="1100" dirty="0"/>
          </a:p>
        </p:txBody>
      </p:sp>
      <p:sp>
        <p:nvSpPr>
          <p:cNvPr id="15" name="Shape 13"/>
          <p:cNvSpPr/>
          <p:nvPr/>
        </p:nvSpPr>
        <p:spPr>
          <a:xfrm>
            <a:off x="2734056" y="2307336"/>
            <a:ext cx="1609344" cy="551688"/>
          </a:xfrm>
          <a:prstGeom prst="roundRect">
            <a:avLst>
              <a:gd name="adj" fmla="val 13260"/>
            </a:avLst>
          </a:prstGeom>
          <a:solidFill>
            <a:srgbClr val="FFFFFF"/>
          </a:solidFill>
          <a:ln w="12700">
            <a:solidFill>
              <a:srgbClr val="DDE0E5"/>
            </a:solidFill>
            <a:prstDash val="solid"/>
          </a:ln>
        </p:spPr>
      </p:sp>
      <p:sp>
        <p:nvSpPr>
          <p:cNvPr id="16" name="Text 14"/>
          <p:cNvSpPr/>
          <p:nvPr/>
        </p:nvSpPr>
        <p:spPr>
          <a:xfrm>
            <a:off x="2807208" y="2307336"/>
            <a:ext cx="1463040" cy="551688"/>
          </a:xfrm>
          <a:prstGeom prst="rect">
            <a:avLst/>
          </a:prstGeom>
          <a:noFill/>
          <a:ln/>
        </p:spPr>
        <p:txBody>
          <a:bodyPr wrap="square" lIns="0" tIns="0" rIns="0" bIns="0" rtlCol="0" anchor="ctr"/>
          <a:lstStyle/>
          <a:p>
            <a:pPr indent="0" marL="0">
              <a:buNone/>
            </a:pPr>
            <a:r>
              <a:rPr lang="en-US" sz="1100" b="1" dirty="0">
                <a:solidFill>
                  <a:srgbClr val="13161C"/>
                </a:solidFill>
                <a:latin typeface="Arial" pitchFamily="34" charset="0"/>
                <a:ea typeface="Arial" pitchFamily="34" charset="-122"/>
                <a:cs typeface="Arial" pitchFamily="34" charset="-120"/>
              </a:rPr>
              <a:t>f_ report cards</a:t>
            </a:r>
            <a:endParaRPr lang="en-US" sz="1100" dirty="0"/>
          </a:p>
          <a:p>
            <a:pPr indent="0" marL="0">
              <a:buNone/>
            </a:pPr>
            <a:r>
              <a:rPr lang="en-US" sz="900" dirty="0">
                <a:solidFill>
                  <a:srgbClr val="6B7280"/>
                </a:solidFill>
                <a:latin typeface="Arial" pitchFamily="34" charset="0"/>
                <a:ea typeface="Arial" pitchFamily="34" charset="-122"/>
                <a:cs typeface="Arial" pitchFamily="34" charset="-120"/>
              </a:rPr>
              <a:t>every team, every season</a:t>
            </a:r>
            <a:endParaRPr lang="en-US" sz="1100" dirty="0"/>
          </a:p>
        </p:txBody>
      </p:sp>
      <p:sp>
        <p:nvSpPr>
          <p:cNvPr id="17" name="Shape 15"/>
          <p:cNvSpPr/>
          <p:nvPr/>
        </p:nvSpPr>
        <p:spPr>
          <a:xfrm>
            <a:off x="2734056" y="2950464"/>
            <a:ext cx="1609344" cy="551688"/>
          </a:xfrm>
          <a:prstGeom prst="roundRect">
            <a:avLst>
              <a:gd name="adj" fmla="val 13260"/>
            </a:avLst>
          </a:prstGeom>
          <a:solidFill>
            <a:srgbClr val="FFFFFF"/>
          </a:solidFill>
          <a:ln w="12700">
            <a:solidFill>
              <a:srgbClr val="DDE0E5"/>
            </a:solidFill>
            <a:prstDash val="solid"/>
          </a:ln>
        </p:spPr>
      </p:sp>
      <p:sp>
        <p:nvSpPr>
          <p:cNvPr id="18" name="Text 16"/>
          <p:cNvSpPr/>
          <p:nvPr/>
        </p:nvSpPr>
        <p:spPr>
          <a:xfrm>
            <a:off x="2807208" y="2950464"/>
            <a:ext cx="1463040" cy="551688"/>
          </a:xfrm>
          <a:prstGeom prst="rect">
            <a:avLst/>
          </a:prstGeom>
          <a:noFill/>
          <a:ln/>
        </p:spPr>
        <p:txBody>
          <a:bodyPr wrap="square" lIns="0" tIns="0" rIns="0" bIns="0" rtlCol="0" anchor="ctr"/>
          <a:lstStyle/>
          <a:p>
            <a:pPr indent="0" marL="0">
              <a:buNone/>
            </a:pPr>
            <a:r>
              <a:rPr lang="en-US" sz="1100" b="1" dirty="0">
                <a:solidFill>
                  <a:srgbClr val="13161C"/>
                </a:solidFill>
                <a:latin typeface="Arial" pitchFamily="34" charset="0"/>
                <a:ea typeface="Arial" pitchFamily="34" charset="-122"/>
                <a:cs typeface="Arial" pitchFamily="34" charset="-120"/>
              </a:rPr>
              <a:t>mart_ tables</a:t>
            </a:r>
            <a:endParaRPr lang="en-US" sz="1100" dirty="0"/>
          </a:p>
          <a:p>
            <a:pPr indent="0" marL="0">
              <a:buNone/>
            </a:pPr>
            <a:r>
              <a:rPr lang="en-US" sz="900" dirty="0">
                <a:solidFill>
                  <a:srgbClr val="6B7280"/>
                </a:solidFill>
                <a:latin typeface="Arial" pitchFamily="34" charset="0"/>
                <a:ea typeface="Arial" pitchFamily="34" charset="-122"/>
                <a:cs typeface="Arial" pitchFamily="34" charset="-120"/>
              </a:rPr>
              <a:t>what the agent reads</a:t>
            </a:r>
            <a:endParaRPr lang="en-US" sz="1100" dirty="0"/>
          </a:p>
        </p:txBody>
      </p:sp>
      <p:sp>
        <p:nvSpPr>
          <p:cNvPr id="19" name="Shape 17"/>
          <p:cNvSpPr/>
          <p:nvPr/>
        </p:nvSpPr>
        <p:spPr>
          <a:xfrm>
            <a:off x="4480560" y="2446020"/>
            <a:ext cx="192024" cy="0"/>
          </a:xfrm>
          <a:prstGeom prst="line">
            <a:avLst/>
          </a:prstGeom>
          <a:noFill/>
          <a:ln w="19050">
            <a:solidFill>
              <a:srgbClr val="BF5700"/>
            </a:solidFill>
            <a:prstDash val="solid"/>
            <a:tailEnd type="triangle"/>
          </a:ln>
        </p:spPr>
      </p:sp>
      <p:sp>
        <p:nvSpPr>
          <p:cNvPr id="20" name="Shape 18"/>
          <p:cNvSpPr/>
          <p:nvPr/>
        </p:nvSpPr>
        <p:spPr>
          <a:xfrm>
            <a:off x="4700016" y="1280160"/>
            <a:ext cx="1828800" cy="2331720"/>
          </a:xfrm>
          <a:prstGeom prst="roundRect">
            <a:avLst>
              <a:gd name="adj" fmla="val 4000"/>
            </a:avLst>
          </a:prstGeom>
          <a:solidFill>
            <a:srgbClr val="F3F4F6"/>
          </a:solidFill>
          <a:ln/>
        </p:spPr>
      </p:sp>
      <p:sp>
        <p:nvSpPr>
          <p:cNvPr id="21" name="Text 19"/>
          <p:cNvSpPr/>
          <p:nvPr/>
        </p:nvSpPr>
        <p:spPr>
          <a:xfrm>
            <a:off x="4828032" y="1371600"/>
            <a:ext cx="1572768" cy="219456"/>
          </a:xfrm>
          <a:prstGeom prst="rect">
            <a:avLst/>
          </a:prstGeom>
          <a:noFill/>
          <a:ln/>
        </p:spPr>
        <p:txBody>
          <a:bodyPr wrap="square" lIns="0" tIns="0" rIns="0" bIns="0" rtlCol="0" anchor="ctr"/>
          <a:lstStyle/>
          <a:p>
            <a:pPr indent="0" marL="0">
              <a:buNone/>
            </a:pPr>
            <a:r>
              <a:rPr lang="en-US" sz="900" b="1" spc="150" kern="0" dirty="0">
                <a:solidFill>
                  <a:srgbClr val="BF5700"/>
                </a:solidFill>
                <a:latin typeface="Arial" pitchFamily="34" charset="0"/>
                <a:ea typeface="Arial" pitchFamily="34" charset="-122"/>
                <a:cs typeface="Arial" pitchFamily="34" charset="-120"/>
              </a:rPr>
              <a:t>INTELLIGENCE</a:t>
            </a:r>
            <a:endParaRPr lang="en-US" sz="900" dirty="0"/>
          </a:p>
        </p:txBody>
      </p:sp>
      <p:sp>
        <p:nvSpPr>
          <p:cNvPr id="22" name="Shape 20"/>
          <p:cNvSpPr/>
          <p:nvPr/>
        </p:nvSpPr>
        <p:spPr>
          <a:xfrm>
            <a:off x="4809744" y="1664208"/>
            <a:ext cx="1609344" cy="390906"/>
          </a:xfrm>
          <a:prstGeom prst="roundRect">
            <a:avLst>
              <a:gd name="adj" fmla="val 18713"/>
            </a:avLst>
          </a:prstGeom>
          <a:solidFill>
            <a:srgbClr val="FFFFFF"/>
          </a:solidFill>
          <a:ln w="12700">
            <a:solidFill>
              <a:srgbClr val="DDE0E5"/>
            </a:solidFill>
            <a:prstDash val="solid"/>
          </a:ln>
        </p:spPr>
      </p:sp>
      <p:sp>
        <p:nvSpPr>
          <p:cNvPr id="23" name="Text 21"/>
          <p:cNvSpPr/>
          <p:nvPr/>
        </p:nvSpPr>
        <p:spPr>
          <a:xfrm>
            <a:off x="4882896" y="1664208"/>
            <a:ext cx="1463040" cy="390906"/>
          </a:xfrm>
          <a:prstGeom prst="rect">
            <a:avLst/>
          </a:prstGeom>
          <a:noFill/>
          <a:ln/>
        </p:spPr>
        <p:txBody>
          <a:bodyPr wrap="square" lIns="0" tIns="0" rIns="0" bIns="0" rtlCol="0" anchor="ctr"/>
          <a:lstStyle/>
          <a:p>
            <a:pPr indent="0" marL="0">
              <a:buNone/>
            </a:pPr>
            <a:r>
              <a:rPr lang="en-US" sz="1100" b="1" dirty="0">
                <a:solidFill>
                  <a:srgbClr val="13161C"/>
                </a:solidFill>
                <a:latin typeface="Arial" pitchFamily="34" charset="0"/>
                <a:ea typeface="Arial" pitchFamily="34" charset="-122"/>
                <a:cs typeface="Arial" pitchFamily="34" charset="-120"/>
              </a:rPr>
              <a:t>BQML win model</a:t>
            </a:r>
            <a:endParaRPr lang="en-US" sz="1100" dirty="0"/>
          </a:p>
          <a:p>
            <a:pPr indent="0" marL="0">
              <a:buNone/>
            </a:pPr>
            <a:r>
              <a:rPr lang="en-US" sz="900" dirty="0">
                <a:solidFill>
                  <a:srgbClr val="6B7280"/>
                </a:solidFill>
                <a:latin typeface="Arial" pitchFamily="34" charset="0"/>
                <a:ea typeface="Arial" pitchFamily="34" charset="-122"/>
                <a:cs typeface="Arial" pitchFamily="34" charset="-120"/>
              </a:rPr>
              <a:t>P(A beats B), any matchup</a:t>
            </a:r>
            <a:endParaRPr lang="en-US" sz="1100" dirty="0"/>
          </a:p>
        </p:txBody>
      </p:sp>
      <p:sp>
        <p:nvSpPr>
          <p:cNvPr id="24" name="Shape 22"/>
          <p:cNvSpPr/>
          <p:nvPr/>
        </p:nvSpPr>
        <p:spPr>
          <a:xfrm>
            <a:off x="4809744" y="2146554"/>
            <a:ext cx="1609344" cy="390906"/>
          </a:xfrm>
          <a:prstGeom prst="roundRect">
            <a:avLst>
              <a:gd name="adj" fmla="val 18713"/>
            </a:avLst>
          </a:prstGeom>
          <a:solidFill>
            <a:srgbClr val="FFFFFF"/>
          </a:solidFill>
          <a:ln w="12700">
            <a:solidFill>
              <a:srgbClr val="DDE0E5"/>
            </a:solidFill>
            <a:prstDash val="solid"/>
          </a:ln>
        </p:spPr>
      </p:sp>
      <p:sp>
        <p:nvSpPr>
          <p:cNvPr id="25" name="Text 23"/>
          <p:cNvSpPr/>
          <p:nvPr/>
        </p:nvSpPr>
        <p:spPr>
          <a:xfrm>
            <a:off x="4882896" y="2146554"/>
            <a:ext cx="1463040" cy="390906"/>
          </a:xfrm>
          <a:prstGeom prst="rect">
            <a:avLst/>
          </a:prstGeom>
          <a:noFill/>
          <a:ln/>
        </p:spPr>
        <p:txBody>
          <a:bodyPr wrap="square" lIns="0" tIns="0" rIns="0" bIns="0" rtlCol="0" anchor="ctr"/>
          <a:lstStyle/>
          <a:p>
            <a:pPr indent="0" marL="0">
              <a:buNone/>
            </a:pPr>
            <a:r>
              <a:rPr lang="en-US" sz="1100" b="1" dirty="0">
                <a:solidFill>
                  <a:srgbClr val="13161C"/>
                </a:solidFill>
                <a:latin typeface="Arial" pitchFamily="34" charset="0"/>
                <a:ea typeface="Arial" pitchFamily="34" charset="-122"/>
                <a:cs typeface="Arial" pitchFamily="34" charset="-120"/>
              </a:rPr>
              <a:t>2018-19 projection</a:t>
            </a:r>
            <a:endParaRPr lang="en-US" sz="1100" dirty="0"/>
          </a:p>
          <a:p>
            <a:pPr indent="0" marL="0">
              <a:buNone/>
            </a:pPr>
            <a:r>
              <a:rPr lang="en-US" sz="900" dirty="0">
                <a:solidFill>
                  <a:srgbClr val="6B7280"/>
                </a:solidFill>
                <a:latin typeface="Arial" pitchFamily="34" charset="0"/>
                <a:ea typeface="Arial" pitchFamily="34" charset="-122"/>
                <a:cs typeface="Arial" pitchFamily="34" charset="-120"/>
              </a:rPr>
              <a:t>field of 68 + bracket</a:t>
            </a:r>
            <a:endParaRPr lang="en-US" sz="1100" dirty="0"/>
          </a:p>
        </p:txBody>
      </p:sp>
      <p:sp>
        <p:nvSpPr>
          <p:cNvPr id="26" name="Shape 24"/>
          <p:cNvSpPr/>
          <p:nvPr/>
        </p:nvSpPr>
        <p:spPr>
          <a:xfrm>
            <a:off x="4809744" y="2628900"/>
            <a:ext cx="1609344" cy="390906"/>
          </a:xfrm>
          <a:prstGeom prst="roundRect">
            <a:avLst>
              <a:gd name="adj" fmla="val 18713"/>
            </a:avLst>
          </a:prstGeom>
          <a:solidFill>
            <a:srgbClr val="BF5700"/>
          </a:solidFill>
          <a:ln/>
        </p:spPr>
      </p:sp>
      <p:sp>
        <p:nvSpPr>
          <p:cNvPr id="27" name="Text 25"/>
          <p:cNvSpPr/>
          <p:nvPr/>
        </p:nvSpPr>
        <p:spPr>
          <a:xfrm>
            <a:off x="4882896" y="2628900"/>
            <a:ext cx="1463040" cy="390906"/>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10,000× simulation</a:t>
            </a:r>
            <a:endParaRPr lang="en-US" sz="1100" dirty="0"/>
          </a:p>
          <a:p>
            <a:pPr indent="0" marL="0">
              <a:buNone/>
            </a:pPr>
            <a:r>
              <a:rPr lang="en-US" sz="900" dirty="0">
                <a:solidFill>
                  <a:srgbClr val="FBE3CF"/>
                </a:solidFill>
                <a:latin typeface="Arial" pitchFamily="34" charset="0"/>
                <a:ea typeface="Arial" pitchFamily="34" charset="-122"/>
                <a:cs typeface="Arial" pitchFamily="34" charset="-120"/>
              </a:rPr>
              <a:t>pure SQL, seeded</a:t>
            </a:r>
            <a:endParaRPr lang="en-US" sz="1100" dirty="0"/>
          </a:p>
        </p:txBody>
      </p:sp>
      <p:sp>
        <p:nvSpPr>
          <p:cNvPr id="28" name="Shape 26"/>
          <p:cNvSpPr/>
          <p:nvPr/>
        </p:nvSpPr>
        <p:spPr>
          <a:xfrm>
            <a:off x="4809744" y="3111246"/>
            <a:ext cx="1609344" cy="390906"/>
          </a:xfrm>
          <a:prstGeom prst="roundRect">
            <a:avLst>
              <a:gd name="adj" fmla="val 18713"/>
            </a:avLst>
          </a:prstGeom>
          <a:solidFill>
            <a:srgbClr val="FFFFFF"/>
          </a:solidFill>
          <a:ln w="12700">
            <a:solidFill>
              <a:srgbClr val="DDE0E5"/>
            </a:solidFill>
            <a:prstDash val="solid"/>
          </a:ln>
        </p:spPr>
      </p:sp>
      <p:sp>
        <p:nvSpPr>
          <p:cNvPr id="29" name="Text 27"/>
          <p:cNvSpPr/>
          <p:nvPr/>
        </p:nvSpPr>
        <p:spPr>
          <a:xfrm>
            <a:off x="4882896" y="3111246"/>
            <a:ext cx="1463040" cy="390906"/>
          </a:xfrm>
          <a:prstGeom prst="rect">
            <a:avLst/>
          </a:prstGeom>
          <a:noFill/>
          <a:ln/>
        </p:spPr>
        <p:txBody>
          <a:bodyPr wrap="square" lIns="0" tIns="0" rIns="0" bIns="0" rtlCol="0" anchor="ctr"/>
          <a:lstStyle/>
          <a:p>
            <a:pPr indent="0" marL="0">
              <a:buNone/>
            </a:pPr>
            <a:r>
              <a:rPr lang="en-US" sz="1100" b="1" dirty="0">
                <a:solidFill>
                  <a:srgbClr val="13161C"/>
                </a:solidFill>
                <a:latin typeface="Arial" pitchFamily="34" charset="0"/>
                <a:ea typeface="Arial" pitchFamily="34" charset="-122"/>
                <a:cs typeface="Arial" pitchFamily="34" charset="-120"/>
              </a:rPr>
              <a:t>AI.GENERATE</a:t>
            </a:r>
            <a:endParaRPr lang="en-US" sz="1100" dirty="0"/>
          </a:p>
          <a:p>
            <a:pPr indent="0" marL="0">
              <a:buNone/>
            </a:pPr>
            <a:r>
              <a:rPr lang="en-US" sz="900" dirty="0">
                <a:solidFill>
                  <a:srgbClr val="6B7280"/>
                </a:solidFill>
                <a:latin typeface="Arial" pitchFamily="34" charset="0"/>
                <a:ea typeface="Arial" pitchFamily="34" charset="-122"/>
                <a:cs typeface="Arial" pitchFamily="34" charset="-120"/>
              </a:rPr>
              <a:t>anonymized scouting</a:t>
            </a:r>
            <a:endParaRPr lang="en-US" sz="1100" dirty="0"/>
          </a:p>
        </p:txBody>
      </p:sp>
      <p:sp>
        <p:nvSpPr>
          <p:cNvPr id="30" name="Shape 28"/>
          <p:cNvSpPr/>
          <p:nvPr/>
        </p:nvSpPr>
        <p:spPr>
          <a:xfrm>
            <a:off x="6556248" y="2446020"/>
            <a:ext cx="192024" cy="0"/>
          </a:xfrm>
          <a:prstGeom prst="line">
            <a:avLst/>
          </a:prstGeom>
          <a:noFill/>
          <a:ln w="19050">
            <a:solidFill>
              <a:srgbClr val="BF5700"/>
            </a:solidFill>
            <a:prstDash val="solid"/>
            <a:tailEnd type="triangle"/>
          </a:ln>
        </p:spPr>
      </p:sp>
      <p:sp>
        <p:nvSpPr>
          <p:cNvPr id="31" name="Shape 29"/>
          <p:cNvSpPr/>
          <p:nvPr/>
        </p:nvSpPr>
        <p:spPr>
          <a:xfrm>
            <a:off x="6775704" y="1280160"/>
            <a:ext cx="1828800" cy="2331720"/>
          </a:xfrm>
          <a:prstGeom prst="roundRect">
            <a:avLst>
              <a:gd name="adj" fmla="val 4000"/>
            </a:avLst>
          </a:prstGeom>
          <a:solidFill>
            <a:srgbClr val="F3F4F6"/>
          </a:solidFill>
          <a:ln/>
        </p:spPr>
      </p:sp>
      <p:sp>
        <p:nvSpPr>
          <p:cNvPr id="32" name="Text 30"/>
          <p:cNvSpPr/>
          <p:nvPr/>
        </p:nvSpPr>
        <p:spPr>
          <a:xfrm>
            <a:off x="6903720" y="1371600"/>
            <a:ext cx="1572768" cy="219456"/>
          </a:xfrm>
          <a:prstGeom prst="rect">
            <a:avLst/>
          </a:prstGeom>
          <a:noFill/>
          <a:ln/>
        </p:spPr>
        <p:txBody>
          <a:bodyPr wrap="square" lIns="0" tIns="0" rIns="0" bIns="0" rtlCol="0" anchor="ctr"/>
          <a:lstStyle/>
          <a:p>
            <a:pPr indent="0" marL="0">
              <a:buNone/>
            </a:pPr>
            <a:r>
              <a:rPr lang="en-US" sz="900" b="1" spc="150" kern="0" dirty="0">
                <a:solidFill>
                  <a:srgbClr val="BF5700"/>
                </a:solidFill>
                <a:latin typeface="Arial" pitchFamily="34" charset="0"/>
                <a:ea typeface="Arial" pitchFamily="34" charset="-122"/>
                <a:cs typeface="Arial" pitchFamily="34" charset="-120"/>
              </a:rPr>
              <a:t>DELIVERY</a:t>
            </a:r>
            <a:endParaRPr lang="en-US" sz="900" dirty="0"/>
          </a:p>
        </p:txBody>
      </p:sp>
      <p:sp>
        <p:nvSpPr>
          <p:cNvPr id="33" name="Shape 31"/>
          <p:cNvSpPr/>
          <p:nvPr/>
        </p:nvSpPr>
        <p:spPr>
          <a:xfrm>
            <a:off x="6885432" y="1664208"/>
            <a:ext cx="1609344" cy="551688"/>
          </a:xfrm>
          <a:prstGeom prst="roundRect">
            <a:avLst>
              <a:gd name="adj" fmla="val 13260"/>
            </a:avLst>
          </a:prstGeom>
          <a:solidFill>
            <a:srgbClr val="FFFFFF"/>
          </a:solidFill>
          <a:ln w="15875">
            <a:solidFill>
              <a:srgbClr val="BF5700"/>
            </a:solidFill>
            <a:prstDash val="dash"/>
          </a:ln>
        </p:spPr>
      </p:sp>
      <p:sp>
        <p:nvSpPr>
          <p:cNvPr id="34" name="Text 32"/>
          <p:cNvSpPr/>
          <p:nvPr/>
        </p:nvSpPr>
        <p:spPr>
          <a:xfrm>
            <a:off x="6958584" y="1664208"/>
            <a:ext cx="1463040" cy="551688"/>
          </a:xfrm>
          <a:prstGeom prst="rect">
            <a:avLst/>
          </a:prstGeom>
          <a:noFill/>
          <a:ln/>
        </p:spPr>
        <p:txBody>
          <a:bodyPr wrap="square" lIns="0" tIns="0" rIns="0" bIns="0" rtlCol="0" anchor="ctr"/>
          <a:lstStyle/>
          <a:p>
            <a:pPr indent="0" marL="0">
              <a:buNone/>
            </a:pPr>
            <a:r>
              <a:rPr lang="en-US" sz="1100" b="1" dirty="0">
                <a:solidFill>
                  <a:srgbClr val="13161C"/>
                </a:solidFill>
                <a:latin typeface="Arial" pitchFamily="34" charset="0"/>
                <a:ea typeface="Arial" pitchFamily="34" charset="-122"/>
                <a:cs typeface="Arial" pitchFamily="34" charset="-120"/>
              </a:rPr>
              <a:t>BigQuery Data Agent</a:t>
            </a:r>
            <a:endParaRPr lang="en-US" sz="1100" dirty="0"/>
          </a:p>
          <a:p>
            <a:pPr indent="0" marL="0">
              <a:buNone/>
            </a:pPr>
            <a:r>
              <a:rPr lang="en-US" sz="900" dirty="0">
                <a:solidFill>
                  <a:srgbClr val="BF5700"/>
                </a:solidFill>
                <a:latin typeface="Arial" pitchFamily="34" charset="0"/>
                <a:ea typeface="Arial" pitchFamily="34" charset="-122"/>
                <a:cs typeface="Arial" pitchFamily="34" charset="-120"/>
              </a:rPr>
              <a:t>Agents Hub · in progress</a:t>
            </a:r>
            <a:endParaRPr lang="en-US" sz="1100" dirty="0"/>
          </a:p>
        </p:txBody>
      </p:sp>
      <p:sp>
        <p:nvSpPr>
          <p:cNvPr id="35" name="Shape 33"/>
          <p:cNvSpPr/>
          <p:nvPr/>
        </p:nvSpPr>
        <p:spPr>
          <a:xfrm>
            <a:off x="6885432" y="2307336"/>
            <a:ext cx="1609344" cy="551688"/>
          </a:xfrm>
          <a:prstGeom prst="roundRect">
            <a:avLst>
              <a:gd name="adj" fmla="val 13260"/>
            </a:avLst>
          </a:prstGeom>
          <a:solidFill>
            <a:srgbClr val="FFFFFF"/>
          </a:solidFill>
          <a:ln w="15875">
            <a:solidFill>
              <a:srgbClr val="BF5700"/>
            </a:solidFill>
            <a:prstDash val="dash"/>
          </a:ln>
        </p:spPr>
      </p:sp>
      <p:sp>
        <p:nvSpPr>
          <p:cNvPr id="36" name="Text 34"/>
          <p:cNvSpPr/>
          <p:nvPr/>
        </p:nvSpPr>
        <p:spPr>
          <a:xfrm>
            <a:off x="6958584" y="2307336"/>
            <a:ext cx="1463040" cy="551688"/>
          </a:xfrm>
          <a:prstGeom prst="rect">
            <a:avLst/>
          </a:prstGeom>
          <a:noFill/>
          <a:ln/>
        </p:spPr>
        <p:txBody>
          <a:bodyPr wrap="square" lIns="0" tIns="0" rIns="0" bIns="0" rtlCol="0" anchor="ctr"/>
          <a:lstStyle/>
          <a:p>
            <a:pPr indent="0" marL="0">
              <a:buNone/>
            </a:pPr>
            <a:r>
              <a:rPr lang="en-US" sz="1100" b="1" dirty="0">
                <a:solidFill>
                  <a:srgbClr val="13161C"/>
                </a:solidFill>
                <a:latin typeface="Arial" pitchFamily="34" charset="0"/>
                <a:ea typeface="Arial" pitchFamily="34" charset="-122"/>
                <a:cs typeface="Arial" pitchFamily="34" charset="-120"/>
              </a:rPr>
              <a:t>Looker Studio</a:t>
            </a:r>
            <a:endParaRPr lang="en-US" sz="1100" dirty="0"/>
          </a:p>
          <a:p>
            <a:pPr indent="0" marL="0">
              <a:buNone/>
            </a:pPr>
            <a:r>
              <a:rPr lang="en-US" sz="900" dirty="0">
                <a:solidFill>
                  <a:srgbClr val="BF5700"/>
                </a:solidFill>
                <a:latin typeface="Arial" pitchFamily="34" charset="0"/>
                <a:ea typeface="Arial" pitchFamily="34" charset="-122"/>
                <a:cs typeface="Arial" pitchFamily="34" charset="-120"/>
              </a:rPr>
              <a:t>report · in progress</a:t>
            </a:r>
            <a:endParaRPr lang="en-US" sz="1100" dirty="0"/>
          </a:p>
        </p:txBody>
      </p:sp>
      <p:sp>
        <p:nvSpPr>
          <p:cNvPr id="37" name="Shape 35"/>
          <p:cNvSpPr/>
          <p:nvPr/>
        </p:nvSpPr>
        <p:spPr>
          <a:xfrm>
            <a:off x="6885432" y="2950464"/>
            <a:ext cx="1609344" cy="551688"/>
          </a:xfrm>
          <a:prstGeom prst="roundRect">
            <a:avLst>
              <a:gd name="adj" fmla="val 13260"/>
            </a:avLst>
          </a:prstGeom>
          <a:solidFill>
            <a:srgbClr val="F3F4F6"/>
          </a:solidFill>
          <a:ln w="12700">
            <a:solidFill>
              <a:srgbClr val="8C96A6"/>
            </a:solidFill>
            <a:prstDash val="dash"/>
          </a:ln>
        </p:spPr>
      </p:sp>
      <p:sp>
        <p:nvSpPr>
          <p:cNvPr id="38" name="Text 36"/>
          <p:cNvSpPr/>
          <p:nvPr/>
        </p:nvSpPr>
        <p:spPr>
          <a:xfrm>
            <a:off x="6958584" y="2950464"/>
            <a:ext cx="1463040" cy="551688"/>
          </a:xfrm>
          <a:prstGeom prst="rect">
            <a:avLst/>
          </a:prstGeom>
          <a:noFill/>
          <a:ln/>
        </p:spPr>
        <p:txBody>
          <a:bodyPr wrap="square" lIns="0" tIns="0" rIns="0" bIns="0" rtlCol="0" anchor="ctr"/>
          <a:lstStyle/>
          <a:p>
            <a:pPr indent="0" marL="0">
              <a:buNone/>
            </a:pPr>
            <a:r>
              <a:rPr lang="en-US" sz="1100" b="1" dirty="0">
                <a:solidFill>
                  <a:srgbClr val="6B7280"/>
                </a:solidFill>
                <a:latin typeface="Arial" pitchFamily="34" charset="0"/>
                <a:ea typeface="Arial" pitchFamily="34" charset="-122"/>
                <a:cs typeface="Arial" pitchFamily="34" charset="-120"/>
              </a:rPr>
              <a:t>Gemini Enterprise</a:t>
            </a:r>
            <a:endParaRPr lang="en-US" sz="1100" dirty="0"/>
          </a:p>
          <a:p>
            <a:pPr indent="0" marL="0">
              <a:buNone/>
            </a:pPr>
            <a:r>
              <a:rPr lang="en-US" sz="900" dirty="0">
                <a:solidFill>
                  <a:srgbClr val="6B7280"/>
                </a:solidFill>
                <a:latin typeface="Arial" pitchFamily="34" charset="0"/>
                <a:ea typeface="Arial" pitchFamily="34" charset="-122"/>
                <a:cs typeface="Arial" pitchFamily="34" charset="-120"/>
              </a:rPr>
              <a:t>target state</a:t>
            </a:r>
            <a:endParaRPr lang="en-US" sz="1100" dirty="0"/>
          </a:p>
        </p:txBody>
      </p:sp>
      <p:sp>
        <p:nvSpPr>
          <p:cNvPr id="39" name="Shape 37"/>
          <p:cNvSpPr/>
          <p:nvPr/>
        </p:nvSpPr>
        <p:spPr>
          <a:xfrm>
            <a:off x="548640" y="3913632"/>
            <a:ext cx="475488" cy="475488"/>
          </a:xfrm>
          <a:prstGeom prst="ellipse">
            <a:avLst/>
          </a:prstGeom>
          <a:solidFill>
            <a:srgbClr val="BF5700"/>
          </a:solidFill>
          <a:ln/>
        </p:spPr>
      </p:sp>
      <p:pic>
        <p:nvPicPr>
          <p:cNvPr id="40" name="Image 0" descr="preencoded.png">    </p:cNvPr>
          <p:cNvPicPr>
            <a:picLocks noChangeAspect="1"/>
          </p:cNvPicPr>
          <p:nvPr/>
        </p:nvPicPr>
        <p:blipFill>
          <a:blip r:embed="rId1"/>
          <a:stretch>
            <a:fillRect/>
          </a:stretch>
        </p:blipFill>
        <p:spPr>
          <a:xfrm>
            <a:off x="672267" y="4037259"/>
            <a:ext cx="228234" cy="228234"/>
          </a:xfrm>
          <a:prstGeom prst="rect">
            <a:avLst/>
          </a:prstGeom>
        </p:spPr>
      </p:pic>
      <p:sp>
        <p:nvSpPr>
          <p:cNvPr id="41" name="Text 38"/>
          <p:cNvSpPr/>
          <p:nvPr/>
        </p:nvSpPr>
        <p:spPr>
          <a:xfrm>
            <a:off x="1133856" y="3858768"/>
            <a:ext cx="2103120" cy="256032"/>
          </a:xfrm>
          <a:prstGeom prst="rect">
            <a:avLst/>
          </a:prstGeom>
          <a:noFill/>
          <a:ln/>
        </p:spPr>
        <p:txBody>
          <a:bodyPr wrap="square" lIns="0" tIns="0" rIns="0" bIns="0" rtlCol="0" anchor="ctr"/>
          <a:lstStyle/>
          <a:p>
            <a:pPr indent="0" marL="0">
              <a:buNone/>
            </a:pPr>
            <a:r>
              <a:rPr lang="en-US" sz="1200" b="1" dirty="0">
                <a:solidFill>
                  <a:srgbClr val="13161C"/>
                </a:solidFill>
                <a:latin typeface="Arial" pitchFamily="34" charset="0"/>
                <a:ea typeface="Arial" pitchFamily="34" charset="-122"/>
                <a:cs typeface="Arial" pitchFamily="34" charset="-120"/>
              </a:rPr>
              <a:t>Compute stays in BigQuery</a:t>
            </a:r>
            <a:endParaRPr lang="en-US" sz="1200" dirty="0"/>
          </a:p>
        </p:txBody>
      </p:sp>
      <p:sp>
        <p:nvSpPr>
          <p:cNvPr id="42" name="Text 39"/>
          <p:cNvSpPr/>
          <p:nvPr/>
        </p:nvSpPr>
        <p:spPr>
          <a:xfrm>
            <a:off x="1133856" y="4123944"/>
            <a:ext cx="2057400" cy="502920"/>
          </a:xfrm>
          <a:prstGeom prst="rect">
            <a:avLst/>
          </a:prstGeom>
          <a:noFill/>
          <a:ln/>
        </p:spPr>
        <p:txBody>
          <a:bodyPr wrap="square" lIns="0" tIns="0" rIns="0" bIns="0" rtlCol="0" anchor="t"/>
          <a:lstStyle/>
          <a:p>
            <a:pPr indent="0" marL="0">
              <a:buNone/>
            </a:pPr>
            <a:r>
              <a:rPr lang="en-US" sz="1050" dirty="0">
                <a:solidFill>
                  <a:srgbClr val="6B7280"/>
                </a:solidFill>
                <a:latin typeface="Arial" pitchFamily="34" charset="0"/>
                <a:ea typeface="Arial" pitchFamily="34" charset="-122"/>
                <a:cs typeface="Arial" pitchFamily="34" charset="-120"/>
              </a:rPr>
              <a:t>Models, simulation and Gemini run where the data lives.</a:t>
            </a:r>
            <a:endParaRPr lang="en-US" sz="1050" dirty="0"/>
          </a:p>
        </p:txBody>
      </p:sp>
      <p:sp>
        <p:nvSpPr>
          <p:cNvPr id="43" name="Shape 40"/>
          <p:cNvSpPr/>
          <p:nvPr/>
        </p:nvSpPr>
        <p:spPr>
          <a:xfrm>
            <a:off x="3291840" y="3913632"/>
            <a:ext cx="475488" cy="475488"/>
          </a:xfrm>
          <a:prstGeom prst="ellipse">
            <a:avLst/>
          </a:prstGeom>
          <a:solidFill>
            <a:srgbClr val="BF5700"/>
          </a:solidFill>
          <a:ln/>
        </p:spPr>
      </p:sp>
      <p:pic>
        <p:nvPicPr>
          <p:cNvPr id="44" name="Image 1" descr="preencoded.png">    </p:cNvPr>
          <p:cNvPicPr>
            <a:picLocks noChangeAspect="1"/>
          </p:cNvPicPr>
          <p:nvPr/>
        </p:nvPicPr>
        <p:blipFill>
          <a:blip r:embed="rId2"/>
          <a:stretch>
            <a:fillRect/>
          </a:stretch>
        </p:blipFill>
        <p:spPr>
          <a:xfrm>
            <a:off x="3415467" y="4037259"/>
            <a:ext cx="228234" cy="228234"/>
          </a:xfrm>
          <a:prstGeom prst="rect">
            <a:avLst/>
          </a:prstGeom>
        </p:spPr>
      </p:pic>
      <p:sp>
        <p:nvSpPr>
          <p:cNvPr id="45" name="Text 41"/>
          <p:cNvSpPr/>
          <p:nvPr/>
        </p:nvSpPr>
        <p:spPr>
          <a:xfrm>
            <a:off x="3877056" y="3858768"/>
            <a:ext cx="2103120" cy="256032"/>
          </a:xfrm>
          <a:prstGeom prst="rect">
            <a:avLst/>
          </a:prstGeom>
          <a:noFill/>
          <a:ln/>
        </p:spPr>
        <p:txBody>
          <a:bodyPr wrap="square" lIns="0" tIns="0" rIns="0" bIns="0" rtlCol="0" anchor="ctr"/>
          <a:lstStyle/>
          <a:p>
            <a:pPr indent="0" marL="0">
              <a:buNone/>
            </a:pPr>
            <a:r>
              <a:rPr lang="en-US" sz="1200" b="1" dirty="0">
                <a:solidFill>
                  <a:srgbClr val="13161C"/>
                </a:solidFill>
                <a:latin typeface="Arial" pitchFamily="34" charset="0"/>
                <a:ea typeface="Arial" pitchFamily="34" charset="-122"/>
                <a:cs typeface="Arial" pitchFamily="34" charset="-120"/>
              </a:rPr>
              <a:t>Every claim traces to SQL</a:t>
            </a:r>
            <a:endParaRPr lang="en-US" sz="1200" dirty="0"/>
          </a:p>
        </p:txBody>
      </p:sp>
      <p:sp>
        <p:nvSpPr>
          <p:cNvPr id="46" name="Text 42"/>
          <p:cNvSpPr/>
          <p:nvPr/>
        </p:nvSpPr>
        <p:spPr>
          <a:xfrm>
            <a:off x="3877056" y="4123944"/>
            <a:ext cx="2057400" cy="502920"/>
          </a:xfrm>
          <a:prstGeom prst="rect">
            <a:avLst/>
          </a:prstGeom>
          <a:noFill/>
          <a:ln/>
        </p:spPr>
        <p:txBody>
          <a:bodyPr wrap="square" lIns="0" tIns="0" rIns="0" bIns="0" rtlCol="0" anchor="t"/>
          <a:lstStyle/>
          <a:p>
            <a:pPr indent="0" marL="0">
              <a:buNone/>
            </a:pPr>
            <a:r>
              <a:rPr lang="en-US" sz="1050" dirty="0">
                <a:solidFill>
                  <a:srgbClr val="6B7280"/>
                </a:solidFill>
                <a:latin typeface="Arial" pitchFamily="34" charset="0"/>
                <a:ea typeface="Arial" pitchFamily="34" charset="-122"/>
                <a:cs typeface="Arial" pitchFamily="34" charset="-120"/>
              </a:rPr>
              <a:t>Answers come from governed tables; Gemini never sees a team name.</a:t>
            </a:r>
            <a:endParaRPr lang="en-US" sz="1050" dirty="0"/>
          </a:p>
        </p:txBody>
      </p:sp>
      <p:sp>
        <p:nvSpPr>
          <p:cNvPr id="47" name="Shape 43"/>
          <p:cNvSpPr/>
          <p:nvPr/>
        </p:nvSpPr>
        <p:spPr>
          <a:xfrm>
            <a:off x="6035040" y="3913632"/>
            <a:ext cx="475488" cy="475488"/>
          </a:xfrm>
          <a:prstGeom prst="ellipse">
            <a:avLst/>
          </a:prstGeom>
          <a:solidFill>
            <a:srgbClr val="BF5700"/>
          </a:solidFill>
          <a:ln/>
        </p:spPr>
      </p:sp>
      <p:pic>
        <p:nvPicPr>
          <p:cNvPr id="48" name="Image 2" descr="preencoded.png">    </p:cNvPr>
          <p:cNvPicPr>
            <a:picLocks noChangeAspect="1"/>
          </p:cNvPicPr>
          <p:nvPr/>
        </p:nvPicPr>
        <p:blipFill>
          <a:blip r:embed="rId3"/>
          <a:stretch>
            <a:fillRect/>
          </a:stretch>
        </p:blipFill>
        <p:spPr>
          <a:xfrm>
            <a:off x="6158667" y="4037259"/>
            <a:ext cx="228234" cy="228234"/>
          </a:xfrm>
          <a:prstGeom prst="rect">
            <a:avLst/>
          </a:prstGeom>
        </p:spPr>
      </p:pic>
      <p:sp>
        <p:nvSpPr>
          <p:cNvPr id="49" name="Text 44"/>
          <p:cNvSpPr/>
          <p:nvPr/>
        </p:nvSpPr>
        <p:spPr>
          <a:xfrm>
            <a:off x="6620256" y="3858768"/>
            <a:ext cx="2103120" cy="256032"/>
          </a:xfrm>
          <a:prstGeom prst="rect">
            <a:avLst/>
          </a:prstGeom>
          <a:noFill/>
          <a:ln/>
        </p:spPr>
        <p:txBody>
          <a:bodyPr wrap="square" lIns="0" tIns="0" rIns="0" bIns="0" rtlCol="0" anchor="ctr"/>
          <a:lstStyle/>
          <a:p>
            <a:pPr indent="0" marL="0">
              <a:buNone/>
            </a:pPr>
            <a:r>
              <a:rPr lang="en-US" sz="1200" b="1" dirty="0">
                <a:solidFill>
                  <a:srgbClr val="13161C"/>
                </a:solidFill>
                <a:latin typeface="Arial" pitchFamily="34" charset="0"/>
                <a:ea typeface="Arial" pitchFamily="34" charset="-122"/>
                <a:cs typeface="Arial" pitchFamily="34" charset="-120"/>
              </a:rPr>
              <a:t>Rebuilt from code</a:t>
            </a:r>
            <a:endParaRPr lang="en-US" sz="1200" dirty="0"/>
          </a:p>
        </p:txBody>
      </p:sp>
      <p:sp>
        <p:nvSpPr>
          <p:cNvPr id="50" name="Text 45"/>
          <p:cNvSpPr/>
          <p:nvPr/>
        </p:nvSpPr>
        <p:spPr>
          <a:xfrm>
            <a:off x="6620256" y="4123944"/>
            <a:ext cx="2057400" cy="502920"/>
          </a:xfrm>
          <a:prstGeom prst="rect">
            <a:avLst/>
          </a:prstGeom>
          <a:noFill/>
          <a:ln/>
        </p:spPr>
        <p:txBody>
          <a:bodyPr wrap="square" lIns="0" tIns="0" rIns="0" bIns="0" rtlCol="0" anchor="t"/>
          <a:lstStyle/>
          <a:p>
            <a:pPr indent="0" marL="0">
              <a:buNone/>
            </a:pPr>
            <a:r>
              <a:rPr lang="en-US" sz="1050" dirty="0">
                <a:solidFill>
                  <a:srgbClr val="6B7280"/>
                </a:solidFill>
                <a:latin typeface="Arial" pitchFamily="34" charset="0"/>
                <a:ea typeface="Arial" pitchFamily="34" charset="-122"/>
                <a:cs typeface="Arial" pitchFamily="34" charset="-120"/>
              </a:rPr>
              <a:t>Two commands, raw data to marts; 322 dbt tests pass.</a:t>
            </a:r>
            <a:endParaRPr lang="en-US" sz="1050" dirty="0"/>
          </a:p>
        </p:txBody>
      </p:sp>
      <p:sp>
        <p:nvSpPr>
          <p:cNvPr id="51" name="Text 46"/>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BF5700"/>
                </a:solidFill>
                <a:latin typeface="Arial" pitchFamily="34" charset="0"/>
                <a:ea typeface="Arial" pitchFamily="34" charset="-122"/>
                <a:cs typeface="Arial" pitchFamily="34" charset="-120"/>
              </a:rPr>
              <a:t>STRATEGY</a:t>
            </a:r>
            <a:endParaRPr lang="en-US" sz="1000" dirty="0"/>
          </a:p>
        </p:txBody>
      </p:sp>
      <p:sp>
        <p:nvSpPr>
          <p:cNvPr id="3" name="Text 1"/>
          <p:cNvSpPr/>
          <p:nvPr/>
        </p:nvSpPr>
        <p:spPr>
          <a:xfrm>
            <a:off x="548640" y="585216"/>
            <a:ext cx="8046720" cy="566928"/>
          </a:xfrm>
          <a:prstGeom prst="rect">
            <a:avLst/>
          </a:prstGeom>
          <a:noFill/>
          <a:ln/>
        </p:spPr>
        <p:txBody>
          <a:bodyPr wrap="square" lIns="0" tIns="0" rIns="0" bIns="0" rtlCol="0" anchor="t"/>
          <a:lstStyle/>
          <a:p>
            <a:pPr indent="0" marL="0">
              <a:buNone/>
            </a:pPr>
            <a:r>
              <a:rPr lang="en-US" sz="2800" b="1" dirty="0">
                <a:solidFill>
                  <a:srgbClr val="13161C"/>
                </a:solidFill>
                <a:latin typeface="Arial" pitchFamily="34" charset="0"/>
                <a:ea typeface="Arial" pitchFamily="34" charset="-122"/>
                <a:cs typeface="Arial" pitchFamily="34" charset="-120"/>
              </a:rPr>
              <a:t>Why we trust the pick</a:t>
            </a:r>
            <a:endParaRPr lang="en-US" sz="2800" dirty="0"/>
          </a:p>
        </p:txBody>
      </p:sp>
      <p:sp>
        <p:nvSpPr>
          <p:cNvPr id="4" name="Text 2"/>
          <p:cNvSpPr/>
          <p:nvPr/>
        </p:nvSpPr>
        <p:spPr>
          <a:xfrm>
            <a:off x="548640" y="1115568"/>
            <a:ext cx="8046720" cy="310896"/>
          </a:xfrm>
          <a:prstGeom prst="rect">
            <a:avLst/>
          </a:prstGeom>
          <a:noFill/>
          <a:ln/>
        </p:spPr>
        <p:txBody>
          <a:bodyPr wrap="square" lIns="0" tIns="0" rIns="0" bIns="0" rtlCol="0" anchor="ctr"/>
          <a:lstStyle/>
          <a:p>
            <a:pPr indent="0" marL="0">
              <a:buNone/>
            </a:pPr>
            <a:r>
              <a:rPr lang="en-US" sz="1250" dirty="0">
                <a:solidFill>
                  <a:srgbClr val="6B7280"/>
                </a:solidFill>
                <a:latin typeface="Arial" pitchFamily="34" charset="0"/>
                <a:ea typeface="Arial" pitchFamily="34" charset="-122"/>
                <a:cs typeface="Arial" pitchFamily="34" charset="-120"/>
              </a:rPr>
              <a:t>Tested on unseen tournaments · next-season projection RMSE 6.49 vs 7.63 carrying ratings forward</a:t>
            </a:r>
            <a:endParaRPr lang="en-US" sz="1250" dirty="0"/>
          </a:p>
        </p:txBody>
      </p:sp>
      <p:sp>
        <p:nvSpPr>
          <p:cNvPr id="5" name="Shape 3"/>
          <p:cNvSpPr/>
          <p:nvPr/>
        </p:nvSpPr>
        <p:spPr>
          <a:xfrm>
            <a:off x="548640" y="1600200"/>
            <a:ext cx="4160520" cy="3108960"/>
          </a:xfrm>
          <a:prstGeom prst="roundRect">
            <a:avLst>
              <a:gd name="adj" fmla="val 2353"/>
            </a:avLst>
          </a:prstGeom>
          <a:solidFill>
            <a:srgbClr val="F3F4F6"/>
          </a:solidFill>
          <a:ln/>
        </p:spPr>
      </p:sp>
      <p:sp>
        <p:nvSpPr>
          <p:cNvPr id="6" name="Text 4"/>
          <p:cNvSpPr/>
          <p:nvPr/>
        </p:nvSpPr>
        <p:spPr>
          <a:xfrm>
            <a:off x="749808" y="1737360"/>
            <a:ext cx="3749040" cy="274320"/>
          </a:xfrm>
          <a:prstGeom prst="rect">
            <a:avLst/>
          </a:prstGeom>
          <a:noFill/>
          <a:ln/>
        </p:spPr>
        <p:txBody>
          <a:bodyPr wrap="square" lIns="0" tIns="0" rIns="0" bIns="0" rtlCol="0" anchor="t"/>
          <a:lstStyle/>
          <a:p>
            <a:pPr indent="0" marL="0">
              <a:buNone/>
            </a:pPr>
            <a:r>
              <a:rPr lang="en-US" sz="1200" b="1" dirty="0">
                <a:solidFill>
                  <a:srgbClr val="222731"/>
                </a:solidFill>
                <a:latin typeface="Arial" pitchFamily="34" charset="0"/>
                <a:ea typeface="Arial" pitchFamily="34" charset="-122"/>
                <a:cs typeface="Arial" pitchFamily="34" charset="-120"/>
              </a:rPr>
              <a:t>Prediction error, lower is better (log loss)</a:t>
            </a:r>
            <a:endParaRPr lang="en-US" sz="1200" dirty="0"/>
          </a:p>
        </p:txBody>
      </p:sp>
      <p:sp>
        <p:nvSpPr>
          <p:cNvPr id="7" name="Text 5"/>
          <p:cNvSpPr/>
          <p:nvPr/>
        </p:nvSpPr>
        <p:spPr>
          <a:xfrm>
            <a:off x="749808" y="1993392"/>
            <a:ext cx="3749040" cy="219456"/>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201 games, 2015–2017 NCAA tournaments</a:t>
            </a:r>
            <a:endParaRPr lang="en-US" sz="1000" dirty="0"/>
          </a:p>
        </p:txBody>
      </p:sp>
      <p:sp>
        <p:nvSpPr>
          <p:cNvPr id="8" name="Shape 6"/>
          <p:cNvSpPr/>
          <p:nvPr/>
        </p:nvSpPr>
        <p:spPr>
          <a:xfrm>
            <a:off x="914400" y="2852200"/>
            <a:ext cx="868680" cy="988280"/>
          </a:xfrm>
          <a:prstGeom prst="rect">
            <a:avLst/>
          </a:prstGeom>
          <a:solidFill>
            <a:srgbClr val="BF5700"/>
          </a:solidFill>
          <a:ln/>
        </p:spPr>
      </p:sp>
      <p:sp>
        <p:nvSpPr>
          <p:cNvPr id="9" name="Text 7"/>
          <p:cNvSpPr/>
          <p:nvPr/>
        </p:nvSpPr>
        <p:spPr>
          <a:xfrm>
            <a:off x="685800" y="2486440"/>
            <a:ext cx="1325880" cy="329184"/>
          </a:xfrm>
          <a:prstGeom prst="rect">
            <a:avLst/>
          </a:prstGeom>
          <a:noFill/>
          <a:ln/>
        </p:spPr>
        <p:txBody>
          <a:bodyPr wrap="square" lIns="0" tIns="0" rIns="0" bIns="0" rtlCol="0" anchor="b"/>
          <a:lstStyle/>
          <a:p>
            <a:pPr algn="ctr" indent="0" marL="0">
              <a:buNone/>
            </a:pPr>
            <a:r>
              <a:rPr lang="en-US" sz="1800" b="1" dirty="0">
                <a:solidFill>
                  <a:srgbClr val="BF5700"/>
                </a:solidFill>
                <a:latin typeface="Arial" pitchFamily="34" charset="0"/>
                <a:ea typeface="Arial" pitchFamily="34" charset="-122"/>
                <a:cs typeface="Arial" pitchFamily="34" charset="-120"/>
              </a:rPr>
              <a:t>0.524</a:t>
            </a:r>
            <a:endParaRPr lang="en-US" sz="1800" dirty="0"/>
          </a:p>
        </p:txBody>
      </p:sp>
      <p:sp>
        <p:nvSpPr>
          <p:cNvPr id="10" name="Text 8"/>
          <p:cNvSpPr/>
          <p:nvPr/>
        </p:nvSpPr>
        <p:spPr>
          <a:xfrm>
            <a:off x="731520" y="3895344"/>
            <a:ext cx="1234440" cy="237744"/>
          </a:xfrm>
          <a:prstGeom prst="rect">
            <a:avLst/>
          </a:prstGeom>
          <a:noFill/>
          <a:ln/>
        </p:spPr>
        <p:txBody>
          <a:bodyPr wrap="square" lIns="0" tIns="0" rIns="0" bIns="0" rtlCol="0" anchor="ctr"/>
          <a:lstStyle/>
          <a:p>
            <a:pPr algn="ctr" indent="0" marL="0">
              <a:buNone/>
            </a:pPr>
            <a:r>
              <a:rPr lang="en-US" sz="1000" b="1" dirty="0">
                <a:solidFill>
                  <a:srgbClr val="222731"/>
                </a:solidFill>
                <a:latin typeface="Arial" pitchFamily="34" charset="0"/>
                <a:ea typeface="Arial" pitchFamily="34" charset="-122"/>
                <a:cs typeface="Arial" pitchFamily="34" charset="-120"/>
              </a:rPr>
              <a:t>Our model</a:t>
            </a:r>
            <a:endParaRPr lang="en-US" sz="1000" dirty="0"/>
          </a:p>
        </p:txBody>
      </p:sp>
      <p:sp>
        <p:nvSpPr>
          <p:cNvPr id="11" name="Shape 9"/>
          <p:cNvSpPr/>
          <p:nvPr/>
        </p:nvSpPr>
        <p:spPr>
          <a:xfrm>
            <a:off x="2130552" y="2757898"/>
            <a:ext cx="868680" cy="1082582"/>
          </a:xfrm>
          <a:prstGeom prst="rect">
            <a:avLst/>
          </a:prstGeom>
          <a:solidFill>
            <a:srgbClr val="A3ABB8"/>
          </a:solidFill>
          <a:ln/>
        </p:spPr>
      </p:sp>
      <p:sp>
        <p:nvSpPr>
          <p:cNvPr id="12" name="Text 10"/>
          <p:cNvSpPr/>
          <p:nvPr/>
        </p:nvSpPr>
        <p:spPr>
          <a:xfrm>
            <a:off x="1901952" y="2392138"/>
            <a:ext cx="1325880" cy="329184"/>
          </a:xfrm>
          <a:prstGeom prst="rect">
            <a:avLst/>
          </a:prstGeom>
          <a:noFill/>
          <a:ln/>
        </p:spPr>
        <p:txBody>
          <a:bodyPr wrap="square" lIns="0" tIns="0" rIns="0" bIns="0" rtlCol="0" anchor="b"/>
          <a:lstStyle/>
          <a:p>
            <a:pPr algn="ctr" indent="0" marL="0">
              <a:buNone/>
            </a:pPr>
            <a:r>
              <a:rPr lang="en-US" sz="1800" b="1" dirty="0">
                <a:solidFill>
                  <a:srgbClr val="222731"/>
                </a:solidFill>
                <a:latin typeface="Arial" pitchFamily="34" charset="0"/>
                <a:ea typeface="Arial" pitchFamily="34" charset="-122"/>
                <a:cs typeface="Arial" pitchFamily="34" charset="-120"/>
              </a:rPr>
              <a:t>0.574</a:t>
            </a:r>
            <a:endParaRPr lang="en-US" sz="1800" dirty="0"/>
          </a:p>
        </p:txBody>
      </p:sp>
      <p:sp>
        <p:nvSpPr>
          <p:cNvPr id="13" name="Text 11"/>
          <p:cNvSpPr/>
          <p:nvPr/>
        </p:nvSpPr>
        <p:spPr>
          <a:xfrm>
            <a:off x="1947672" y="3895344"/>
            <a:ext cx="1234440" cy="237744"/>
          </a:xfrm>
          <a:prstGeom prst="rect">
            <a:avLst/>
          </a:prstGeom>
          <a:noFill/>
          <a:ln/>
        </p:spPr>
        <p:txBody>
          <a:bodyPr wrap="square" lIns="0" tIns="0" rIns="0" bIns="0" rtlCol="0" anchor="ctr"/>
          <a:lstStyle/>
          <a:p>
            <a:pPr algn="ctr" indent="0" marL="0">
              <a:buNone/>
            </a:pPr>
            <a:r>
              <a:rPr lang="en-US" sz="1000" dirty="0">
                <a:solidFill>
                  <a:srgbClr val="222731"/>
                </a:solidFill>
                <a:latin typeface="Arial" pitchFamily="34" charset="0"/>
                <a:ea typeface="Arial" pitchFamily="34" charset="-122"/>
                <a:cs typeface="Arial" pitchFamily="34" charset="-120"/>
              </a:rPr>
              <a:t>Better seed wins</a:t>
            </a:r>
            <a:endParaRPr lang="en-US" sz="1000" dirty="0"/>
          </a:p>
        </p:txBody>
      </p:sp>
      <p:sp>
        <p:nvSpPr>
          <p:cNvPr id="14" name="Shape 12"/>
          <p:cNvSpPr/>
          <p:nvPr/>
        </p:nvSpPr>
        <p:spPr>
          <a:xfrm>
            <a:off x="3346704" y="2514600"/>
            <a:ext cx="868680" cy="1325880"/>
          </a:xfrm>
          <a:prstGeom prst="rect">
            <a:avLst/>
          </a:prstGeom>
          <a:solidFill>
            <a:srgbClr val="A3ABB8"/>
          </a:solidFill>
          <a:ln/>
        </p:spPr>
      </p:sp>
      <p:sp>
        <p:nvSpPr>
          <p:cNvPr id="15" name="Text 13"/>
          <p:cNvSpPr/>
          <p:nvPr/>
        </p:nvSpPr>
        <p:spPr>
          <a:xfrm>
            <a:off x="3118104" y="2148840"/>
            <a:ext cx="1325880" cy="329184"/>
          </a:xfrm>
          <a:prstGeom prst="rect">
            <a:avLst/>
          </a:prstGeom>
          <a:noFill/>
          <a:ln/>
        </p:spPr>
        <p:txBody>
          <a:bodyPr wrap="square" lIns="0" tIns="0" rIns="0" bIns="0" rtlCol="0" anchor="b"/>
          <a:lstStyle/>
          <a:p>
            <a:pPr algn="ctr" indent="0" marL="0">
              <a:buNone/>
            </a:pPr>
            <a:r>
              <a:rPr lang="en-US" sz="1800" b="1" dirty="0">
                <a:solidFill>
                  <a:srgbClr val="222731"/>
                </a:solidFill>
                <a:latin typeface="Arial" pitchFamily="34" charset="0"/>
                <a:ea typeface="Arial" pitchFamily="34" charset="-122"/>
                <a:cs typeface="Arial" pitchFamily="34" charset="-120"/>
              </a:rPr>
              <a:t>0.703</a:t>
            </a:r>
            <a:endParaRPr lang="en-US" sz="1800" dirty="0"/>
          </a:p>
        </p:txBody>
      </p:sp>
      <p:sp>
        <p:nvSpPr>
          <p:cNvPr id="16" name="Text 14"/>
          <p:cNvSpPr/>
          <p:nvPr/>
        </p:nvSpPr>
        <p:spPr>
          <a:xfrm>
            <a:off x="3163824" y="3895344"/>
            <a:ext cx="1234440" cy="237744"/>
          </a:xfrm>
          <a:prstGeom prst="rect">
            <a:avLst/>
          </a:prstGeom>
          <a:noFill/>
          <a:ln/>
        </p:spPr>
        <p:txBody>
          <a:bodyPr wrap="square" lIns="0" tIns="0" rIns="0" bIns="0" rtlCol="0" anchor="ctr"/>
          <a:lstStyle/>
          <a:p>
            <a:pPr algn="ctr" indent="0" marL="0">
              <a:buNone/>
            </a:pPr>
            <a:r>
              <a:rPr lang="en-US" sz="1000" dirty="0">
                <a:solidFill>
                  <a:srgbClr val="222731"/>
                </a:solidFill>
                <a:latin typeface="Arial" pitchFamily="34" charset="0"/>
                <a:ea typeface="Arial" pitchFamily="34" charset="-122"/>
                <a:cs typeface="Arial" pitchFamily="34" charset="-120"/>
              </a:rPr>
              <a:t>Better record wins</a:t>
            </a:r>
            <a:endParaRPr lang="en-US" sz="1000" dirty="0"/>
          </a:p>
        </p:txBody>
      </p:sp>
      <p:sp>
        <p:nvSpPr>
          <p:cNvPr id="17" name="Shape 15"/>
          <p:cNvSpPr/>
          <p:nvPr/>
        </p:nvSpPr>
        <p:spPr>
          <a:xfrm>
            <a:off x="749808" y="3840480"/>
            <a:ext cx="3749040" cy="0"/>
          </a:xfrm>
          <a:prstGeom prst="line">
            <a:avLst/>
          </a:prstGeom>
          <a:noFill/>
          <a:ln w="12700">
            <a:solidFill>
              <a:srgbClr val="8C96A6"/>
            </a:solidFill>
            <a:prstDash val="solid"/>
          </a:ln>
        </p:spPr>
      </p:sp>
      <p:sp>
        <p:nvSpPr>
          <p:cNvPr id="18" name="Text 16"/>
          <p:cNvSpPr/>
          <p:nvPr/>
        </p:nvSpPr>
        <p:spPr>
          <a:xfrm>
            <a:off x="749808" y="4297680"/>
            <a:ext cx="3749040" cy="274320"/>
          </a:xfrm>
          <a:prstGeom prst="rect">
            <a:avLst/>
          </a:prstGeom>
          <a:noFill/>
          <a:ln/>
        </p:spPr>
        <p:txBody>
          <a:bodyPr wrap="square" lIns="0" tIns="0" rIns="0" bIns="0" rtlCol="0" anchor="ctr"/>
          <a:lstStyle/>
          <a:p>
            <a:pPr indent="0" marL="0">
              <a:buNone/>
            </a:pPr>
            <a:r>
              <a:rPr lang="en-US" sz="950" i="1" dirty="0">
                <a:solidFill>
                  <a:srgbClr val="6B7280"/>
                </a:solidFill>
                <a:latin typeface="Arial" pitchFamily="34" charset="0"/>
                <a:ea typeface="Arial" pitchFamily="34" charset="-122"/>
                <a:cs typeface="Arial" pitchFamily="34" charset="-120"/>
              </a:rPr>
              <a:t>9% less error than seeds · beat both baselines every year</a:t>
            </a:r>
            <a:endParaRPr lang="en-US" sz="950" dirty="0"/>
          </a:p>
        </p:txBody>
      </p:sp>
      <p:sp>
        <p:nvSpPr>
          <p:cNvPr id="19" name="Text 17"/>
          <p:cNvSpPr/>
          <p:nvPr/>
        </p:nvSpPr>
        <p:spPr>
          <a:xfrm>
            <a:off x="4983480" y="1600200"/>
            <a:ext cx="3611880" cy="274320"/>
          </a:xfrm>
          <a:prstGeom prst="rect">
            <a:avLst/>
          </a:prstGeom>
          <a:noFill/>
          <a:ln/>
        </p:spPr>
        <p:txBody>
          <a:bodyPr wrap="square" lIns="0" tIns="0" rIns="0" bIns="0" rtlCol="0" anchor="ctr"/>
          <a:lstStyle/>
          <a:p>
            <a:pPr indent="0" marL="0">
              <a:buNone/>
            </a:pPr>
            <a:r>
              <a:rPr lang="en-US" sz="1300" b="1" dirty="0">
                <a:solidFill>
                  <a:srgbClr val="13161C"/>
                </a:solidFill>
                <a:latin typeface="Arial" pitchFamily="34" charset="0"/>
                <a:ea typeface="Arial" pitchFamily="34" charset="-122"/>
                <a:cs typeface="Arial" pitchFamily="34" charset="-120"/>
              </a:rPr>
              <a:t>What the model sees in Villanova</a:t>
            </a:r>
            <a:endParaRPr lang="en-US" sz="1300" dirty="0"/>
          </a:p>
        </p:txBody>
      </p:sp>
      <p:sp>
        <p:nvSpPr>
          <p:cNvPr id="20" name="Text 18"/>
          <p:cNvSpPr/>
          <p:nvPr/>
        </p:nvSpPr>
        <p:spPr>
          <a:xfrm>
            <a:off x="4983480" y="1938528"/>
            <a:ext cx="2103120" cy="201168"/>
          </a:xfrm>
          <a:prstGeom prst="rect">
            <a:avLst/>
          </a:prstGeom>
          <a:noFill/>
          <a:ln/>
        </p:spPr>
        <p:txBody>
          <a:bodyPr wrap="square" lIns="0" tIns="0" rIns="0" bIns="0" rtlCol="0" anchor="ctr"/>
          <a:lstStyle/>
          <a:p>
            <a:pPr indent="0" marL="0">
              <a:buNone/>
            </a:pPr>
            <a:r>
              <a:rPr lang="en-US" sz="1050" b="1" dirty="0">
                <a:solidFill>
                  <a:srgbClr val="222731"/>
                </a:solidFill>
                <a:latin typeface="Arial" pitchFamily="34" charset="0"/>
                <a:ea typeface="Arial" pitchFamily="34" charset="-122"/>
                <a:cs typeface="Arial" pitchFamily="34" charset="-120"/>
              </a:rPr>
              <a:t>Adjusted offense</a:t>
            </a:r>
            <a:endParaRPr lang="en-US" sz="1050" dirty="0"/>
          </a:p>
        </p:txBody>
      </p:sp>
      <p:sp>
        <p:nvSpPr>
          <p:cNvPr id="21" name="Text 19"/>
          <p:cNvSpPr/>
          <p:nvPr/>
        </p:nvSpPr>
        <p:spPr>
          <a:xfrm>
            <a:off x="6949440" y="1938528"/>
            <a:ext cx="1645920" cy="201168"/>
          </a:xfrm>
          <a:prstGeom prst="rect">
            <a:avLst/>
          </a:prstGeom>
          <a:noFill/>
          <a:ln/>
        </p:spPr>
        <p:txBody>
          <a:bodyPr wrap="square" lIns="0" tIns="0" rIns="0" bIns="0" rtlCol="0" anchor="ctr"/>
          <a:lstStyle/>
          <a:p>
            <a:pPr algn="r" indent="0" marL="0">
              <a:buNone/>
            </a:pPr>
            <a:r>
              <a:rPr lang="en-US" sz="950" dirty="0">
                <a:solidFill>
                  <a:srgbClr val="6B7280"/>
                </a:solidFill>
                <a:latin typeface="Arial" pitchFamily="34" charset="0"/>
                <a:ea typeface="Arial" pitchFamily="34" charset="-122"/>
                <a:cs typeface="Arial" pitchFamily="34" charset="-120"/>
              </a:rPr>
              <a:t>+14.8 pts / 100 poss. vs. field</a:t>
            </a:r>
            <a:endParaRPr lang="en-US" sz="950" dirty="0"/>
          </a:p>
        </p:txBody>
      </p:sp>
      <p:sp>
        <p:nvSpPr>
          <p:cNvPr id="22" name="Shape 20"/>
          <p:cNvSpPr/>
          <p:nvPr/>
        </p:nvSpPr>
        <p:spPr>
          <a:xfrm>
            <a:off x="4983480" y="2157984"/>
            <a:ext cx="3611880" cy="109728"/>
          </a:xfrm>
          <a:prstGeom prst="roundRect">
            <a:avLst>
              <a:gd name="adj" fmla="val 50000"/>
            </a:avLst>
          </a:prstGeom>
          <a:solidFill>
            <a:srgbClr val="F3F4F6"/>
          </a:solidFill>
          <a:ln/>
        </p:spPr>
      </p:sp>
      <p:sp>
        <p:nvSpPr>
          <p:cNvPr id="23" name="Shape 21"/>
          <p:cNvSpPr/>
          <p:nvPr/>
        </p:nvSpPr>
        <p:spPr>
          <a:xfrm>
            <a:off x="4983480" y="2157984"/>
            <a:ext cx="3611880" cy="109728"/>
          </a:xfrm>
          <a:prstGeom prst="roundRect">
            <a:avLst>
              <a:gd name="adj" fmla="val 50000"/>
            </a:avLst>
          </a:prstGeom>
          <a:solidFill>
            <a:srgbClr val="BF5700"/>
          </a:solidFill>
          <a:ln/>
        </p:spPr>
      </p:sp>
      <p:sp>
        <p:nvSpPr>
          <p:cNvPr id="24" name="Text 22"/>
          <p:cNvSpPr/>
          <p:nvPr/>
        </p:nvSpPr>
        <p:spPr>
          <a:xfrm>
            <a:off x="4983480" y="2368296"/>
            <a:ext cx="2103120" cy="201168"/>
          </a:xfrm>
          <a:prstGeom prst="rect">
            <a:avLst/>
          </a:prstGeom>
          <a:noFill/>
          <a:ln/>
        </p:spPr>
        <p:txBody>
          <a:bodyPr wrap="square" lIns="0" tIns="0" rIns="0" bIns="0" rtlCol="0" anchor="ctr"/>
          <a:lstStyle/>
          <a:p>
            <a:pPr indent="0" marL="0">
              <a:buNone/>
            </a:pPr>
            <a:r>
              <a:rPr lang="en-US" sz="1050" dirty="0">
                <a:solidFill>
                  <a:srgbClr val="222731"/>
                </a:solidFill>
                <a:latin typeface="Arial" pitchFamily="34" charset="0"/>
                <a:ea typeface="Arial" pitchFamily="34" charset="-122"/>
                <a:cs typeface="Arial" pitchFamily="34" charset="-120"/>
              </a:rPr>
              <a:t>Adjusted scoring margin</a:t>
            </a:r>
            <a:endParaRPr lang="en-US" sz="1050" dirty="0"/>
          </a:p>
        </p:txBody>
      </p:sp>
      <p:sp>
        <p:nvSpPr>
          <p:cNvPr id="25" name="Text 23"/>
          <p:cNvSpPr/>
          <p:nvPr/>
        </p:nvSpPr>
        <p:spPr>
          <a:xfrm>
            <a:off x="6949440" y="2368296"/>
            <a:ext cx="1645920" cy="201168"/>
          </a:xfrm>
          <a:prstGeom prst="rect">
            <a:avLst/>
          </a:prstGeom>
          <a:noFill/>
          <a:ln/>
        </p:spPr>
        <p:txBody>
          <a:bodyPr wrap="square" lIns="0" tIns="0" rIns="0" bIns="0" rtlCol="0" anchor="ctr"/>
          <a:lstStyle/>
          <a:p>
            <a:pPr algn="r" indent="0" marL="0">
              <a:buNone/>
            </a:pPr>
            <a:r>
              <a:rPr lang="en-US" sz="950" dirty="0">
                <a:solidFill>
                  <a:srgbClr val="6B7280"/>
                </a:solidFill>
                <a:latin typeface="Arial" pitchFamily="34" charset="0"/>
                <a:ea typeface="Arial" pitchFamily="34" charset="-122"/>
                <a:cs typeface="Arial" pitchFamily="34" charset="-120"/>
              </a:rPr>
              <a:t>+18.4 pts / 100 poss. vs. field</a:t>
            </a:r>
            <a:endParaRPr lang="en-US" sz="950" dirty="0"/>
          </a:p>
        </p:txBody>
      </p:sp>
      <p:sp>
        <p:nvSpPr>
          <p:cNvPr id="26" name="Shape 24"/>
          <p:cNvSpPr/>
          <p:nvPr/>
        </p:nvSpPr>
        <p:spPr>
          <a:xfrm>
            <a:off x="4983480" y="2587752"/>
            <a:ext cx="3611880" cy="109728"/>
          </a:xfrm>
          <a:prstGeom prst="roundRect">
            <a:avLst>
              <a:gd name="adj" fmla="val 50000"/>
            </a:avLst>
          </a:prstGeom>
          <a:solidFill>
            <a:srgbClr val="F3F4F6"/>
          </a:solidFill>
          <a:ln/>
        </p:spPr>
      </p:sp>
      <p:sp>
        <p:nvSpPr>
          <p:cNvPr id="27" name="Shape 25"/>
          <p:cNvSpPr/>
          <p:nvPr/>
        </p:nvSpPr>
        <p:spPr>
          <a:xfrm>
            <a:off x="4983480" y="2587752"/>
            <a:ext cx="3485976" cy="109728"/>
          </a:xfrm>
          <a:prstGeom prst="roundRect">
            <a:avLst>
              <a:gd name="adj" fmla="val 50000"/>
            </a:avLst>
          </a:prstGeom>
          <a:solidFill>
            <a:srgbClr val="8C96A6"/>
          </a:solidFill>
          <a:ln/>
        </p:spPr>
      </p:sp>
      <p:sp>
        <p:nvSpPr>
          <p:cNvPr id="28" name="Text 26"/>
          <p:cNvSpPr/>
          <p:nvPr/>
        </p:nvSpPr>
        <p:spPr>
          <a:xfrm>
            <a:off x="4983480" y="2798064"/>
            <a:ext cx="2103120" cy="201168"/>
          </a:xfrm>
          <a:prstGeom prst="rect">
            <a:avLst/>
          </a:prstGeom>
          <a:noFill/>
          <a:ln/>
        </p:spPr>
        <p:txBody>
          <a:bodyPr wrap="square" lIns="0" tIns="0" rIns="0" bIns="0" rtlCol="0" anchor="ctr"/>
          <a:lstStyle/>
          <a:p>
            <a:pPr indent="0" marL="0">
              <a:buNone/>
            </a:pPr>
            <a:r>
              <a:rPr lang="en-US" sz="1050" dirty="0">
                <a:solidFill>
                  <a:srgbClr val="222731"/>
                </a:solidFill>
                <a:latin typeface="Arial" pitchFamily="34" charset="0"/>
                <a:ea typeface="Arial" pitchFamily="34" charset="-122"/>
                <a:cs typeface="Arial" pitchFamily="34" charset="-120"/>
              </a:rPr>
              <a:t>Strength of schedule</a:t>
            </a:r>
            <a:endParaRPr lang="en-US" sz="1050" dirty="0"/>
          </a:p>
        </p:txBody>
      </p:sp>
      <p:sp>
        <p:nvSpPr>
          <p:cNvPr id="29" name="Text 27"/>
          <p:cNvSpPr/>
          <p:nvPr/>
        </p:nvSpPr>
        <p:spPr>
          <a:xfrm>
            <a:off x="6949440" y="2798064"/>
            <a:ext cx="1645920" cy="201168"/>
          </a:xfrm>
          <a:prstGeom prst="rect">
            <a:avLst/>
          </a:prstGeom>
          <a:noFill/>
          <a:ln/>
        </p:spPr>
        <p:txBody>
          <a:bodyPr wrap="square" lIns="0" tIns="0" rIns="0" bIns="0" rtlCol="0" anchor="ctr"/>
          <a:lstStyle/>
          <a:p>
            <a:pPr algn="r" indent="0" marL="0">
              <a:buNone/>
            </a:pPr>
            <a:r>
              <a:rPr lang="en-US" sz="950" dirty="0">
                <a:solidFill>
                  <a:srgbClr val="6B7280"/>
                </a:solidFill>
                <a:latin typeface="Arial" pitchFamily="34" charset="0"/>
                <a:ea typeface="Arial" pitchFamily="34" charset="-122"/>
                <a:cs typeface="Arial" pitchFamily="34" charset="-120"/>
              </a:rPr>
              <a:t>+5.3 vs. field</a:t>
            </a:r>
            <a:endParaRPr lang="en-US" sz="950" dirty="0"/>
          </a:p>
        </p:txBody>
      </p:sp>
      <p:sp>
        <p:nvSpPr>
          <p:cNvPr id="30" name="Shape 28"/>
          <p:cNvSpPr/>
          <p:nvPr/>
        </p:nvSpPr>
        <p:spPr>
          <a:xfrm>
            <a:off x="4983480" y="3017520"/>
            <a:ext cx="3611880" cy="109728"/>
          </a:xfrm>
          <a:prstGeom prst="roundRect">
            <a:avLst>
              <a:gd name="adj" fmla="val 50000"/>
            </a:avLst>
          </a:prstGeom>
          <a:solidFill>
            <a:srgbClr val="F3F4F6"/>
          </a:solidFill>
          <a:ln/>
        </p:spPr>
      </p:sp>
      <p:sp>
        <p:nvSpPr>
          <p:cNvPr id="31" name="Shape 29"/>
          <p:cNvSpPr/>
          <p:nvPr/>
        </p:nvSpPr>
        <p:spPr>
          <a:xfrm>
            <a:off x="4983480" y="3017520"/>
            <a:ext cx="3076787" cy="109728"/>
          </a:xfrm>
          <a:prstGeom prst="roundRect">
            <a:avLst>
              <a:gd name="adj" fmla="val 50000"/>
            </a:avLst>
          </a:prstGeom>
          <a:solidFill>
            <a:srgbClr val="8C96A6"/>
          </a:solidFill>
          <a:ln/>
        </p:spPr>
      </p:sp>
      <p:sp>
        <p:nvSpPr>
          <p:cNvPr id="32" name="Shape 30"/>
          <p:cNvSpPr/>
          <p:nvPr/>
        </p:nvSpPr>
        <p:spPr>
          <a:xfrm>
            <a:off x="4983480" y="3291840"/>
            <a:ext cx="3611880" cy="1417320"/>
          </a:xfrm>
          <a:prstGeom prst="roundRect">
            <a:avLst>
              <a:gd name="adj" fmla="val 5161"/>
            </a:avLst>
          </a:prstGeom>
          <a:solidFill>
            <a:srgbClr val="13161C"/>
          </a:solidFill>
          <a:ln/>
        </p:spPr>
      </p:sp>
      <p:sp>
        <p:nvSpPr>
          <p:cNvPr id="33" name="Text 31"/>
          <p:cNvSpPr/>
          <p:nvPr/>
        </p:nvSpPr>
        <p:spPr>
          <a:xfrm>
            <a:off x="5166360" y="3401568"/>
            <a:ext cx="3337560" cy="201168"/>
          </a:xfrm>
          <a:prstGeom prst="rect">
            <a:avLst/>
          </a:prstGeom>
          <a:noFill/>
          <a:ln/>
        </p:spPr>
        <p:txBody>
          <a:bodyPr wrap="square" lIns="0" tIns="0" rIns="0" bIns="0" rtlCol="0" anchor="ctr"/>
          <a:lstStyle/>
          <a:p>
            <a:pPr indent="0" marL="0">
              <a:buNone/>
            </a:pPr>
            <a:r>
              <a:rPr lang="en-US" sz="850" b="1" spc="150" kern="0" dirty="0">
                <a:solidFill>
                  <a:srgbClr val="F07F2A"/>
                </a:solidFill>
                <a:latin typeface="Arial" pitchFamily="34" charset="0"/>
                <a:ea typeface="Arial" pitchFamily="34" charset="-122"/>
                <a:cs typeface="Arial" pitchFamily="34" charset="-120"/>
              </a:rPr>
              <a:t>FRONT OFFICE ANALYST · REHEARSED Q&amp;A</a:t>
            </a:r>
            <a:endParaRPr lang="en-US" sz="850" dirty="0"/>
          </a:p>
        </p:txBody>
      </p:sp>
      <p:sp>
        <p:nvSpPr>
          <p:cNvPr id="34" name="Shape 32"/>
          <p:cNvSpPr/>
          <p:nvPr/>
        </p:nvSpPr>
        <p:spPr>
          <a:xfrm>
            <a:off x="6217920" y="3639312"/>
            <a:ext cx="2240280" cy="274320"/>
          </a:xfrm>
          <a:prstGeom prst="roundRect">
            <a:avLst>
              <a:gd name="adj" fmla="val 50000"/>
            </a:avLst>
          </a:prstGeom>
          <a:solidFill>
            <a:srgbClr val="2A303B"/>
          </a:solidFill>
          <a:ln/>
        </p:spPr>
      </p:sp>
      <p:sp>
        <p:nvSpPr>
          <p:cNvPr id="35" name="Text 33"/>
          <p:cNvSpPr/>
          <p:nvPr/>
        </p:nvSpPr>
        <p:spPr>
          <a:xfrm>
            <a:off x="6217920" y="3639312"/>
            <a:ext cx="224028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Did you see past champions coming?</a:t>
            </a:r>
            <a:endParaRPr lang="en-US" sz="1000" dirty="0"/>
          </a:p>
        </p:txBody>
      </p:sp>
      <p:sp>
        <p:nvSpPr>
          <p:cNvPr id="36" name="Text 34"/>
          <p:cNvSpPr/>
          <p:nvPr/>
        </p:nvSpPr>
        <p:spPr>
          <a:xfrm>
            <a:off x="5166360" y="3968496"/>
            <a:ext cx="3291840" cy="45720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Before each tournament, Duke ranked 4th (10.3%), Villanova 6th (5.2%) and North Carolina 3rd (11.7%) in our title odds.</a:t>
            </a:r>
            <a:endParaRPr lang="en-US" sz="1050" dirty="0"/>
          </a:p>
        </p:txBody>
      </p:sp>
      <p:sp>
        <p:nvSpPr>
          <p:cNvPr id="37" name="Text 35"/>
          <p:cNvSpPr/>
          <p:nvPr/>
        </p:nvSpPr>
        <p:spPr>
          <a:xfrm>
            <a:off x="5166360" y="4425696"/>
            <a:ext cx="3291840" cy="219456"/>
          </a:xfrm>
          <a:prstGeom prst="rect">
            <a:avLst/>
          </a:prstGeom>
          <a:noFill/>
          <a:ln/>
        </p:spPr>
        <p:txBody>
          <a:bodyPr wrap="square" lIns="0" tIns="0" rIns="0" bIns="0" rtlCol="0" anchor="ctr"/>
          <a:lstStyle/>
          <a:p>
            <a:pPr indent="0" marL="0">
              <a:buNone/>
            </a:pPr>
            <a:r>
              <a:rPr lang="en-US" sz="900" i="1" dirty="0">
                <a:solidFill>
                  <a:srgbClr val="9AA3B2"/>
                </a:solidFill>
                <a:latin typeface="Arial" pitchFamily="34" charset="0"/>
                <a:ea typeface="Arial" pitchFamily="34" charset="-122"/>
                <a:cs typeface="Arial" pitchFamily="34" charset="-120"/>
              </a:rPr>
              <a:t>↳ SQL-verified answer, stored in mart_agent_qa</a:t>
            </a:r>
            <a:endParaRPr lang="en-US" sz="900" dirty="0"/>
          </a:p>
        </p:txBody>
      </p:sp>
      <p:sp>
        <p:nvSpPr>
          <p:cNvPr id="38" name="Text 36"/>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BF5700"/>
                </a:solidFill>
                <a:latin typeface="Arial" pitchFamily="34" charset="0"/>
                <a:ea typeface="Arial" pitchFamily="34" charset="-122"/>
                <a:cs typeface="Arial" pitchFamily="34" charset="-120"/>
              </a:rPr>
              <a:t>DISCOVERY &amp; GROWTH</a:t>
            </a:r>
            <a:endParaRPr lang="en-US" sz="1000" dirty="0"/>
          </a:p>
        </p:txBody>
      </p:sp>
      <p:sp>
        <p:nvSpPr>
          <p:cNvPr id="3" name="Text 1"/>
          <p:cNvSpPr/>
          <p:nvPr/>
        </p:nvSpPr>
        <p:spPr>
          <a:xfrm>
            <a:off x="548640" y="585216"/>
            <a:ext cx="8046720" cy="566928"/>
          </a:xfrm>
          <a:prstGeom prst="rect">
            <a:avLst/>
          </a:prstGeom>
          <a:noFill/>
          <a:ln/>
        </p:spPr>
        <p:txBody>
          <a:bodyPr wrap="square" lIns="0" tIns="0" rIns="0" bIns="0" rtlCol="0" anchor="t"/>
          <a:lstStyle/>
          <a:p>
            <a:pPr indent="0" marL="0">
              <a:buNone/>
            </a:pPr>
            <a:r>
              <a:rPr lang="en-US" sz="2800" b="1" dirty="0">
                <a:solidFill>
                  <a:srgbClr val="13161C"/>
                </a:solidFill>
                <a:latin typeface="Arial" pitchFamily="34" charset="0"/>
                <a:ea typeface="Arial" pitchFamily="34" charset="-122"/>
                <a:cs typeface="Arial" pitchFamily="34" charset="-120"/>
              </a:rPr>
              <a:t>Three walls, three workarounds</a:t>
            </a:r>
            <a:endParaRPr lang="en-US" sz="2800" dirty="0"/>
          </a:p>
        </p:txBody>
      </p:sp>
      <p:sp>
        <p:nvSpPr>
          <p:cNvPr id="4" name="Text 2"/>
          <p:cNvSpPr/>
          <p:nvPr/>
        </p:nvSpPr>
        <p:spPr>
          <a:xfrm>
            <a:off x="1143000" y="1261872"/>
            <a:ext cx="2743200" cy="219456"/>
          </a:xfrm>
          <a:prstGeom prst="rect">
            <a:avLst/>
          </a:prstGeom>
          <a:noFill/>
          <a:ln/>
        </p:spPr>
        <p:txBody>
          <a:bodyPr wrap="square" lIns="0" tIns="0" rIns="0" bIns="0" rtlCol="0" anchor="ctr"/>
          <a:lstStyle/>
          <a:p>
            <a:pPr indent="0" marL="0">
              <a:buNone/>
            </a:pPr>
            <a:r>
              <a:rPr lang="en-US" sz="900" b="1" spc="150" kern="0" dirty="0">
                <a:solidFill>
                  <a:srgbClr val="6B7280"/>
                </a:solidFill>
                <a:latin typeface="Arial" pitchFamily="34" charset="0"/>
                <a:ea typeface="Arial" pitchFamily="34" charset="-122"/>
                <a:cs typeface="Arial" pitchFamily="34" charset="-120"/>
              </a:rPr>
              <a:t>THE WALL</a:t>
            </a:r>
            <a:endParaRPr lang="en-US" sz="900" dirty="0"/>
          </a:p>
        </p:txBody>
      </p:sp>
      <p:sp>
        <p:nvSpPr>
          <p:cNvPr id="5" name="Text 3"/>
          <p:cNvSpPr/>
          <p:nvPr/>
        </p:nvSpPr>
        <p:spPr>
          <a:xfrm>
            <a:off x="5074920" y="1261872"/>
            <a:ext cx="2743200" cy="219456"/>
          </a:xfrm>
          <a:prstGeom prst="rect">
            <a:avLst/>
          </a:prstGeom>
          <a:noFill/>
          <a:ln/>
        </p:spPr>
        <p:txBody>
          <a:bodyPr wrap="square" lIns="0" tIns="0" rIns="0" bIns="0" rtlCol="0" anchor="ctr"/>
          <a:lstStyle/>
          <a:p>
            <a:pPr indent="0" marL="0">
              <a:buNone/>
            </a:pPr>
            <a:r>
              <a:rPr lang="en-US" sz="900" b="1" spc="150" kern="0" dirty="0">
                <a:solidFill>
                  <a:srgbClr val="BF5700"/>
                </a:solidFill>
                <a:latin typeface="Arial" pitchFamily="34" charset="0"/>
                <a:ea typeface="Arial" pitchFamily="34" charset="-122"/>
                <a:cs typeface="Arial" pitchFamily="34" charset="-120"/>
              </a:rPr>
              <a:t>HOW WE GOT PAST IT</a:t>
            </a:r>
            <a:endParaRPr lang="en-US" sz="900" dirty="0"/>
          </a:p>
        </p:txBody>
      </p:sp>
      <p:sp>
        <p:nvSpPr>
          <p:cNvPr id="6" name="Shape 4"/>
          <p:cNvSpPr/>
          <p:nvPr/>
        </p:nvSpPr>
        <p:spPr>
          <a:xfrm>
            <a:off x="548640" y="1554480"/>
            <a:ext cx="3840480" cy="585216"/>
          </a:xfrm>
          <a:prstGeom prst="roundRect">
            <a:avLst>
              <a:gd name="adj" fmla="val 12500"/>
            </a:avLst>
          </a:prstGeom>
          <a:solidFill>
            <a:srgbClr val="F3F4F6"/>
          </a:solidFill>
          <a:ln/>
        </p:spPr>
      </p:sp>
      <p:sp>
        <p:nvSpPr>
          <p:cNvPr id="7" name="Shape 5"/>
          <p:cNvSpPr/>
          <p:nvPr/>
        </p:nvSpPr>
        <p:spPr>
          <a:xfrm>
            <a:off x="685800" y="1682496"/>
            <a:ext cx="329184" cy="329184"/>
          </a:xfrm>
          <a:prstGeom prst="ellipse">
            <a:avLst/>
          </a:prstGeom>
          <a:solidFill>
            <a:srgbClr val="A3ABB8"/>
          </a:solidFill>
          <a:ln/>
        </p:spPr>
      </p:sp>
      <p:pic>
        <p:nvPicPr>
          <p:cNvPr id="8" name="Image 0" descr="preencoded.png">    </p:cNvPr>
          <p:cNvPicPr>
            <a:picLocks noChangeAspect="1"/>
          </p:cNvPicPr>
          <p:nvPr/>
        </p:nvPicPr>
        <p:blipFill>
          <a:blip r:embed="rId1"/>
          <a:stretch>
            <a:fillRect/>
          </a:stretch>
        </p:blipFill>
        <p:spPr>
          <a:xfrm>
            <a:off x="771388" y="1768084"/>
            <a:ext cx="158008" cy="158008"/>
          </a:xfrm>
          <a:prstGeom prst="rect">
            <a:avLst/>
          </a:prstGeom>
        </p:spPr>
      </p:pic>
      <p:sp>
        <p:nvSpPr>
          <p:cNvPr id="9" name="Text 6"/>
          <p:cNvSpPr/>
          <p:nvPr/>
        </p:nvSpPr>
        <p:spPr>
          <a:xfrm>
            <a:off x="1143000" y="1554480"/>
            <a:ext cx="3154680" cy="585216"/>
          </a:xfrm>
          <a:prstGeom prst="rect">
            <a:avLst/>
          </a:prstGeom>
          <a:noFill/>
          <a:ln/>
        </p:spPr>
        <p:txBody>
          <a:bodyPr wrap="square" lIns="0" tIns="0" rIns="0" bIns="0" rtlCol="0" anchor="ctr"/>
          <a:lstStyle/>
          <a:p>
            <a:pPr indent="0" marL="0">
              <a:buNone/>
            </a:pPr>
            <a:r>
              <a:rPr lang="en-US" sz="1150" dirty="0">
                <a:solidFill>
                  <a:srgbClr val="222731"/>
                </a:solidFill>
                <a:latin typeface="Arial" pitchFamily="34" charset="0"/>
                <a:ea typeface="Arial" pitchFamily="34" charset="-122"/>
                <a:cs typeface="Arial" pitchFamily="34" charset="-120"/>
              </a:rPr>
              <a:t>No permission to create Dataform repositories</a:t>
            </a:r>
            <a:endParaRPr lang="en-US" sz="1150" dirty="0"/>
          </a:p>
        </p:txBody>
      </p:sp>
      <p:sp>
        <p:nvSpPr>
          <p:cNvPr id="10" name="Shape 7"/>
          <p:cNvSpPr/>
          <p:nvPr/>
        </p:nvSpPr>
        <p:spPr>
          <a:xfrm>
            <a:off x="4480560" y="1847088"/>
            <a:ext cx="411480" cy="0"/>
          </a:xfrm>
          <a:prstGeom prst="line">
            <a:avLst/>
          </a:prstGeom>
          <a:noFill/>
          <a:ln w="19050">
            <a:solidFill>
              <a:srgbClr val="BF5700"/>
            </a:solidFill>
            <a:prstDash val="solid"/>
            <a:tailEnd type="triangle"/>
          </a:ln>
        </p:spPr>
      </p:sp>
      <p:sp>
        <p:nvSpPr>
          <p:cNvPr id="11" name="Shape 8"/>
          <p:cNvSpPr/>
          <p:nvPr/>
        </p:nvSpPr>
        <p:spPr>
          <a:xfrm>
            <a:off x="4983480" y="1554480"/>
            <a:ext cx="3611880" cy="585216"/>
          </a:xfrm>
          <a:prstGeom prst="roundRect">
            <a:avLst>
              <a:gd name="adj" fmla="val 12500"/>
            </a:avLst>
          </a:prstGeom>
          <a:solidFill>
            <a:srgbClr val="FFFFFF"/>
          </a:solidFill>
          <a:ln w="12700">
            <a:solidFill>
              <a:srgbClr val="DDE0E5"/>
            </a:solidFill>
            <a:prstDash val="solid"/>
          </a:ln>
          <a:effectLst>
            <a:outerShdw sx="100000" sy="100000" kx="0" ky="0" algn="bl" rotWithShape="0" blurRad="101600" dist="25400" dir="5400000">
              <a:srgbClr val="000000">
                <a:alpha val="10000"/>
              </a:srgbClr>
            </a:outerShdw>
          </a:effectLst>
        </p:spPr>
      </p:sp>
      <p:sp>
        <p:nvSpPr>
          <p:cNvPr id="12" name="Shape 9"/>
          <p:cNvSpPr/>
          <p:nvPr/>
        </p:nvSpPr>
        <p:spPr>
          <a:xfrm>
            <a:off x="5120640" y="1682496"/>
            <a:ext cx="329184" cy="329184"/>
          </a:xfrm>
          <a:prstGeom prst="ellipse">
            <a:avLst/>
          </a:prstGeom>
          <a:solidFill>
            <a:srgbClr val="BF5700"/>
          </a:solidFill>
          <a:ln/>
        </p:spPr>
      </p:sp>
      <p:pic>
        <p:nvPicPr>
          <p:cNvPr id="13" name="Image 1" descr="preencoded.png">    </p:cNvPr>
          <p:cNvPicPr>
            <a:picLocks noChangeAspect="1"/>
          </p:cNvPicPr>
          <p:nvPr/>
        </p:nvPicPr>
        <p:blipFill>
          <a:blip r:embed="rId2"/>
          <a:stretch>
            <a:fillRect/>
          </a:stretch>
        </p:blipFill>
        <p:spPr>
          <a:xfrm>
            <a:off x="5206228" y="1768084"/>
            <a:ext cx="158008" cy="158008"/>
          </a:xfrm>
          <a:prstGeom prst="rect">
            <a:avLst/>
          </a:prstGeom>
        </p:spPr>
      </p:pic>
      <p:sp>
        <p:nvSpPr>
          <p:cNvPr id="14" name="Text 10"/>
          <p:cNvSpPr/>
          <p:nvPr/>
        </p:nvSpPr>
        <p:spPr>
          <a:xfrm>
            <a:off x="5577840" y="1554480"/>
            <a:ext cx="2926080" cy="585216"/>
          </a:xfrm>
          <a:prstGeom prst="rect">
            <a:avLst/>
          </a:prstGeom>
          <a:noFill/>
          <a:ln/>
        </p:spPr>
        <p:txBody>
          <a:bodyPr wrap="square" lIns="0" tIns="0" rIns="0" bIns="0" rtlCol="0" anchor="ctr"/>
          <a:lstStyle/>
          <a:p>
            <a:pPr indent="0" marL="0">
              <a:buNone/>
            </a:pPr>
            <a:r>
              <a:rPr lang="en-US" sz="1200" b="1" dirty="0">
                <a:solidFill>
                  <a:srgbClr val="13161C"/>
                </a:solidFill>
                <a:latin typeface="Arial" pitchFamily="34" charset="0"/>
                <a:ea typeface="Arial" pitchFamily="34" charset="-122"/>
                <a:cs typeface="Arial" pitchFamily="34" charset="-120"/>
              </a:rPr>
              <a:t>dbt on BigQuery</a:t>
            </a:r>
            <a:endParaRPr lang="en-US" sz="1200" dirty="0"/>
          </a:p>
          <a:p>
            <a:pPr indent="0" marL="0">
              <a:buNone/>
            </a:pPr>
            <a:r>
              <a:rPr lang="en-US" sz="1000" dirty="0">
                <a:solidFill>
                  <a:srgbClr val="6B7280"/>
                </a:solidFill>
                <a:latin typeface="Arial" pitchFamily="34" charset="0"/>
                <a:ea typeface="Arial" pitchFamily="34" charset="-122"/>
                <a:cs typeface="Arial" pitchFamily="34" charset="-120"/>
              </a:rPr>
              <a:t>runs from laptops and CI, tests built in</a:t>
            </a:r>
            <a:endParaRPr lang="en-US" sz="1200" dirty="0"/>
          </a:p>
        </p:txBody>
      </p:sp>
      <p:sp>
        <p:nvSpPr>
          <p:cNvPr id="15" name="Shape 11"/>
          <p:cNvSpPr/>
          <p:nvPr/>
        </p:nvSpPr>
        <p:spPr>
          <a:xfrm>
            <a:off x="548640" y="2267712"/>
            <a:ext cx="3840480" cy="585216"/>
          </a:xfrm>
          <a:prstGeom prst="roundRect">
            <a:avLst>
              <a:gd name="adj" fmla="val 12500"/>
            </a:avLst>
          </a:prstGeom>
          <a:solidFill>
            <a:srgbClr val="F3F4F6"/>
          </a:solidFill>
          <a:ln/>
        </p:spPr>
      </p:sp>
      <p:sp>
        <p:nvSpPr>
          <p:cNvPr id="16" name="Shape 12"/>
          <p:cNvSpPr/>
          <p:nvPr/>
        </p:nvSpPr>
        <p:spPr>
          <a:xfrm>
            <a:off x="685800" y="2395728"/>
            <a:ext cx="329184" cy="329184"/>
          </a:xfrm>
          <a:prstGeom prst="ellipse">
            <a:avLst/>
          </a:prstGeom>
          <a:solidFill>
            <a:srgbClr val="A3ABB8"/>
          </a:solidFill>
          <a:ln/>
        </p:spPr>
      </p:sp>
      <p:pic>
        <p:nvPicPr>
          <p:cNvPr id="17" name="Image 2" descr="preencoded.png">    </p:cNvPr>
          <p:cNvPicPr>
            <a:picLocks noChangeAspect="1"/>
          </p:cNvPicPr>
          <p:nvPr/>
        </p:nvPicPr>
        <p:blipFill>
          <a:blip r:embed="rId3"/>
          <a:stretch>
            <a:fillRect/>
          </a:stretch>
        </p:blipFill>
        <p:spPr>
          <a:xfrm>
            <a:off x="771388" y="2481316"/>
            <a:ext cx="158008" cy="158008"/>
          </a:xfrm>
          <a:prstGeom prst="rect">
            <a:avLst/>
          </a:prstGeom>
        </p:spPr>
      </p:pic>
      <p:sp>
        <p:nvSpPr>
          <p:cNvPr id="18" name="Text 13"/>
          <p:cNvSpPr/>
          <p:nvPr/>
        </p:nvSpPr>
        <p:spPr>
          <a:xfrm>
            <a:off x="1143000" y="2267712"/>
            <a:ext cx="3154680" cy="585216"/>
          </a:xfrm>
          <a:prstGeom prst="rect">
            <a:avLst/>
          </a:prstGeom>
          <a:noFill/>
          <a:ln/>
        </p:spPr>
        <p:txBody>
          <a:bodyPr wrap="square" lIns="0" tIns="0" rIns="0" bIns="0" rtlCol="0" anchor="ctr"/>
          <a:lstStyle/>
          <a:p>
            <a:pPr indent="0" marL="0">
              <a:buNone/>
            </a:pPr>
            <a:r>
              <a:rPr lang="en-US" sz="1150" dirty="0">
                <a:solidFill>
                  <a:srgbClr val="222731"/>
                </a:solidFill>
                <a:latin typeface="Arial" pitchFamily="34" charset="0"/>
                <a:ea typeface="Arial" pitchFamily="34" charset="-122"/>
                <a:cs typeface="Arial" pitchFamily="34" charset="-120"/>
              </a:rPr>
              <a:t>AI.GENERATE_TABLE needs a connection we can't create</a:t>
            </a:r>
            <a:endParaRPr lang="en-US" sz="1150" dirty="0"/>
          </a:p>
        </p:txBody>
      </p:sp>
      <p:sp>
        <p:nvSpPr>
          <p:cNvPr id="19" name="Shape 14"/>
          <p:cNvSpPr/>
          <p:nvPr/>
        </p:nvSpPr>
        <p:spPr>
          <a:xfrm>
            <a:off x="4480560" y="2560320"/>
            <a:ext cx="411480" cy="0"/>
          </a:xfrm>
          <a:prstGeom prst="line">
            <a:avLst/>
          </a:prstGeom>
          <a:noFill/>
          <a:ln w="19050">
            <a:solidFill>
              <a:srgbClr val="BF5700"/>
            </a:solidFill>
            <a:prstDash val="solid"/>
            <a:tailEnd type="triangle"/>
          </a:ln>
        </p:spPr>
      </p:sp>
      <p:sp>
        <p:nvSpPr>
          <p:cNvPr id="20" name="Shape 15"/>
          <p:cNvSpPr/>
          <p:nvPr/>
        </p:nvSpPr>
        <p:spPr>
          <a:xfrm>
            <a:off x="4983480" y="2267712"/>
            <a:ext cx="3611880" cy="585216"/>
          </a:xfrm>
          <a:prstGeom prst="roundRect">
            <a:avLst>
              <a:gd name="adj" fmla="val 12500"/>
            </a:avLst>
          </a:prstGeom>
          <a:solidFill>
            <a:srgbClr val="FFFFFF"/>
          </a:solidFill>
          <a:ln w="12700">
            <a:solidFill>
              <a:srgbClr val="DDE0E5"/>
            </a:solidFill>
            <a:prstDash val="solid"/>
          </a:ln>
          <a:effectLst>
            <a:outerShdw sx="100000" sy="100000" kx="0" ky="0" algn="bl" rotWithShape="0" blurRad="101600" dist="25400" dir="5400000">
              <a:srgbClr val="000000">
                <a:alpha val="10000"/>
              </a:srgbClr>
            </a:outerShdw>
          </a:effectLst>
        </p:spPr>
      </p:sp>
      <p:sp>
        <p:nvSpPr>
          <p:cNvPr id="21" name="Shape 16"/>
          <p:cNvSpPr/>
          <p:nvPr/>
        </p:nvSpPr>
        <p:spPr>
          <a:xfrm>
            <a:off x="5120640" y="2395728"/>
            <a:ext cx="329184" cy="329184"/>
          </a:xfrm>
          <a:prstGeom prst="ellipse">
            <a:avLst/>
          </a:prstGeom>
          <a:solidFill>
            <a:srgbClr val="BF5700"/>
          </a:solidFill>
          <a:ln/>
        </p:spPr>
      </p:sp>
      <p:pic>
        <p:nvPicPr>
          <p:cNvPr id="22" name="Image 3" descr="preencoded.png">    </p:cNvPr>
          <p:cNvPicPr>
            <a:picLocks noChangeAspect="1"/>
          </p:cNvPicPr>
          <p:nvPr/>
        </p:nvPicPr>
        <p:blipFill>
          <a:blip r:embed="rId4"/>
          <a:stretch>
            <a:fillRect/>
          </a:stretch>
        </p:blipFill>
        <p:spPr>
          <a:xfrm>
            <a:off x="5206228" y="2481316"/>
            <a:ext cx="158008" cy="158008"/>
          </a:xfrm>
          <a:prstGeom prst="rect">
            <a:avLst/>
          </a:prstGeom>
        </p:spPr>
      </p:pic>
      <p:sp>
        <p:nvSpPr>
          <p:cNvPr id="23" name="Text 17"/>
          <p:cNvSpPr/>
          <p:nvPr/>
        </p:nvSpPr>
        <p:spPr>
          <a:xfrm>
            <a:off x="5577840" y="2267712"/>
            <a:ext cx="2926080" cy="585216"/>
          </a:xfrm>
          <a:prstGeom prst="rect">
            <a:avLst/>
          </a:prstGeom>
          <a:noFill/>
          <a:ln/>
        </p:spPr>
        <p:txBody>
          <a:bodyPr wrap="square" lIns="0" tIns="0" rIns="0" bIns="0" rtlCol="0" anchor="ctr"/>
          <a:lstStyle/>
          <a:p>
            <a:pPr indent="0" marL="0">
              <a:buNone/>
            </a:pPr>
            <a:r>
              <a:rPr lang="en-US" sz="1200" b="1" dirty="0">
                <a:solidFill>
                  <a:srgbClr val="13161C"/>
                </a:solidFill>
                <a:latin typeface="Arial" pitchFamily="34" charset="0"/>
                <a:ea typeface="Arial" pitchFamily="34" charset="-122"/>
                <a:cs typeface="Arial" pitchFamily="34" charset="-120"/>
              </a:rPr>
              <a:t>AI.GENERATE with output_schema</a:t>
            </a:r>
            <a:endParaRPr lang="en-US" sz="1200" dirty="0"/>
          </a:p>
          <a:p>
            <a:pPr indent="0" marL="0">
              <a:buNone/>
            </a:pPr>
            <a:r>
              <a:rPr lang="en-US" sz="1000" dirty="0">
                <a:solidFill>
                  <a:srgbClr val="6B7280"/>
                </a:solidFill>
                <a:latin typeface="Arial" pitchFamily="34" charset="0"/>
                <a:ea typeface="Arial" pitchFamily="34" charset="-122"/>
                <a:cs typeface="Arial" pitchFamily="34" charset="-120"/>
              </a:rPr>
              <a:t>the same structured scouting output</a:t>
            </a:r>
            <a:endParaRPr lang="en-US" sz="1200" dirty="0"/>
          </a:p>
        </p:txBody>
      </p:sp>
      <p:sp>
        <p:nvSpPr>
          <p:cNvPr id="24" name="Shape 18"/>
          <p:cNvSpPr/>
          <p:nvPr/>
        </p:nvSpPr>
        <p:spPr>
          <a:xfrm>
            <a:off x="548640" y="2980944"/>
            <a:ext cx="3840480" cy="585216"/>
          </a:xfrm>
          <a:prstGeom prst="roundRect">
            <a:avLst>
              <a:gd name="adj" fmla="val 12500"/>
            </a:avLst>
          </a:prstGeom>
          <a:solidFill>
            <a:srgbClr val="F3F4F6"/>
          </a:solidFill>
          <a:ln/>
        </p:spPr>
      </p:sp>
      <p:sp>
        <p:nvSpPr>
          <p:cNvPr id="25" name="Shape 19"/>
          <p:cNvSpPr/>
          <p:nvPr/>
        </p:nvSpPr>
        <p:spPr>
          <a:xfrm>
            <a:off x="685800" y="3108960"/>
            <a:ext cx="329184" cy="329184"/>
          </a:xfrm>
          <a:prstGeom prst="ellipse">
            <a:avLst/>
          </a:prstGeom>
          <a:solidFill>
            <a:srgbClr val="A3ABB8"/>
          </a:solidFill>
          <a:ln/>
        </p:spPr>
      </p:sp>
      <p:pic>
        <p:nvPicPr>
          <p:cNvPr id="26" name="Image 4" descr="preencoded.png">    </p:cNvPr>
          <p:cNvPicPr>
            <a:picLocks noChangeAspect="1"/>
          </p:cNvPicPr>
          <p:nvPr/>
        </p:nvPicPr>
        <p:blipFill>
          <a:blip r:embed="rId5"/>
          <a:stretch>
            <a:fillRect/>
          </a:stretch>
        </p:blipFill>
        <p:spPr>
          <a:xfrm>
            <a:off x="771388" y="3194548"/>
            <a:ext cx="158008" cy="158008"/>
          </a:xfrm>
          <a:prstGeom prst="rect">
            <a:avLst/>
          </a:prstGeom>
        </p:spPr>
      </p:pic>
      <p:sp>
        <p:nvSpPr>
          <p:cNvPr id="27" name="Text 20"/>
          <p:cNvSpPr/>
          <p:nvPr/>
        </p:nvSpPr>
        <p:spPr>
          <a:xfrm>
            <a:off x="1143000" y="2980944"/>
            <a:ext cx="3154680" cy="585216"/>
          </a:xfrm>
          <a:prstGeom prst="rect">
            <a:avLst/>
          </a:prstGeom>
          <a:noFill/>
          <a:ln/>
        </p:spPr>
        <p:txBody>
          <a:bodyPr wrap="square" lIns="0" tIns="0" rIns="0" bIns="0" rtlCol="0" anchor="ctr"/>
          <a:lstStyle/>
          <a:p>
            <a:pPr indent="0" marL="0">
              <a:buNone/>
            </a:pPr>
            <a:r>
              <a:rPr lang="en-US" sz="1150" dirty="0">
                <a:solidFill>
                  <a:srgbClr val="222731"/>
                </a:solidFill>
                <a:latin typeface="Arial" pitchFamily="34" charset="0"/>
                <a:ea typeface="Arial" pitchFamily="34" charset="-122"/>
                <a:cs typeface="Arial" pitchFamily="34" charset="-120"/>
              </a:rPr>
              <a:t>Gemini already knows who won in 2019</a:t>
            </a:r>
            <a:endParaRPr lang="en-US" sz="1150" dirty="0"/>
          </a:p>
        </p:txBody>
      </p:sp>
      <p:sp>
        <p:nvSpPr>
          <p:cNvPr id="28" name="Shape 21"/>
          <p:cNvSpPr/>
          <p:nvPr/>
        </p:nvSpPr>
        <p:spPr>
          <a:xfrm>
            <a:off x="4480560" y="3273552"/>
            <a:ext cx="411480" cy="0"/>
          </a:xfrm>
          <a:prstGeom prst="line">
            <a:avLst/>
          </a:prstGeom>
          <a:noFill/>
          <a:ln w="19050">
            <a:solidFill>
              <a:srgbClr val="BF5700"/>
            </a:solidFill>
            <a:prstDash val="solid"/>
            <a:tailEnd type="triangle"/>
          </a:ln>
        </p:spPr>
      </p:sp>
      <p:sp>
        <p:nvSpPr>
          <p:cNvPr id="29" name="Shape 22"/>
          <p:cNvSpPr/>
          <p:nvPr/>
        </p:nvSpPr>
        <p:spPr>
          <a:xfrm>
            <a:off x="4983480" y="2980944"/>
            <a:ext cx="3611880" cy="585216"/>
          </a:xfrm>
          <a:prstGeom prst="roundRect">
            <a:avLst>
              <a:gd name="adj" fmla="val 12500"/>
            </a:avLst>
          </a:prstGeom>
          <a:solidFill>
            <a:srgbClr val="FFFFFF"/>
          </a:solidFill>
          <a:ln w="12700">
            <a:solidFill>
              <a:srgbClr val="DDE0E5"/>
            </a:solidFill>
            <a:prstDash val="solid"/>
          </a:ln>
          <a:effectLst>
            <a:outerShdw sx="100000" sy="100000" kx="0" ky="0" algn="bl" rotWithShape="0" blurRad="101600" dist="25400" dir="5400000">
              <a:srgbClr val="000000">
                <a:alpha val="10000"/>
              </a:srgbClr>
            </a:outerShdw>
          </a:effectLst>
        </p:spPr>
      </p:sp>
      <p:sp>
        <p:nvSpPr>
          <p:cNvPr id="30" name="Shape 23"/>
          <p:cNvSpPr/>
          <p:nvPr/>
        </p:nvSpPr>
        <p:spPr>
          <a:xfrm>
            <a:off x="5120640" y="3108960"/>
            <a:ext cx="329184" cy="329184"/>
          </a:xfrm>
          <a:prstGeom prst="ellipse">
            <a:avLst/>
          </a:prstGeom>
          <a:solidFill>
            <a:srgbClr val="BF5700"/>
          </a:solidFill>
          <a:ln/>
        </p:spPr>
      </p:sp>
      <p:pic>
        <p:nvPicPr>
          <p:cNvPr id="31" name="Image 5" descr="preencoded.png">    </p:cNvPr>
          <p:cNvPicPr>
            <a:picLocks noChangeAspect="1"/>
          </p:cNvPicPr>
          <p:nvPr/>
        </p:nvPicPr>
        <p:blipFill>
          <a:blip r:embed="rId6"/>
          <a:stretch>
            <a:fillRect/>
          </a:stretch>
        </p:blipFill>
        <p:spPr>
          <a:xfrm>
            <a:off x="5206228" y="3194548"/>
            <a:ext cx="158008" cy="158008"/>
          </a:xfrm>
          <a:prstGeom prst="rect">
            <a:avLst/>
          </a:prstGeom>
        </p:spPr>
      </p:pic>
      <p:sp>
        <p:nvSpPr>
          <p:cNvPr id="32" name="Text 24"/>
          <p:cNvSpPr/>
          <p:nvPr/>
        </p:nvSpPr>
        <p:spPr>
          <a:xfrm>
            <a:off x="5577840" y="2980944"/>
            <a:ext cx="2926080" cy="585216"/>
          </a:xfrm>
          <a:prstGeom prst="rect">
            <a:avLst/>
          </a:prstGeom>
          <a:noFill/>
          <a:ln/>
        </p:spPr>
        <p:txBody>
          <a:bodyPr wrap="square" lIns="0" tIns="0" rIns="0" bIns="0" rtlCol="0" anchor="ctr"/>
          <a:lstStyle/>
          <a:p>
            <a:pPr indent="0" marL="0">
              <a:buNone/>
            </a:pPr>
            <a:r>
              <a:rPr lang="en-US" sz="1200" b="1" dirty="0">
                <a:solidFill>
                  <a:srgbClr val="13161C"/>
                </a:solidFill>
                <a:latin typeface="Arial" pitchFamily="34" charset="0"/>
                <a:ea typeface="Arial" pitchFamily="34" charset="-122"/>
                <a:cs typeface="Arial" pitchFamily="34" charset="-120"/>
              </a:rPr>
              <a:t>Anonymized prompts</a:t>
            </a:r>
            <a:endParaRPr lang="en-US" sz="1200" dirty="0"/>
          </a:p>
          <a:p>
            <a:pPr indent="0" marL="0">
              <a:buNone/>
            </a:pPr>
            <a:r>
              <a:rPr lang="en-US" sz="1000" dirty="0">
                <a:solidFill>
                  <a:srgbClr val="6B7280"/>
                </a:solidFill>
                <a:latin typeface="Arial" pitchFamily="34" charset="0"/>
                <a:ea typeface="Arial" pitchFamily="34" charset="-122"/>
                <a:cs typeface="Arial" pitchFamily="34" charset="-120"/>
              </a:rPr>
              <a:t>numbers only: no team name, conference or seed</a:t>
            </a:r>
            <a:endParaRPr lang="en-US" sz="1200" dirty="0"/>
          </a:p>
        </p:txBody>
      </p:sp>
      <p:sp>
        <p:nvSpPr>
          <p:cNvPr id="33" name="Shape 25"/>
          <p:cNvSpPr/>
          <p:nvPr/>
        </p:nvSpPr>
        <p:spPr>
          <a:xfrm>
            <a:off x="548640" y="3822192"/>
            <a:ext cx="8046720" cy="868680"/>
          </a:xfrm>
          <a:prstGeom prst="roundRect">
            <a:avLst>
              <a:gd name="adj" fmla="val 8421"/>
            </a:avLst>
          </a:prstGeom>
          <a:solidFill>
            <a:srgbClr val="13161C"/>
          </a:solidFill>
          <a:ln/>
        </p:spPr>
      </p:sp>
      <p:sp>
        <p:nvSpPr>
          <p:cNvPr id="34" name="Shape 26"/>
          <p:cNvSpPr/>
          <p:nvPr/>
        </p:nvSpPr>
        <p:spPr>
          <a:xfrm>
            <a:off x="777240" y="4005072"/>
            <a:ext cx="502920" cy="502920"/>
          </a:xfrm>
          <a:prstGeom prst="ellipse">
            <a:avLst/>
          </a:prstGeom>
          <a:solidFill>
            <a:srgbClr val="F07F2A"/>
          </a:solidFill>
          <a:ln/>
        </p:spPr>
      </p:sp>
      <p:pic>
        <p:nvPicPr>
          <p:cNvPr id="35" name="Image 6" descr="preencoded.png">    </p:cNvPr>
          <p:cNvPicPr>
            <a:picLocks noChangeAspect="1"/>
          </p:cNvPicPr>
          <p:nvPr/>
        </p:nvPicPr>
        <p:blipFill>
          <a:blip r:embed="rId7"/>
          <a:stretch>
            <a:fillRect/>
          </a:stretch>
        </p:blipFill>
        <p:spPr>
          <a:xfrm>
            <a:off x="907999" y="4135831"/>
            <a:ext cx="241402" cy="241402"/>
          </a:xfrm>
          <a:prstGeom prst="rect">
            <a:avLst/>
          </a:prstGeom>
        </p:spPr>
      </p:pic>
      <p:sp>
        <p:nvSpPr>
          <p:cNvPr id="36" name="Text 27"/>
          <p:cNvSpPr/>
          <p:nvPr/>
        </p:nvSpPr>
        <p:spPr>
          <a:xfrm>
            <a:off x="1463040" y="3931920"/>
            <a:ext cx="2743200" cy="201168"/>
          </a:xfrm>
          <a:prstGeom prst="rect">
            <a:avLst/>
          </a:prstGeom>
          <a:noFill/>
          <a:ln/>
        </p:spPr>
        <p:txBody>
          <a:bodyPr wrap="square" lIns="0" tIns="0" rIns="0" bIns="0" rtlCol="0" anchor="ctr"/>
          <a:lstStyle/>
          <a:p>
            <a:pPr indent="0" marL="0">
              <a:buNone/>
            </a:pPr>
            <a:r>
              <a:rPr lang="en-US" sz="850" b="1" spc="150" kern="0" dirty="0">
                <a:solidFill>
                  <a:srgbClr val="F07F2A"/>
                </a:solidFill>
                <a:latin typeface="Arial" pitchFamily="34" charset="0"/>
                <a:ea typeface="Arial" pitchFamily="34" charset="-122"/>
                <a:cs typeface="Arial" pitchFamily="34" charset="-120"/>
              </a:rPr>
              <a:t>KEY TAKEAWAY</a:t>
            </a:r>
            <a:endParaRPr lang="en-US" sz="850" dirty="0"/>
          </a:p>
        </p:txBody>
      </p:sp>
      <p:sp>
        <p:nvSpPr>
          <p:cNvPr id="37" name="Text 28"/>
          <p:cNvSpPr/>
          <p:nvPr/>
        </p:nvSpPr>
        <p:spPr>
          <a:xfrm>
            <a:off x="1463040" y="4133088"/>
            <a:ext cx="6949440" cy="411480"/>
          </a:xfrm>
          <a:prstGeom prst="rect">
            <a:avLst/>
          </a:prstGeom>
          <a:noFill/>
          <a:ln/>
        </p:spPr>
        <p:txBody>
          <a:bodyPr wrap="square" lIns="0" tIns="0" rIns="0" bIns="0" rtlCol="0" anchor="ctr"/>
          <a:lstStyle/>
          <a:p>
            <a:pPr indent="0" marL="0">
              <a:buNone/>
            </a:pPr>
            <a:r>
              <a:rPr lang="en-US" sz="1600" i="1" dirty="0">
                <a:solidFill>
                  <a:srgbClr val="FFFFFF"/>
                </a:solidFill>
                <a:latin typeface="Georgia" pitchFamily="34" charset="0"/>
                <a:ea typeface="Georgia" pitchFamily="34" charset="-122"/>
                <a:cs typeface="Georgia" pitchFamily="34" charset="-120"/>
              </a:rPr>
              <a:t>Keep compute next to the data. Ground every AI claim in a query.</a:t>
            </a:r>
            <a:endParaRPr lang="en-US" sz="1600" dirty="0"/>
          </a:p>
        </p:txBody>
      </p:sp>
      <p:sp>
        <p:nvSpPr>
          <p:cNvPr id="38" name="Text 29"/>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3161C"/>
        </a:solidFill>
      </p:bgPr>
    </p:bg>
    <p:spTree>
      <p:nvGrpSpPr>
        <p:cNvPr id="1" name=""/>
        <p:cNvGrpSpPr/>
        <p:nvPr/>
      </p:nvGrpSpPr>
      <p:grpSpPr>
        <a:xfrm>
          <a:off x="0" y="0"/>
          <a:ext cx="0" cy="0"/>
          <a:chOff x="0" y="0"/>
          <a:chExt cx="0" cy="0"/>
        </a:xfrm>
      </p:grpSpPr>
      <p:sp>
        <p:nvSpPr>
          <p:cNvPr id="2" name="Text 0"/>
          <p:cNvSpPr/>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F07F2A"/>
                </a:solidFill>
                <a:latin typeface="Arial" pitchFamily="34" charset="0"/>
                <a:ea typeface="Arial" pitchFamily="34" charset="-122"/>
                <a:cs typeface="Arial" pitchFamily="34" charset="-120"/>
              </a:rPr>
              <a:t>CONSULTING  ·  66DEGREES</a:t>
            </a:r>
            <a:endParaRPr lang="en-US" sz="1000" dirty="0"/>
          </a:p>
        </p:txBody>
      </p:sp>
      <p:sp>
        <p:nvSpPr>
          <p:cNvPr id="3" name="Text 1"/>
          <p:cNvSpPr/>
          <p:nvPr/>
        </p:nvSpPr>
        <p:spPr>
          <a:xfrm>
            <a:off x="548640" y="585216"/>
            <a:ext cx="8046720" cy="566928"/>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Same engine, any client</a:t>
            </a:r>
            <a:endParaRPr lang="en-US" sz="2800" dirty="0"/>
          </a:p>
        </p:txBody>
      </p:sp>
      <p:sp>
        <p:nvSpPr>
          <p:cNvPr id="4" name="Shape 2"/>
          <p:cNvSpPr/>
          <p:nvPr/>
        </p:nvSpPr>
        <p:spPr>
          <a:xfrm>
            <a:off x="548640" y="1325880"/>
            <a:ext cx="1783080" cy="566928"/>
          </a:xfrm>
          <a:prstGeom prst="roundRect">
            <a:avLst>
              <a:gd name="adj" fmla="val 12903"/>
            </a:avLst>
          </a:prstGeom>
          <a:solidFill>
            <a:srgbClr val="1F242D"/>
          </a:solidFill>
          <a:ln/>
        </p:spPr>
      </p:sp>
      <p:sp>
        <p:nvSpPr>
          <p:cNvPr id="5" name="Text 3"/>
          <p:cNvSpPr/>
          <p:nvPr/>
        </p:nvSpPr>
        <p:spPr>
          <a:xfrm>
            <a:off x="685800" y="1325880"/>
            <a:ext cx="1554480" cy="566928"/>
          </a:xfrm>
          <a:prstGeom prst="rect">
            <a:avLst/>
          </a:prstGeom>
          <a:noFill/>
          <a:ln/>
        </p:spPr>
        <p:txBody>
          <a:bodyPr wrap="square" lIns="0" tIns="0" rIns="0" bIns="0" rtlCol="0" anchor="ctr"/>
          <a:lstStyle/>
          <a:p>
            <a:pPr indent="0" marL="0">
              <a:buNone/>
            </a:pPr>
            <a:r>
              <a:rPr lang="en-US" sz="1300" b="1" dirty="0">
                <a:solidFill>
                  <a:srgbClr val="F07F2A"/>
                </a:solidFill>
                <a:latin typeface="Arial" pitchFamily="34" charset="0"/>
                <a:ea typeface="Arial" pitchFamily="34" charset="-122"/>
                <a:cs typeface="Arial" pitchFamily="34" charset="-120"/>
              </a:rPr>
              <a:t>Discover</a:t>
            </a:r>
            <a:endParaRPr lang="en-US" sz="1300" dirty="0"/>
          </a:p>
          <a:p>
            <a:pPr indent="0" marL="0">
              <a:buNone/>
            </a:pPr>
            <a:r>
              <a:rPr lang="en-US" sz="1000" dirty="0">
                <a:solidFill>
                  <a:srgbClr val="9AA3B2"/>
                </a:solidFill>
                <a:latin typeface="Arial" pitchFamily="34" charset="0"/>
                <a:ea typeface="Arial" pitchFamily="34" charset="-122"/>
                <a:cs typeface="Arial" pitchFamily="34" charset="-120"/>
              </a:rPr>
              <a:t>Knowledge Catalog</a:t>
            </a:r>
            <a:endParaRPr lang="en-US" sz="1300" dirty="0"/>
          </a:p>
        </p:txBody>
      </p:sp>
      <p:sp>
        <p:nvSpPr>
          <p:cNvPr id="6" name="Shape 4"/>
          <p:cNvSpPr/>
          <p:nvPr/>
        </p:nvSpPr>
        <p:spPr>
          <a:xfrm>
            <a:off x="2368296" y="1609344"/>
            <a:ext cx="201168" cy="0"/>
          </a:xfrm>
          <a:prstGeom prst="line">
            <a:avLst/>
          </a:prstGeom>
          <a:noFill/>
          <a:ln w="19050">
            <a:solidFill>
              <a:srgbClr val="F07F2A"/>
            </a:solidFill>
            <a:prstDash val="solid"/>
            <a:tailEnd type="triangle"/>
          </a:ln>
        </p:spPr>
      </p:sp>
      <p:sp>
        <p:nvSpPr>
          <p:cNvPr id="7" name="Shape 5"/>
          <p:cNvSpPr/>
          <p:nvPr/>
        </p:nvSpPr>
        <p:spPr>
          <a:xfrm>
            <a:off x="2606040" y="1325880"/>
            <a:ext cx="1783080" cy="566928"/>
          </a:xfrm>
          <a:prstGeom prst="roundRect">
            <a:avLst>
              <a:gd name="adj" fmla="val 12903"/>
            </a:avLst>
          </a:prstGeom>
          <a:solidFill>
            <a:srgbClr val="1F242D"/>
          </a:solidFill>
          <a:ln/>
        </p:spPr>
      </p:sp>
      <p:sp>
        <p:nvSpPr>
          <p:cNvPr id="8" name="Text 6"/>
          <p:cNvSpPr/>
          <p:nvPr/>
        </p:nvSpPr>
        <p:spPr>
          <a:xfrm>
            <a:off x="2743200" y="1325880"/>
            <a:ext cx="1554480" cy="566928"/>
          </a:xfrm>
          <a:prstGeom prst="rect">
            <a:avLst/>
          </a:prstGeom>
          <a:noFill/>
          <a:ln/>
        </p:spPr>
        <p:txBody>
          <a:bodyPr wrap="square" lIns="0" tIns="0" rIns="0" bIns="0" rtlCol="0" anchor="ctr"/>
          <a:lstStyle/>
          <a:p>
            <a:pPr indent="0" marL="0">
              <a:buNone/>
            </a:pPr>
            <a:r>
              <a:rPr lang="en-US" sz="1300" b="1" dirty="0">
                <a:solidFill>
                  <a:srgbClr val="F07F2A"/>
                </a:solidFill>
                <a:latin typeface="Arial" pitchFamily="34" charset="0"/>
                <a:ea typeface="Arial" pitchFamily="34" charset="-122"/>
                <a:cs typeface="Arial" pitchFamily="34" charset="-120"/>
              </a:rPr>
              <a:t>Govern</a:t>
            </a:r>
            <a:endParaRPr lang="en-US" sz="1300" dirty="0"/>
          </a:p>
          <a:p>
            <a:pPr indent="0" marL="0">
              <a:buNone/>
            </a:pPr>
            <a:r>
              <a:rPr lang="en-US" sz="1000" dirty="0">
                <a:solidFill>
                  <a:srgbClr val="9AA3B2"/>
                </a:solidFill>
                <a:latin typeface="Arial" pitchFamily="34" charset="0"/>
                <a:ea typeface="Arial" pitchFamily="34" charset="-122"/>
                <a:cs typeface="Arial" pitchFamily="34" charset="-120"/>
              </a:rPr>
              <a:t>dbt semantic layer</a:t>
            </a:r>
            <a:endParaRPr lang="en-US" sz="1300" dirty="0"/>
          </a:p>
        </p:txBody>
      </p:sp>
      <p:sp>
        <p:nvSpPr>
          <p:cNvPr id="9" name="Shape 7"/>
          <p:cNvSpPr/>
          <p:nvPr/>
        </p:nvSpPr>
        <p:spPr>
          <a:xfrm>
            <a:off x="4425696" y="1609344"/>
            <a:ext cx="201168" cy="0"/>
          </a:xfrm>
          <a:prstGeom prst="line">
            <a:avLst/>
          </a:prstGeom>
          <a:noFill/>
          <a:ln w="19050">
            <a:solidFill>
              <a:srgbClr val="F07F2A"/>
            </a:solidFill>
            <a:prstDash val="solid"/>
            <a:tailEnd type="triangle"/>
          </a:ln>
        </p:spPr>
      </p:sp>
      <p:sp>
        <p:nvSpPr>
          <p:cNvPr id="10" name="Shape 8"/>
          <p:cNvSpPr/>
          <p:nvPr/>
        </p:nvSpPr>
        <p:spPr>
          <a:xfrm>
            <a:off x="4663440" y="1325880"/>
            <a:ext cx="1783080" cy="566928"/>
          </a:xfrm>
          <a:prstGeom prst="roundRect">
            <a:avLst>
              <a:gd name="adj" fmla="val 12903"/>
            </a:avLst>
          </a:prstGeom>
          <a:solidFill>
            <a:srgbClr val="1F242D"/>
          </a:solidFill>
          <a:ln/>
        </p:spPr>
      </p:sp>
      <p:sp>
        <p:nvSpPr>
          <p:cNvPr id="11" name="Text 9"/>
          <p:cNvSpPr/>
          <p:nvPr/>
        </p:nvSpPr>
        <p:spPr>
          <a:xfrm>
            <a:off x="4800600" y="1325880"/>
            <a:ext cx="1554480" cy="566928"/>
          </a:xfrm>
          <a:prstGeom prst="rect">
            <a:avLst/>
          </a:prstGeom>
          <a:noFill/>
          <a:ln/>
        </p:spPr>
        <p:txBody>
          <a:bodyPr wrap="square" lIns="0" tIns="0" rIns="0" bIns="0" rtlCol="0" anchor="ctr"/>
          <a:lstStyle/>
          <a:p>
            <a:pPr indent="0" marL="0">
              <a:buNone/>
            </a:pPr>
            <a:r>
              <a:rPr lang="en-US" sz="1300" b="1" dirty="0">
                <a:solidFill>
                  <a:srgbClr val="F07F2A"/>
                </a:solidFill>
                <a:latin typeface="Arial" pitchFamily="34" charset="0"/>
                <a:ea typeface="Arial" pitchFamily="34" charset="-122"/>
                <a:cs typeface="Arial" pitchFamily="34" charset="-120"/>
              </a:rPr>
              <a:t>Predict</a:t>
            </a:r>
            <a:endParaRPr lang="en-US" sz="1300" dirty="0"/>
          </a:p>
          <a:p>
            <a:pPr indent="0" marL="0">
              <a:buNone/>
            </a:pPr>
            <a:r>
              <a:rPr lang="en-US" sz="1000" dirty="0">
                <a:solidFill>
                  <a:srgbClr val="9AA3B2"/>
                </a:solidFill>
                <a:latin typeface="Arial" pitchFamily="34" charset="0"/>
                <a:ea typeface="Arial" pitchFamily="34" charset="-122"/>
                <a:cs typeface="Arial" pitchFamily="34" charset="-120"/>
              </a:rPr>
              <a:t>BQML + simulation</a:t>
            </a:r>
            <a:endParaRPr lang="en-US" sz="1300" dirty="0"/>
          </a:p>
        </p:txBody>
      </p:sp>
      <p:sp>
        <p:nvSpPr>
          <p:cNvPr id="12" name="Shape 10"/>
          <p:cNvSpPr/>
          <p:nvPr/>
        </p:nvSpPr>
        <p:spPr>
          <a:xfrm>
            <a:off x="6483096" y="1609344"/>
            <a:ext cx="201168" cy="0"/>
          </a:xfrm>
          <a:prstGeom prst="line">
            <a:avLst/>
          </a:prstGeom>
          <a:noFill/>
          <a:ln w="19050">
            <a:solidFill>
              <a:srgbClr val="F07F2A"/>
            </a:solidFill>
            <a:prstDash val="solid"/>
            <a:tailEnd type="triangle"/>
          </a:ln>
        </p:spPr>
      </p:sp>
      <p:sp>
        <p:nvSpPr>
          <p:cNvPr id="13" name="Shape 11"/>
          <p:cNvSpPr/>
          <p:nvPr/>
        </p:nvSpPr>
        <p:spPr>
          <a:xfrm>
            <a:off x="6720840" y="1325880"/>
            <a:ext cx="1783080" cy="566928"/>
          </a:xfrm>
          <a:prstGeom prst="roundRect">
            <a:avLst>
              <a:gd name="adj" fmla="val 12903"/>
            </a:avLst>
          </a:prstGeom>
          <a:solidFill>
            <a:srgbClr val="1F242D"/>
          </a:solidFill>
          <a:ln/>
        </p:spPr>
      </p:sp>
      <p:sp>
        <p:nvSpPr>
          <p:cNvPr id="14" name="Text 12"/>
          <p:cNvSpPr/>
          <p:nvPr/>
        </p:nvSpPr>
        <p:spPr>
          <a:xfrm>
            <a:off x="6858000" y="1325880"/>
            <a:ext cx="1554480" cy="566928"/>
          </a:xfrm>
          <a:prstGeom prst="rect">
            <a:avLst/>
          </a:prstGeom>
          <a:noFill/>
          <a:ln/>
        </p:spPr>
        <p:txBody>
          <a:bodyPr wrap="square" lIns="0" tIns="0" rIns="0" bIns="0" rtlCol="0" anchor="ctr"/>
          <a:lstStyle/>
          <a:p>
            <a:pPr indent="0" marL="0">
              <a:buNone/>
            </a:pPr>
            <a:r>
              <a:rPr lang="en-US" sz="1300" b="1" dirty="0">
                <a:solidFill>
                  <a:srgbClr val="F07F2A"/>
                </a:solidFill>
                <a:latin typeface="Arial" pitchFamily="34" charset="0"/>
                <a:ea typeface="Arial" pitchFamily="34" charset="-122"/>
                <a:cs typeface="Arial" pitchFamily="34" charset="-120"/>
              </a:rPr>
              <a:t>Explain</a:t>
            </a:r>
            <a:endParaRPr lang="en-US" sz="1300" dirty="0"/>
          </a:p>
          <a:p>
            <a:pPr indent="0" marL="0">
              <a:buNone/>
            </a:pPr>
            <a:r>
              <a:rPr lang="en-US" sz="1000" dirty="0">
                <a:solidFill>
                  <a:srgbClr val="9AA3B2"/>
                </a:solidFill>
                <a:latin typeface="Arial" pitchFamily="34" charset="0"/>
                <a:ea typeface="Arial" pitchFamily="34" charset="-122"/>
                <a:cs typeface="Arial" pitchFamily="34" charset="-120"/>
              </a:rPr>
              <a:t>grounded Data Agent</a:t>
            </a:r>
            <a:endParaRPr lang="en-US" sz="1300" dirty="0"/>
          </a:p>
        </p:txBody>
      </p:sp>
      <p:sp>
        <p:nvSpPr>
          <p:cNvPr id="15" name="Shape 13"/>
          <p:cNvSpPr/>
          <p:nvPr/>
        </p:nvSpPr>
        <p:spPr>
          <a:xfrm>
            <a:off x="548640" y="2103120"/>
            <a:ext cx="1874520" cy="1417320"/>
          </a:xfrm>
          <a:prstGeom prst="roundRect">
            <a:avLst>
              <a:gd name="adj" fmla="val 5161"/>
            </a:avLst>
          </a:prstGeom>
          <a:solidFill>
            <a:srgbClr val="1F242D"/>
          </a:solidFill>
          <a:ln/>
        </p:spPr>
      </p:sp>
      <p:sp>
        <p:nvSpPr>
          <p:cNvPr id="16" name="Shape 14"/>
          <p:cNvSpPr/>
          <p:nvPr/>
        </p:nvSpPr>
        <p:spPr>
          <a:xfrm>
            <a:off x="713232" y="2258568"/>
            <a:ext cx="438912" cy="438912"/>
          </a:xfrm>
          <a:prstGeom prst="ellipse">
            <a:avLst/>
          </a:prstGeom>
          <a:solidFill>
            <a:srgbClr val="BF5700"/>
          </a:solidFill>
          <a:ln/>
        </p:spPr>
      </p:sp>
      <p:pic>
        <p:nvPicPr>
          <p:cNvPr id="17" name="Image 0" descr="preencoded.png">    </p:cNvPr>
          <p:cNvPicPr>
            <a:picLocks noChangeAspect="1"/>
          </p:cNvPicPr>
          <p:nvPr/>
        </p:nvPicPr>
        <p:blipFill>
          <a:blip r:embed="rId1"/>
          <a:stretch>
            <a:fillRect/>
          </a:stretch>
        </p:blipFill>
        <p:spPr>
          <a:xfrm>
            <a:off x="827349" y="2372685"/>
            <a:ext cx="210678" cy="210678"/>
          </a:xfrm>
          <a:prstGeom prst="rect">
            <a:avLst/>
          </a:prstGeom>
        </p:spPr>
      </p:pic>
      <p:sp>
        <p:nvSpPr>
          <p:cNvPr id="18" name="Text 15"/>
          <p:cNvSpPr/>
          <p:nvPr/>
        </p:nvSpPr>
        <p:spPr>
          <a:xfrm>
            <a:off x="713232" y="2770632"/>
            <a:ext cx="1600200" cy="25603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Retail</a:t>
            </a:r>
            <a:endParaRPr lang="en-US" sz="1300" dirty="0"/>
          </a:p>
        </p:txBody>
      </p:sp>
      <p:sp>
        <p:nvSpPr>
          <p:cNvPr id="19" name="Text 16"/>
          <p:cNvSpPr/>
          <p:nvPr/>
        </p:nvSpPr>
        <p:spPr>
          <a:xfrm>
            <a:off x="713232" y="3017520"/>
            <a:ext cx="1600200" cy="438912"/>
          </a:xfrm>
          <a:prstGeom prst="rect">
            <a:avLst/>
          </a:prstGeom>
          <a:noFill/>
          <a:ln/>
        </p:spPr>
        <p:txBody>
          <a:bodyPr wrap="square" lIns="0" tIns="0" rIns="0" bIns="0" rtlCol="0" anchor="t"/>
          <a:lstStyle/>
          <a:p>
            <a:pPr indent="0" marL="0">
              <a:buNone/>
            </a:pPr>
            <a:r>
              <a:rPr lang="en-US" sz="1050" dirty="0">
                <a:solidFill>
                  <a:srgbClr val="9AA3B2"/>
                </a:solidFill>
                <a:latin typeface="Arial" pitchFamily="34" charset="0"/>
                <a:ea typeface="Arial" pitchFamily="34" charset="-122"/>
                <a:cs typeface="Arial" pitchFamily="34" charset="-120"/>
              </a:rPr>
              <a:t>Which products sell out next season</a:t>
            </a:r>
            <a:endParaRPr lang="en-US" sz="1050" dirty="0"/>
          </a:p>
        </p:txBody>
      </p:sp>
      <p:sp>
        <p:nvSpPr>
          <p:cNvPr id="20" name="Shape 17"/>
          <p:cNvSpPr/>
          <p:nvPr/>
        </p:nvSpPr>
        <p:spPr>
          <a:xfrm>
            <a:off x="2606040" y="2103120"/>
            <a:ext cx="1874520" cy="1417320"/>
          </a:xfrm>
          <a:prstGeom prst="roundRect">
            <a:avLst>
              <a:gd name="adj" fmla="val 5161"/>
            </a:avLst>
          </a:prstGeom>
          <a:solidFill>
            <a:srgbClr val="1F242D"/>
          </a:solidFill>
          <a:ln/>
        </p:spPr>
      </p:sp>
      <p:sp>
        <p:nvSpPr>
          <p:cNvPr id="21" name="Shape 18"/>
          <p:cNvSpPr/>
          <p:nvPr/>
        </p:nvSpPr>
        <p:spPr>
          <a:xfrm>
            <a:off x="2770632" y="2258568"/>
            <a:ext cx="438912" cy="438912"/>
          </a:xfrm>
          <a:prstGeom prst="ellipse">
            <a:avLst/>
          </a:prstGeom>
          <a:solidFill>
            <a:srgbClr val="BF5700"/>
          </a:solidFill>
          <a:ln/>
        </p:spPr>
      </p:sp>
      <p:pic>
        <p:nvPicPr>
          <p:cNvPr id="22" name="Image 1" descr="preencoded.png">    </p:cNvPr>
          <p:cNvPicPr>
            <a:picLocks noChangeAspect="1"/>
          </p:cNvPicPr>
          <p:nvPr/>
        </p:nvPicPr>
        <p:blipFill>
          <a:blip r:embed="rId2"/>
          <a:stretch>
            <a:fillRect/>
          </a:stretch>
        </p:blipFill>
        <p:spPr>
          <a:xfrm>
            <a:off x="2884749" y="2372685"/>
            <a:ext cx="210678" cy="210678"/>
          </a:xfrm>
          <a:prstGeom prst="rect">
            <a:avLst/>
          </a:prstGeom>
        </p:spPr>
      </p:pic>
      <p:sp>
        <p:nvSpPr>
          <p:cNvPr id="23" name="Text 19"/>
          <p:cNvSpPr/>
          <p:nvPr/>
        </p:nvSpPr>
        <p:spPr>
          <a:xfrm>
            <a:off x="2770632" y="2770632"/>
            <a:ext cx="1600200" cy="25603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Banking</a:t>
            </a:r>
            <a:endParaRPr lang="en-US" sz="1300" dirty="0"/>
          </a:p>
        </p:txBody>
      </p:sp>
      <p:sp>
        <p:nvSpPr>
          <p:cNvPr id="24" name="Text 20"/>
          <p:cNvSpPr/>
          <p:nvPr/>
        </p:nvSpPr>
        <p:spPr>
          <a:xfrm>
            <a:off x="2770632" y="3017520"/>
            <a:ext cx="1600200" cy="438912"/>
          </a:xfrm>
          <a:prstGeom prst="rect">
            <a:avLst/>
          </a:prstGeom>
          <a:noFill/>
          <a:ln/>
        </p:spPr>
        <p:txBody>
          <a:bodyPr wrap="square" lIns="0" tIns="0" rIns="0" bIns="0" rtlCol="0" anchor="t"/>
          <a:lstStyle/>
          <a:p>
            <a:pPr indent="0" marL="0">
              <a:buNone/>
            </a:pPr>
            <a:r>
              <a:rPr lang="en-US" sz="1050" dirty="0">
                <a:solidFill>
                  <a:srgbClr val="9AA3B2"/>
                </a:solidFill>
                <a:latin typeface="Arial" pitchFamily="34" charset="0"/>
                <a:ea typeface="Arial" pitchFamily="34" charset="-122"/>
                <a:cs typeface="Arial" pitchFamily="34" charset="-120"/>
              </a:rPr>
              <a:t>Which loans are likely to default</a:t>
            </a:r>
            <a:endParaRPr lang="en-US" sz="1050" dirty="0"/>
          </a:p>
        </p:txBody>
      </p:sp>
      <p:sp>
        <p:nvSpPr>
          <p:cNvPr id="25" name="Shape 21"/>
          <p:cNvSpPr/>
          <p:nvPr/>
        </p:nvSpPr>
        <p:spPr>
          <a:xfrm>
            <a:off x="4663440" y="2103120"/>
            <a:ext cx="1874520" cy="1417320"/>
          </a:xfrm>
          <a:prstGeom prst="roundRect">
            <a:avLst>
              <a:gd name="adj" fmla="val 5161"/>
            </a:avLst>
          </a:prstGeom>
          <a:solidFill>
            <a:srgbClr val="1F242D"/>
          </a:solidFill>
          <a:ln/>
        </p:spPr>
      </p:sp>
      <p:sp>
        <p:nvSpPr>
          <p:cNvPr id="26" name="Shape 22"/>
          <p:cNvSpPr/>
          <p:nvPr/>
        </p:nvSpPr>
        <p:spPr>
          <a:xfrm>
            <a:off x="4828032" y="2258568"/>
            <a:ext cx="438912" cy="438912"/>
          </a:xfrm>
          <a:prstGeom prst="ellipse">
            <a:avLst/>
          </a:prstGeom>
          <a:solidFill>
            <a:srgbClr val="BF5700"/>
          </a:solidFill>
          <a:ln/>
        </p:spPr>
      </p:sp>
      <p:pic>
        <p:nvPicPr>
          <p:cNvPr id="27" name="Image 2" descr="preencoded.png">    </p:cNvPr>
          <p:cNvPicPr>
            <a:picLocks noChangeAspect="1"/>
          </p:cNvPicPr>
          <p:nvPr/>
        </p:nvPicPr>
        <p:blipFill>
          <a:blip r:embed="rId3"/>
          <a:stretch>
            <a:fillRect/>
          </a:stretch>
        </p:blipFill>
        <p:spPr>
          <a:xfrm>
            <a:off x="4942149" y="2372685"/>
            <a:ext cx="210678" cy="210678"/>
          </a:xfrm>
          <a:prstGeom prst="rect">
            <a:avLst/>
          </a:prstGeom>
        </p:spPr>
      </p:pic>
      <p:sp>
        <p:nvSpPr>
          <p:cNvPr id="28" name="Text 23"/>
          <p:cNvSpPr/>
          <p:nvPr/>
        </p:nvSpPr>
        <p:spPr>
          <a:xfrm>
            <a:off x="4828032" y="2770632"/>
            <a:ext cx="1600200" cy="25603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Subscriptions</a:t>
            </a:r>
            <a:endParaRPr lang="en-US" sz="1300" dirty="0"/>
          </a:p>
        </p:txBody>
      </p:sp>
      <p:sp>
        <p:nvSpPr>
          <p:cNvPr id="29" name="Text 24"/>
          <p:cNvSpPr/>
          <p:nvPr/>
        </p:nvSpPr>
        <p:spPr>
          <a:xfrm>
            <a:off x="4828032" y="3017520"/>
            <a:ext cx="1600200" cy="438912"/>
          </a:xfrm>
          <a:prstGeom prst="rect">
            <a:avLst/>
          </a:prstGeom>
          <a:noFill/>
          <a:ln/>
        </p:spPr>
        <p:txBody>
          <a:bodyPr wrap="square" lIns="0" tIns="0" rIns="0" bIns="0" rtlCol="0" anchor="t"/>
          <a:lstStyle/>
          <a:p>
            <a:pPr indent="0" marL="0">
              <a:buNone/>
            </a:pPr>
            <a:r>
              <a:rPr lang="en-US" sz="1050" dirty="0">
                <a:solidFill>
                  <a:srgbClr val="9AA3B2"/>
                </a:solidFill>
                <a:latin typeface="Arial" pitchFamily="34" charset="0"/>
                <a:ea typeface="Arial" pitchFamily="34" charset="-122"/>
                <a:cs typeface="Arial" pitchFamily="34" charset="-120"/>
              </a:rPr>
              <a:t>Which customers are about to churn</a:t>
            </a:r>
            <a:endParaRPr lang="en-US" sz="1050" dirty="0"/>
          </a:p>
        </p:txBody>
      </p:sp>
      <p:sp>
        <p:nvSpPr>
          <p:cNvPr id="30" name="Shape 25"/>
          <p:cNvSpPr/>
          <p:nvPr/>
        </p:nvSpPr>
        <p:spPr>
          <a:xfrm>
            <a:off x="6720840" y="2103120"/>
            <a:ext cx="1874520" cy="1417320"/>
          </a:xfrm>
          <a:prstGeom prst="roundRect">
            <a:avLst>
              <a:gd name="adj" fmla="val 5161"/>
            </a:avLst>
          </a:prstGeom>
          <a:solidFill>
            <a:srgbClr val="1F242D"/>
          </a:solidFill>
          <a:ln/>
        </p:spPr>
      </p:sp>
      <p:sp>
        <p:nvSpPr>
          <p:cNvPr id="31" name="Shape 26"/>
          <p:cNvSpPr/>
          <p:nvPr/>
        </p:nvSpPr>
        <p:spPr>
          <a:xfrm>
            <a:off x="6885432" y="2258568"/>
            <a:ext cx="438912" cy="438912"/>
          </a:xfrm>
          <a:prstGeom prst="ellipse">
            <a:avLst/>
          </a:prstGeom>
          <a:solidFill>
            <a:srgbClr val="BF5700"/>
          </a:solidFill>
          <a:ln/>
        </p:spPr>
      </p:sp>
      <p:pic>
        <p:nvPicPr>
          <p:cNvPr id="32" name="Image 3" descr="preencoded.png">    </p:cNvPr>
          <p:cNvPicPr>
            <a:picLocks noChangeAspect="1"/>
          </p:cNvPicPr>
          <p:nvPr/>
        </p:nvPicPr>
        <p:blipFill>
          <a:blip r:embed="rId4"/>
          <a:stretch>
            <a:fillRect/>
          </a:stretch>
        </p:blipFill>
        <p:spPr>
          <a:xfrm>
            <a:off x="6999549" y="2372685"/>
            <a:ext cx="210678" cy="210678"/>
          </a:xfrm>
          <a:prstGeom prst="rect">
            <a:avLst/>
          </a:prstGeom>
        </p:spPr>
      </p:pic>
      <p:sp>
        <p:nvSpPr>
          <p:cNvPr id="33" name="Text 27"/>
          <p:cNvSpPr/>
          <p:nvPr/>
        </p:nvSpPr>
        <p:spPr>
          <a:xfrm>
            <a:off x="6885432" y="2770632"/>
            <a:ext cx="1600200" cy="25603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B2B sales</a:t>
            </a:r>
            <a:endParaRPr lang="en-US" sz="1300" dirty="0"/>
          </a:p>
        </p:txBody>
      </p:sp>
      <p:sp>
        <p:nvSpPr>
          <p:cNvPr id="34" name="Text 28"/>
          <p:cNvSpPr/>
          <p:nvPr/>
        </p:nvSpPr>
        <p:spPr>
          <a:xfrm>
            <a:off x="6885432" y="3017520"/>
            <a:ext cx="1600200" cy="438912"/>
          </a:xfrm>
          <a:prstGeom prst="rect">
            <a:avLst/>
          </a:prstGeom>
          <a:noFill/>
          <a:ln/>
        </p:spPr>
        <p:txBody>
          <a:bodyPr wrap="square" lIns="0" tIns="0" rIns="0" bIns="0" rtlCol="0" anchor="t"/>
          <a:lstStyle/>
          <a:p>
            <a:pPr indent="0" marL="0">
              <a:buNone/>
            </a:pPr>
            <a:r>
              <a:rPr lang="en-US" sz="1050" dirty="0">
                <a:solidFill>
                  <a:srgbClr val="9AA3B2"/>
                </a:solidFill>
                <a:latin typeface="Arial" pitchFamily="34" charset="0"/>
                <a:ea typeface="Arial" pitchFamily="34" charset="-122"/>
                <a:cs typeface="Arial" pitchFamily="34" charset="-120"/>
              </a:rPr>
              <a:t>Which deals close this quarter</a:t>
            </a:r>
            <a:endParaRPr lang="en-US" sz="1050" dirty="0"/>
          </a:p>
        </p:txBody>
      </p:sp>
      <p:sp>
        <p:nvSpPr>
          <p:cNvPr id="35" name="Text 29"/>
          <p:cNvSpPr/>
          <p:nvPr/>
        </p:nvSpPr>
        <p:spPr>
          <a:xfrm>
            <a:off x="548640" y="3703320"/>
            <a:ext cx="8046720" cy="50292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Grounded. Reproducible. Reusable.</a:t>
            </a:r>
            <a:endParaRPr lang="en-US" sz="2400" dirty="0"/>
          </a:p>
        </p:txBody>
      </p:sp>
      <p:sp>
        <p:nvSpPr>
          <p:cNvPr id="36" name="Text 30"/>
          <p:cNvSpPr/>
          <p:nvPr/>
        </p:nvSpPr>
        <p:spPr>
          <a:xfrm>
            <a:off x="548640" y="4224528"/>
            <a:ext cx="8046720" cy="292608"/>
          </a:xfrm>
          <a:prstGeom prst="rect">
            <a:avLst/>
          </a:prstGeom>
          <a:noFill/>
          <a:ln/>
        </p:spPr>
        <p:txBody>
          <a:bodyPr wrap="square" lIns="0" tIns="0" rIns="0" bIns="0" rtlCol="0" anchor="ctr"/>
          <a:lstStyle/>
          <a:p>
            <a:pPr indent="0" marL="0">
              <a:buNone/>
            </a:pPr>
            <a:r>
              <a:rPr lang="en-US" sz="1200" dirty="0">
                <a:solidFill>
                  <a:srgbClr val="9AA3B2"/>
                </a:solidFill>
                <a:latin typeface="Arial" pitchFamily="34" charset="0"/>
                <a:ea typeface="Arial" pitchFamily="34" charset="-122"/>
                <a:cs typeface="Arial" pitchFamily="34" charset="-120"/>
              </a:rPr>
              <a:t>Packaged as a </a:t>
            </a:r>
            <a:pPr indent="0" marL="0">
              <a:buNone/>
            </a:pPr>
            <a:r>
              <a:rPr lang="en-US" sz="1200" b="1" dirty="0">
                <a:solidFill>
                  <a:srgbClr val="F07F2A"/>
                </a:solidFill>
                <a:latin typeface="Arial" pitchFamily="34" charset="0"/>
                <a:ea typeface="Arial" pitchFamily="34" charset="-122"/>
                <a:cs typeface="Arial" pitchFamily="34" charset="-120"/>
              </a:rPr>
              <a:t>2-week discovery-to-agent</a:t>
            </a:r>
            <a:pPr indent="0" marL="0">
              <a:buNone/>
            </a:pPr>
            <a:r>
              <a:rPr lang="en-US" sz="1200" dirty="0">
                <a:solidFill>
                  <a:srgbClr val="9AA3B2"/>
                </a:solidFill>
                <a:latin typeface="Arial" pitchFamily="34" charset="0"/>
                <a:ea typeface="Arial" pitchFamily="34" charset="-122"/>
                <a:cs typeface="Arial" pitchFamily="34" charset="-120"/>
              </a:rPr>
              <a:t> engagement for clients already on GCP</a:t>
            </a:r>
            <a:endParaRPr lang="en-US" sz="1200" dirty="0"/>
          </a:p>
        </p:txBody>
      </p:sp>
      <p:sp>
        <p:nvSpPr>
          <p:cNvPr id="37" name="Text 31"/>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8C96A6"/>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161C"/>
        </a:solidFill>
      </p:bgPr>
    </p:bg>
    <p:spTree>
      <p:nvGrpSpPr>
        <p:cNvPr id="1" name=""/>
        <p:cNvGrpSpPr/>
        <p:nvPr/>
      </p:nvGrpSpPr>
      <p:grpSpPr>
        <a:xfrm>
          <a:off x="0" y="0"/>
          <a:ext cx="0" cy="0"/>
          <a:chOff x="0" y="0"/>
          <a:chExt cx="0" cy="0"/>
        </a:xfrm>
      </p:grpSpPr>
      <p:sp>
        <p:nvSpPr>
          <p:cNvPr id="2" name="Text 0"/>
          <p:cNvSpPr/>
          <p:nvPr/>
        </p:nvSpPr>
        <p:spPr>
          <a:xfrm>
            <a:off x="548640" y="1234440"/>
            <a:ext cx="4572000" cy="256032"/>
          </a:xfrm>
          <a:prstGeom prst="rect">
            <a:avLst/>
          </a:prstGeom>
          <a:noFill/>
          <a:ln/>
        </p:spPr>
        <p:txBody>
          <a:bodyPr wrap="square" lIns="0" tIns="0" rIns="0" bIns="0" rtlCol="0" anchor="ctr"/>
          <a:lstStyle/>
          <a:p>
            <a:pPr indent="0" marL="0">
              <a:buNone/>
            </a:pPr>
            <a:r>
              <a:rPr lang="en-US" sz="1000" b="1" spc="200" kern="0" dirty="0">
                <a:solidFill>
                  <a:srgbClr val="F07F2A"/>
                </a:solidFill>
                <a:latin typeface="Arial" pitchFamily="34" charset="0"/>
                <a:ea typeface="Arial" pitchFamily="34" charset="-122"/>
                <a:cs typeface="Arial" pitchFamily="34" charset="-120"/>
              </a:rPr>
              <a:t>APPENDIX</a:t>
            </a:r>
            <a:endParaRPr lang="en-US" sz="1000" dirty="0"/>
          </a:p>
        </p:txBody>
      </p:sp>
      <p:sp>
        <p:nvSpPr>
          <p:cNvPr id="3" name="Text 1"/>
          <p:cNvSpPr/>
          <p:nvPr/>
        </p:nvSpPr>
        <p:spPr>
          <a:xfrm>
            <a:off x="548640" y="1508760"/>
            <a:ext cx="7315200" cy="82296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Backup for Q&amp;A</a:t>
            </a:r>
            <a:endParaRPr lang="en-US" sz="4400" dirty="0"/>
          </a:p>
        </p:txBody>
      </p:sp>
      <p:sp>
        <p:nvSpPr>
          <p:cNvPr id="4" name="Text 2"/>
          <p:cNvSpPr/>
          <p:nvPr/>
        </p:nvSpPr>
        <p:spPr>
          <a:xfrm>
            <a:off x="548640" y="2606040"/>
            <a:ext cx="3657600" cy="1463040"/>
          </a:xfrm>
          <a:prstGeom prst="rect">
            <a:avLst/>
          </a:prstGeom>
          <a:noFill/>
          <a:ln/>
        </p:spPr>
        <p:txBody>
          <a:bodyPr wrap="square" lIns="0" tIns="0" rIns="0" bIns="0" rtlCol="0" anchor="t"/>
          <a:lstStyle/>
          <a:p>
            <a:pPr indent="0" marL="0">
              <a:spcAft>
                <a:spcPts val="600"/>
              </a:spcAft>
              <a:buNone/>
            </a:pPr>
            <a:r>
              <a:rPr lang="en-US" sz="1300" dirty="0">
                <a:solidFill>
                  <a:srgbClr val="9AA3B2"/>
                </a:solidFill>
                <a:latin typeface="Arial" pitchFamily="34" charset="0"/>
                <a:ea typeface="Arial" pitchFamily="34" charset="-122"/>
                <a:cs typeface="Arial" pitchFamily="34" charset="-120"/>
              </a:rPr>
              <a:t>A1  Team: six-station assembly line</a:t>
            </a:r>
            <a:endParaRPr lang="en-US" sz="1300" dirty="0"/>
          </a:p>
          <a:p>
            <a:pPr indent="0" marL="0">
              <a:spcAft>
                <a:spcPts val="600"/>
              </a:spcAft>
              <a:buNone/>
            </a:pPr>
            <a:r>
              <a:rPr lang="en-US" sz="1300" dirty="0">
                <a:solidFill>
                  <a:srgbClr val="9AA3B2"/>
                </a:solidFill>
                <a:latin typeface="Arial" pitchFamily="34" charset="0"/>
                <a:ea typeface="Arial" pitchFamily="34" charset="-122"/>
                <a:cs typeface="Arial" pitchFamily="34" charset="-120"/>
              </a:rPr>
              <a:t>A2  Forecast mechanics</a:t>
            </a:r>
            <a:endParaRPr lang="en-US" sz="1300" dirty="0"/>
          </a:p>
          <a:p>
            <a:pPr indent="0" marL="0">
              <a:spcAft>
                <a:spcPts val="600"/>
              </a:spcAft>
              <a:buNone/>
            </a:pPr>
            <a:r>
              <a:rPr lang="en-US" sz="1300" dirty="0">
                <a:solidFill>
                  <a:srgbClr val="9AA3B2"/>
                </a:solidFill>
                <a:latin typeface="Arial" pitchFamily="34" charset="0"/>
                <a:ea typeface="Arial" pitchFamily="34" charset="-122"/>
                <a:cs typeface="Arial" pitchFamily="34" charset="-120"/>
              </a:rPr>
              <a:t>A3  Architecture detail</a:t>
            </a:r>
            <a:endParaRPr lang="en-US" sz="1300" dirty="0"/>
          </a:p>
          <a:p>
            <a:pPr indent="0" marL="0">
              <a:spcAft>
                <a:spcPts val="600"/>
              </a:spcAft>
              <a:buNone/>
            </a:pPr>
            <a:r>
              <a:rPr lang="en-US" sz="1300" dirty="0">
                <a:solidFill>
                  <a:srgbClr val="9AA3B2"/>
                </a:solidFill>
                <a:latin typeface="Arial" pitchFamily="34" charset="0"/>
                <a:ea typeface="Arial" pitchFamily="34" charset="-122"/>
                <a:cs typeface="Arial" pitchFamily="34" charset="-120"/>
              </a:rPr>
              <a:t>A4  The grounding chain</a:t>
            </a:r>
            <a:endParaRPr lang="en-US" sz="1300" dirty="0"/>
          </a:p>
        </p:txBody>
      </p:sp>
      <p:sp>
        <p:nvSpPr>
          <p:cNvPr id="5" name="Text 3"/>
          <p:cNvSpPr/>
          <p:nvPr/>
        </p:nvSpPr>
        <p:spPr>
          <a:xfrm>
            <a:off x="4389120" y="2606040"/>
            <a:ext cx="3657600" cy="1463040"/>
          </a:xfrm>
          <a:prstGeom prst="rect">
            <a:avLst/>
          </a:prstGeom>
          <a:noFill/>
          <a:ln/>
        </p:spPr>
        <p:txBody>
          <a:bodyPr wrap="square" lIns="0" tIns="0" rIns="0" bIns="0" rtlCol="0" anchor="t"/>
          <a:lstStyle/>
          <a:p>
            <a:pPr indent="0" marL="0">
              <a:spcAft>
                <a:spcPts val="600"/>
              </a:spcAft>
              <a:buNone/>
            </a:pPr>
            <a:r>
              <a:rPr lang="en-US" sz="1300" dirty="0">
                <a:solidFill>
                  <a:srgbClr val="9AA3B2"/>
                </a:solidFill>
                <a:latin typeface="Arial" pitchFamily="34" charset="0"/>
                <a:ea typeface="Arial" pitchFamily="34" charset="-122"/>
                <a:cs typeface="Arial" pitchFamily="34" charset="-120"/>
              </a:rPr>
              <a:t>A5  Agent runtime</a:t>
            </a:r>
            <a:endParaRPr lang="en-US" sz="1300" dirty="0"/>
          </a:p>
          <a:p>
            <a:pPr indent="0" marL="0">
              <a:spcAft>
                <a:spcPts val="600"/>
              </a:spcAft>
              <a:buNone/>
            </a:pPr>
            <a:r>
              <a:rPr lang="en-US" sz="1300" dirty="0">
                <a:solidFill>
                  <a:srgbClr val="9AA3B2"/>
                </a:solidFill>
                <a:latin typeface="Arial" pitchFamily="34" charset="0"/>
                <a:ea typeface="Arial" pitchFamily="34" charset="-122"/>
                <a:cs typeface="Arial" pitchFamily="34" charset="-120"/>
              </a:rPr>
              <a:t>A6  Engineering backbone</a:t>
            </a:r>
            <a:endParaRPr lang="en-US" sz="1300" dirty="0"/>
          </a:p>
          <a:p>
            <a:pPr indent="0" marL="0">
              <a:spcAft>
                <a:spcPts val="600"/>
              </a:spcAft>
              <a:buNone/>
            </a:pPr>
            <a:r>
              <a:rPr lang="en-US" sz="1300" dirty="0">
                <a:solidFill>
                  <a:srgbClr val="9AA3B2"/>
                </a:solidFill>
                <a:latin typeface="Arial" pitchFamily="34" charset="0"/>
                <a:ea typeface="Arial" pitchFamily="34" charset="-122"/>
                <a:cs typeface="Arial" pitchFamily="34" charset="-120"/>
              </a:rPr>
              <a:t>A7  Learning journey, in full</a:t>
            </a:r>
            <a:endParaRPr lang="en-US" sz="1300" dirty="0"/>
          </a:p>
          <a:p>
            <a:pPr indent="0" marL="0">
              <a:spcAft>
                <a:spcPts val="600"/>
              </a:spcAft>
              <a:buNone/>
            </a:pPr>
            <a:r>
              <a:rPr lang="en-US" sz="1300" dirty="0">
                <a:solidFill>
                  <a:srgbClr val="9AA3B2"/>
                </a:solidFill>
                <a:latin typeface="Arial" pitchFamily="34" charset="0"/>
                <a:ea typeface="Arial" pitchFamily="34" charset="-122"/>
                <a:cs typeface="Arial" pitchFamily="34" charset="-120"/>
              </a:rPr>
              <a:t>A8  Assessment matrix</a:t>
            </a:r>
            <a:endParaRPr lang="en-US" sz="1300" dirty="0"/>
          </a:p>
        </p:txBody>
      </p:sp>
      <p:sp>
        <p:nvSpPr>
          <p:cNvPr id="6" name="Text 4"/>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8C96A6"/>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BF5700"/>
                </a:solidFill>
                <a:latin typeface="Arial" pitchFamily="34" charset="0"/>
                <a:ea typeface="Arial" pitchFamily="34" charset="-122"/>
                <a:cs typeface="Arial" pitchFamily="34" charset="-120"/>
              </a:rPr>
              <a:t>A1  ·  TEAM</a:t>
            </a:r>
            <a:endParaRPr lang="en-US" sz="1000" dirty="0"/>
          </a:p>
        </p:txBody>
      </p:sp>
      <p:sp>
        <p:nvSpPr>
          <p:cNvPr id="3" name="Text 1"/>
          <p:cNvSpPr/>
          <p:nvPr/>
        </p:nvSpPr>
        <p:spPr>
          <a:xfrm>
            <a:off x="548640" y="585216"/>
            <a:ext cx="8046720" cy="566928"/>
          </a:xfrm>
          <a:prstGeom prst="rect">
            <a:avLst/>
          </a:prstGeom>
          <a:noFill/>
          <a:ln/>
        </p:spPr>
        <p:txBody>
          <a:bodyPr wrap="square" lIns="0" tIns="0" rIns="0" bIns="0" rtlCol="0" anchor="t"/>
          <a:lstStyle/>
          <a:p>
            <a:pPr indent="0" marL="0">
              <a:buNone/>
            </a:pPr>
            <a:r>
              <a:rPr lang="en-US" sz="2800" b="1" dirty="0">
                <a:solidFill>
                  <a:srgbClr val="13161C"/>
                </a:solidFill>
                <a:latin typeface="Arial" pitchFamily="34" charset="0"/>
                <a:ea typeface="Arial" pitchFamily="34" charset="-122"/>
                <a:cs typeface="Arial" pitchFamily="34" charset="-120"/>
              </a:rPr>
              <a:t>A six-station assembly line</a:t>
            </a:r>
            <a:endParaRPr lang="en-US" sz="2800" dirty="0"/>
          </a:p>
        </p:txBody>
      </p:sp>
      <p:sp>
        <p:nvSpPr>
          <p:cNvPr id="4" name="Text 2"/>
          <p:cNvSpPr/>
          <p:nvPr/>
        </p:nvSpPr>
        <p:spPr>
          <a:xfrm>
            <a:off x="548640" y="1115568"/>
            <a:ext cx="8046720" cy="310896"/>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Each station hands finished BigQuery tables to the next. A hand-off is a pass; the table is the ball.</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8046720" cy="914400"/>
        </p:xfrm>
        <a:graphic>
          <a:graphicData uri="http://schemas.openxmlformats.org/drawingml/2006/table">
            <a:tbl>
              <a:tblPr/>
              <a:tblGrid>
                <a:gridCol w="1463040"/>
                <a:gridCol w="1828800"/>
                <a:gridCol w="4754880"/>
              </a:tblGrid>
              <a:tr h="402336">
                <a:tc>
                  <a:txBody>
                    <a:bodyPr/>
                    <a:lstStyle/>
                    <a:p>
                      <a:pPr indent="0" marL="0">
                        <a:buNone/>
                      </a:pPr>
                      <a:r>
                        <a:rPr lang="en-US" sz="1150" b="1" dirty="0">
                          <a:solidFill>
                            <a:srgbClr val="FFFFFF"/>
                          </a:solidFill>
                          <a:latin typeface="Arial" pitchFamily="34" charset="0"/>
                          <a:ea typeface="Arial" pitchFamily="34" charset="-122"/>
                          <a:cs typeface="Arial" pitchFamily="34" charset="-120"/>
                        </a:rPr>
                        <a:t>Station</a:t>
                      </a:r>
                      <a:endParaRPr lang="en-US" sz="115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3161C"/>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Role</a:t>
                      </a:r>
                      <a:endParaRPr lang="en-US" sz="115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3161C"/>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Produces</a:t>
                      </a:r>
                      <a:endParaRPr lang="en-US" sz="115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3161C"/>
                    </a:solidFill>
                  </a:tcPr>
                </a:tc>
              </a:tr>
              <a:tr h="402336">
                <a:tc>
                  <a:txBody>
                    <a:bodyPr/>
                    <a:lstStyle/>
                    <a:p>
                      <a:pPr indent="0" marL="0">
                        <a:buNone/>
                      </a:pPr>
                      <a:r>
                        <a:rPr lang="en-US" sz="1150" dirty="0">
                          <a:solidFill>
                            <a:srgbClr val="222731"/>
                          </a:solidFill>
                          <a:latin typeface="Arial" pitchFamily="34" charset="0"/>
                          <a:ea typeface="Arial" pitchFamily="34" charset="-122"/>
                          <a:cs typeface="Arial" pitchFamily="34" charset="-120"/>
                        </a:rPr>
                        <a:t>1 · Clean</a:t>
                      </a:r>
                      <a:endParaRPr lang="en-US" sz="115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50" dirty="0">
                          <a:solidFill>
                            <a:srgbClr val="222731"/>
                          </a:solidFill>
                          <a:latin typeface="Arial" pitchFamily="34" charset="0"/>
                          <a:ea typeface="Arial" pitchFamily="34" charset="-122"/>
                          <a:cs typeface="Arial" pitchFamily="34" charset="-120"/>
                        </a:rPr>
                        <a:t>Data Engineer 1</a:t>
                      </a:r>
                      <a:endParaRPr lang="en-US" sz="115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50" dirty="0">
                          <a:solidFill>
                            <a:srgbClr val="222731"/>
                          </a:solidFill>
                          <a:latin typeface="Arial" pitchFamily="34" charset="0"/>
                          <a:ea typeface="Arial" pitchFamily="34" charset="-122"/>
                          <a:cs typeface="Arial" pitchFamily="34" charset="-120"/>
                        </a:rPr>
                        <a:t>Staging views + data-quality checks (stg_, dq_)</a:t>
                      </a:r>
                      <a:endParaRPr lang="en-US" sz="115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222731"/>
                          </a:solidFill>
                          <a:latin typeface="Arial" pitchFamily="34" charset="0"/>
                          <a:ea typeface="Arial" pitchFamily="34" charset="-122"/>
                          <a:cs typeface="Arial" pitchFamily="34" charset="-120"/>
                        </a:rPr>
                        <a:t>2 · Grade</a:t>
                      </a:r>
                      <a:endParaRPr lang="en-US" sz="115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50" dirty="0">
                          <a:solidFill>
                            <a:srgbClr val="222731"/>
                          </a:solidFill>
                          <a:latin typeface="Arial" pitchFamily="34" charset="0"/>
                          <a:ea typeface="Arial" pitchFamily="34" charset="-122"/>
                          <a:cs typeface="Arial" pitchFamily="34" charset="-120"/>
                        </a:rPr>
                        <a:t>Data Engineer 2</a:t>
                      </a:r>
                      <a:endParaRPr lang="en-US" sz="115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50" dirty="0">
                          <a:solidFill>
                            <a:srgbClr val="222731"/>
                          </a:solidFill>
                          <a:latin typeface="Arial" pitchFamily="34" charset="0"/>
                          <a:ea typeface="Arial" pitchFamily="34" charset="-122"/>
                          <a:cs typeface="Arial" pitchFamily="34" charset="-120"/>
                        </a:rPr>
                        <a:t>Team report cards + mart tables (f_, mart_)</a:t>
                      </a:r>
                      <a:endParaRPr lang="en-US" sz="115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222731"/>
                          </a:solidFill>
                          <a:latin typeface="Arial" pitchFamily="34" charset="0"/>
                          <a:ea typeface="Arial" pitchFamily="34" charset="-122"/>
                          <a:cs typeface="Arial" pitchFamily="34" charset="-120"/>
                        </a:rPr>
                        <a:t>3 · Predict</a:t>
                      </a:r>
                      <a:endParaRPr lang="en-US" sz="115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50" dirty="0">
                          <a:solidFill>
                            <a:srgbClr val="222731"/>
                          </a:solidFill>
                          <a:latin typeface="Arial" pitchFamily="34" charset="0"/>
                          <a:ea typeface="Arial" pitchFamily="34" charset="-122"/>
                          <a:cs typeface="Arial" pitchFamily="34" charset="-120"/>
                        </a:rPr>
                        <a:t>Data Scientist 1</a:t>
                      </a:r>
                      <a:endParaRPr lang="en-US" sz="115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50" dirty="0">
                          <a:solidFill>
                            <a:srgbClr val="222731"/>
                          </a:solidFill>
                          <a:latin typeface="Arial" pitchFamily="34" charset="0"/>
                          <a:ea typeface="Arial" pitchFamily="34" charset="-122"/>
                          <a:cs typeface="Arial" pitchFamily="34" charset="-120"/>
                        </a:rPr>
                        <a:t>BQML matchup model + matchup odds (m_, p_)</a:t>
                      </a:r>
                      <a:endParaRPr lang="en-US" sz="115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222731"/>
                          </a:solidFill>
                          <a:latin typeface="Arial" pitchFamily="34" charset="0"/>
                          <a:ea typeface="Arial" pitchFamily="34" charset="-122"/>
                          <a:cs typeface="Arial" pitchFamily="34" charset="-120"/>
                        </a:rPr>
                        <a:t>4 · Simulate</a:t>
                      </a:r>
                      <a:endParaRPr lang="en-US" sz="115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50" dirty="0">
                          <a:solidFill>
                            <a:srgbClr val="222731"/>
                          </a:solidFill>
                          <a:latin typeface="Arial" pitchFamily="34" charset="0"/>
                          <a:ea typeface="Arial" pitchFamily="34" charset="-122"/>
                          <a:cs typeface="Arial" pitchFamily="34" charset="-120"/>
                        </a:rPr>
                        <a:t>Data Scientist 2</a:t>
                      </a:r>
                      <a:endParaRPr lang="en-US" sz="115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50" dirty="0">
                          <a:solidFill>
                            <a:srgbClr val="222731"/>
                          </a:solidFill>
                          <a:latin typeface="Arial" pitchFamily="34" charset="0"/>
                          <a:ea typeface="Arial" pitchFamily="34" charset="-122"/>
                          <a:cs typeface="Arial" pitchFamily="34" charset="-120"/>
                        </a:rPr>
                        <a:t>10,000-run simulation, backtests, projection (sim_, eval_)</a:t>
                      </a:r>
                      <a:endParaRPr lang="en-US" sz="115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222731"/>
                          </a:solidFill>
                          <a:latin typeface="Arial" pitchFamily="34" charset="0"/>
                          <a:ea typeface="Arial" pitchFamily="34" charset="-122"/>
                          <a:cs typeface="Arial" pitchFamily="34" charset="-120"/>
                        </a:rPr>
                        <a:t>5 · Narrate</a:t>
                      </a:r>
                      <a:endParaRPr lang="en-US" sz="115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50" dirty="0">
                          <a:solidFill>
                            <a:srgbClr val="222731"/>
                          </a:solidFill>
                          <a:latin typeface="Arial" pitchFamily="34" charset="0"/>
                          <a:ea typeface="Arial" pitchFamily="34" charset="-122"/>
                          <a:cs typeface="Arial" pitchFamily="34" charset="-120"/>
                        </a:rPr>
                        <a:t>Analytics Engineer</a:t>
                      </a:r>
                      <a:endParaRPr lang="en-US" sz="115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50" dirty="0">
                          <a:solidFill>
                            <a:srgbClr val="222731"/>
                          </a:solidFill>
                          <a:latin typeface="Arial" pitchFamily="34" charset="0"/>
                          <a:ea typeface="Arial" pitchFamily="34" charset="-122"/>
                          <a:cs typeface="Arial" pitchFamily="34" charset="-120"/>
                        </a:rPr>
                        <a:t>AI.GENERATE scouting + Looker dashboard (ai_)</a:t>
                      </a:r>
                      <a:endParaRPr lang="en-US" sz="115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222731"/>
                          </a:solidFill>
                          <a:latin typeface="Arial" pitchFamily="34" charset="0"/>
                          <a:ea typeface="Arial" pitchFamily="34" charset="-122"/>
                          <a:cs typeface="Arial" pitchFamily="34" charset="-120"/>
                        </a:rPr>
                        <a:t>6 · Answer</a:t>
                      </a:r>
                      <a:endParaRPr lang="en-US" sz="115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50" dirty="0">
                          <a:solidFill>
                            <a:srgbClr val="222731"/>
                          </a:solidFill>
                          <a:latin typeface="Arial" pitchFamily="34" charset="0"/>
                          <a:ea typeface="Arial" pitchFamily="34" charset="-122"/>
                          <a:cs typeface="Arial" pitchFamily="34" charset="-120"/>
                        </a:rPr>
                        <a:t>Team Captain</a:t>
                      </a:r>
                      <a:endParaRPr lang="en-US" sz="115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50" dirty="0">
                          <a:solidFill>
                            <a:srgbClr val="222731"/>
                          </a:solidFill>
                          <a:latin typeface="Arial" pitchFamily="34" charset="0"/>
                          <a:ea typeface="Arial" pitchFamily="34" charset="-122"/>
                          <a:cs typeface="Arial" pitchFamily="34" charset="-120"/>
                        </a:rPr>
                        <a:t>Front Office Analyst agent + the pitch</a:t>
                      </a:r>
                      <a:endParaRPr lang="en-US" sz="115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r>
            </a:tbl>
          </a:graphicData>
        </a:graphic>
      </p:graphicFrame>
      <p:sp>
        <p:nvSpPr>
          <p:cNvPr id="6" name="Text 3"/>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BF5700"/>
                </a:solidFill>
                <a:latin typeface="Arial" pitchFamily="34" charset="0"/>
                <a:ea typeface="Arial" pitchFamily="34" charset="-122"/>
                <a:cs typeface="Arial" pitchFamily="34" charset="-120"/>
              </a:rPr>
              <a:t>A2  ·  FORECAST MECHANICS</a:t>
            </a:r>
            <a:endParaRPr lang="en-US" sz="1000" dirty="0"/>
          </a:p>
        </p:txBody>
      </p:sp>
      <p:sp>
        <p:nvSpPr>
          <p:cNvPr id="3" name="Text 1"/>
          <p:cNvSpPr/>
          <p:nvPr/>
        </p:nvSpPr>
        <p:spPr>
          <a:xfrm>
            <a:off x="548640" y="585216"/>
            <a:ext cx="8046720" cy="566928"/>
          </a:xfrm>
          <a:prstGeom prst="rect">
            <a:avLst/>
          </a:prstGeom>
          <a:noFill/>
          <a:ln/>
        </p:spPr>
        <p:txBody>
          <a:bodyPr wrap="square" lIns="0" tIns="0" rIns="0" bIns="0" rtlCol="0" anchor="t"/>
          <a:lstStyle/>
          <a:p>
            <a:pPr indent="0" marL="0">
              <a:buNone/>
            </a:pPr>
            <a:r>
              <a:rPr lang="en-US" sz="2800" b="1" dirty="0">
                <a:solidFill>
                  <a:srgbClr val="13161C"/>
                </a:solidFill>
                <a:latin typeface="Arial" pitchFamily="34" charset="0"/>
                <a:ea typeface="Arial" pitchFamily="34" charset="-122"/>
                <a:cs typeface="Arial" pitchFamily="34" charset="-120"/>
              </a:rPr>
              <a:t>Matchup model → simulation → backtest</a:t>
            </a:r>
            <a:endParaRPr lang="en-US" sz="2800" dirty="0"/>
          </a:p>
        </p:txBody>
      </p:sp>
      <p:sp>
        <p:nvSpPr>
          <p:cNvPr id="4" name="Shape 2"/>
          <p:cNvSpPr/>
          <p:nvPr/>
        </p:nvSpPr>
        <p:spPr>
          <a:xfrm>
            <a:off x="548640" y="1371600"/>
            <a:ext cx="2560320" cy="3200400"/>
          </a:xfrm>
          <a:prstGeom prst="roundRect">
            <a:avLst>
              <a:gd name="adj" fmla="val 2857"/>
            </a:avLst>
          </a:prstGeom>
          <a:solidFill>
            <a:srgbClr val="F3F4F6"/>
          </a:solidFill>
          <a:ln/>
        </p:spPr>
      </p:sp>
      <p:sp>
        <p:nvSpPr>
          <p:cNvPr id="5" name="Shape 3"/>
          <p:cNvSpPr/>
          <p:nvPr/>
        </p:nvSpPr>
        <p:spPr>
          <a:xfrm>
            <a:off x="731520" y="1554480"/>
            <a:ext cx="457200" cy="457200"/>
          </a:xfrm>
          <a:prstGeom prst="ellipse">
            <a:avLst/>
          </a:prstGeom>
          <a:solidFill>
            <a:srgbClr val="BF5700"/>
          </a:solidFill>
          <a:ln/>
        </p:spPr>
      </p:sp>
      <p:pic>
        <p:nvPicPr>
          <p:cNvPr id="6" name="Image 0" descr="preencoded.png">    </p:cNvPr>
          <p:cNvPicPr>
            <a:picLocks noChangeAspect="1"/>
          </p:cNvPicPr>
          <p:nvPr/>
        </p:nvPicPr>
        <p:blipFill>
          <a:blip r:embed="rId1"/>
          <a:stretch>
            <a:fillRect/>
          </a:stretch>
        </p:blipFill>
        <p:spPr>
          <a:xfrm>
            <a:off x="850392" y="1673352"/>
            <a:ext cx="219456" cy="219456"/>
          </a:xfrm>
          <a:prstGeom prst="rect">
            <a:avLst/>
          </a:prstGeom>
        </p:spPr>
      </p:pic>
      <p:sp>
        <p:nvSpPr>
          <p:cNvPr id="7" name="Text 4"/>
          <p:cNvSpPr/>
          <p:nvPr/>
        </p:nvSpPr>
        <p:spPr>
          <a:xfrm>
            <a:off x="731520" y="2103120"/>
            <a:ext cx="2194560" cy="292608"/>
          </a:xfrm>
          <a:prstGeom prst="rect">
            <a:avLst/>
          </a:prstGeom>
          <a:noFill/>
          <a:ln/>
        </p:spPr>
        <p:txBody>
          <a:bodyPr wrap="square" lIns="0" tIns="0" rIns="0" bIns="0" rtlCol="0" anchor="ctr"/>
          <a:lstStyle/>
          <a:p>
            <a:pPr indent="0" marL="0">
              <a:buNone/>
            </a:pPr>
            <a:r>
              <a:rPr lang="en-US" sz="1500" b="1" dirty="0">
                <a:solidFill>
                  <a:srgbClr val="13161C"/>
                </a:solidFill>
                <a:latin typeface="Arial" pitchFamily="34" charset="0"/>
                <a:ea typeface="Arial" pitchFamily="34" charset="-122"/>
                <a:cs typeface="Arial" pitchFamily="34" charset="-120"/>
              </a:rPr>
              <a:t>Predict one game</a:t>
            </a:r>
            <a:endParaRPr lang="en-US" sz="1500" dirty="0"/>
          </a:p>
        </p:txBody>
      </p:sp>
      <p:sp>
        <p:nvSpPr>
          <p:cNvPr id="8" name="Text 5"/>
          <p:cNvSpPr/>
          <p:nvPr/>
        </p:nvSpPr>
        <p:spPr>
          <a:xfrm>
            <a:off x="731520" y="2395728"/>
            <a:ext cx="2194560" cy="219456"/>
          </a:xfrm>
          <a:prstGeom prst="rect">
            <a:avLst/>
          </a:prstGeom>
          <a:noFill/>
          <a:ln/>
        </p:spPr>
        <p:txBody>
          <a:bodyPr wrap="square" lIns="0" tIns="0" rIns="0" bIns="0" rtlCol="0" anchor="ctr"/>
          <a:lstStyle/>
          <a:p>
            <a:pPr indent="0" marL="0">
              <a:buNone/>
            </a:pPr>
            <a:r>
              <a:rPr lang="en-US" sz="900" b="1" spc="100" kern="0" dirty="0">
                <a:solidFill>
                  <a:srgbClr val="BF5700"/>
                </a:solidFill>
                <a:latin typeface="Arial" pitchFamily="34" charset="0"/>
                <a:ea typeface="Arial" pitchFamily="34" charset="-122"/>
                <a:cs typeface="Arial" pitchFamily="34" charset="-120"/>
              </a:rPr>
              <a:t>BQML · STATION 3</a:t>
            </a:r>
            <a:endParaRPr lang="en-US" sz="900" dirty="0"/>
          </a:p>
        </p:txBody>
      </p:sp>
      <p:sp>
        <p:nvSpPr>
          <p:cNvPr id="9" name="Text 6"/>
          <p:cNvSpPr/>
          <p:nvPr/>
        </p:nvSpPr>
        <p:spPr>
          <a:xfrm>
            <a:off x="731520" y="2697480"/>
            <a:ext cx="2240280" cy="178308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Walk-forward: P(A beats B) on a neutral court; seeds never enter</a:t>
            </a:r>
            <a:endParaRPr lang="en-US" sz="1100" dirty="0"/>
          </a:p>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Logistic regression chosen over boosted tree (log loss 0.524 vs 0.537)</a:t>
            </a:r>
            <a:endParaRPr lang="en-US" sz="1100" dirty="0"/>
          </a:p>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The 2018-19 forecast uses the ratings-only version (0.526)</a:t>
            </a:r>
            <a:endParaRPr lang="en-US" sz="1100" dirty="0"/>
          </a:p>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ML.EXPLAIN_PREDICT gives each team's top 3 drivers</a:t>
            </a:r>
            <a:endParaRPr lang="en-US" sz="1100" dirty="0"/>
          </a:p>
        </p:txBody>
      </p:sp>
      <p:sp>
        <p:nvSpPr>
          <p:cNvPr id="10" name="Shape 7"/>
          <p:cNvSpPr/>
          <p:nvPr/>
        </p:nvSpPr>
        <p:spPr>
          <a:xfrm>
            <a:off x="3291840" y="1371600"/>
            <a:ext cx="2560320" cy="3200400"/>
          </a:xfrm>
          <a:prstGeom prst="roundRect">
            <a:avLst>
              <a:gd name="adj" fmla="val 2857"/>
            </a:avLst>
          </a:prstGeom>
          <a:solidFill>
            <a:srgbClr val="F3F4F6"/>
          </a:solidFill>
          <a:ln/>
        </p:spPr>
      </p:sp>
      <p:sp>
        <p:nvSpPr>
          <p:cNvPr id="11" name="Shape 8"/>
          <p:cNvSpPr/>
          <p:nvPr/>
        </p:nvSpPr>
        <p:spPr>
          <a:xfrm>
            <a:off x="3474720" y="1554480"/>
            <a:ext cx="457200" cy="457200"/>
          </a:xfrm>
          <a:prstGeom prst="ellipse">
            <a:avLst/>
          </a:prstGeom>
          <a:solidFill>
            <a:srgbClr val="BF5700"/>
          </a:solidFill>
          <a:ln/>
        </p:spPr>
      </p:sp>
      <p:pic>
        <p:nvPicPr>
          <p:cNvPr id="12" name="Image 1" descr="preencoded.png">    </p:cNvPr>
          <p:cNvPicPr>
            <a:picLocks noChangeAspect="1"/>
          </p:cNvPicPr>
          <p:nvPr/>
        </p:nvPicPr>
        <p:blipFill>
          <a:blip r:embed="rId2"/>
          <a:stretch>
            <a:fillRect/>
          </a:stretch>
        </p:blipFill>
        <p:spPr>
          <a:xfrm>
            <a:off x="3593592" y="1673352"/>
            <a:ext cx="219456" cy="219456"/>
          </a:xfrm>
          <a:prstGeom prst="rect">
            <a:avLst/>
          </a:prstGeom>
        </p:spPr>
      </p:pic>
      <p:sp>
        <p:nvSpPr>
          <p:cNvPr id="13" name="Text 9"/>
          <p:cNvSpPr/>
          <p:nvPr/>
        </p:nvSpPr>
        <p:spPr>
          <a:xfrm>
            <a:off x="3474720" y="2103120"/>
            <a:ext cx="2194560" cy="292608"/>
          </a:xfrm>
          <a:prstGeom prst="rect">
            <a:avLst/>
          </a:prstGeom>
          <a:noFill/>
          <a:ln/>
        </p:spPr>
        <p:txBody>
          <a:bodyPr wrap="square" lIns="0" tIns="0" rIns="0" bIns="0" rtlCol="0" anchor="ctr"/>
          <a:lstStyle/>
          <a:p>
            <a:pPr indent="0" marL="0">
              <a:buNone/>
            </a:pPr>
            <a:r>
              <a:rPr lang="en-US" sz="1500" b="1" dirty="0">
                <a:solidFill>
                  <a:srgbClr val="13161C"/>
                </a:solidFill>
                <a:latin typeface="Arial" pitchFamily="34" charset="0"/>
                <a:ea typeface="Arial" pitchFamily="34" charset="-122"/>
                <a:cs typeface="Arial" pitchFamily="34" charset="-120"/>
              </a:rPr>
              <a:t>Play it 10,000×</a:t>
            </a:r>
            <a:endParaRPr lang="en-US" sz="1500" dirty="0"/>
          </a:p>
        </p:txBody>
      </p:sp>
      <p:sp>
        <p:nvSpPr>
          <p:cNvPr id="14" name="Text 10"/>
          <p:cNvSpPr/>
          <p:nvPr/>
        </p:nvSpPr>
        <p:spPr>
          <a:xfrm>
            <a:off x="3474720" y="2395728"/>
            <a:ext cx="2194560" cy="219456"/>
          </a:xfrm>
          <a:prstGeom prst="rect">
            <a:avLst/>
          </a:prstGeom>
          <a:noFill/>
          <a:ln/>
        </p:spPr>
        <p:txBody>
          <a:bodyPr wrap="square" lIns="0" tIns="0" rIns="0" bIns="0" rtlCol="0" anchor="ctr"/>
          <a:lstStyle/>
          <a:p>
            <a:pPr indent="0" marL="0">
              <a:buNone/>
            </a:pPr>
            <a:r>
              <a:rPr lang="en-US" sz="900" b="1" spc="100" kern="0" dirty="0">
                <a:solidFill>
                  <a:srgbClr val="BF5700"/>
                </a:solidFill>
                <a:latin typeface="Arial" pitchFamily="34" charset="0"/>
                <a:ea typeface="Arial" pitchFamily="34" charset="-122"/>
                <a:cs typeface="Arial" pitchFamily="34" charset="-120"/>
              </a:rPr>
              <a:t>PROJECTION + SIMULATION</a:t>
            </a:r>
            <a:endParaRPr lang="en-US" sz="900" dirty="0"/>
          </a:p>
        </p:txBody>
      </p:sp>
      <p:sp>
        <p:nvSpPr>
          <p:cNvPr id="15" name="Text 11"/>
          <p:cNvSpPr/>
          <p:nvPr/>
        </p:nvSpPr>
        <p:spPr>
          <a:xfrm>
            <a:off x="3474720" y="2697480"/>
            <a:ext cx="2240280" cy="178308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Projected ratings beat carry-forward (RMSE 6.49 vs 7.63)</a:t>
            </a:r>
            <a:endParaRPr lang="en-US" sz="1100" dirty="0"/>
          </a:p>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Build a projected field of 68 and its bracket</a:t>
            </a:r>
            <a:endParaRPr lang="en-US" sz="1100" dirty="0"/>
          </a:p>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One SQL model: 10,000 brackets × 67 games, seeded</a:t>
            </a:r>
            <a:endParaRPr lang="en-US" sz="1100" dirty="0"/>
          </a:p>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Count how often each team wins each round</a:t>
            </a:r>
            <a:endParaRPr lang="en-US" sz="1100" dirty="0"/>
          </a:p>
        </p:txBody>
      </p:sp>
      <p:sp>
        <p:nvSpPr>
          <p:cNvPr id="16" name="Shape 12"/>
          <p:cNvSpPr/>
          <p:nvPr/>
        </p:nvSpPr>
        <p:spPr>
          <a:xfrm>
            <a:off x="6035040" y="1371600"/>
            <a:ext cx="2560320" cy="3200400"/>
          </a:xfrm>
          <a:prstGeom prst="roundRect">
            <a:avLst>
              <a:gd name="adj" fmla="val 2857"/>
            </a:avLst>
          </a:prstGeom>
          <a:solidFill>
            <a:srgbClr val="F3F4F6"/>
          </a:solidFill>
          <a:ln/>
        </p:spPr>
      </p:sp>
      <p:sp>
        <p:nvSpPr>
          <p:cNvPr id="17" name="Shape 13"/>
          <p:cNvSpPr/>
          <p:nvPr/>
        </p:nvSpPr>
        <p:spPr>
          <a:xfrm>
            <a:off x="6217920" y="1554480"/>
            <a:ext cx="457200" cy="457200"/>
          </a:xfrm>
          <a:prstGeom prst="ellipse">
            <a:avLst/>
          </a:prstGeom>
          <a:solidFill>
            <a:srgbClr val="BF5700"/>
          </a:solidFill>
          <a:ln/>
        </p:spPr>
      </p:sp>
      <p:pic>
        <p:nvPicPr>
          <p:cNvPr id="18" name="Image 2" descr="preencoded.png">    </p:cNvPr>
          <p:cNvPicPr>
            <a:picLocks noChangeAspect="1"/>
          </p:cNvPicPr>
          <p:nvPr/>
        </p:nvPicPr>
        <p:blipFill>
          <a:blip r:embed="rId3"/>
          <a:stretch>
            <a:fillRect/>
          </a:stretch>
        </p:blipFill>
        <p:spPr>
          <a:xfrm>
            <a:off x="6336792" y="1673352"/>
            <a:ext cx="219456" cy="219456"/>
          </a:xfrm>
          <a:prstGeom prst="rect">
            <a:avLst/>
          </a:prstGeom>
        </p:spPr>
      </p:pic>
      <p:sp>
        <p:nvSpPr>
          <p:cNvPr id="19" name="Text 14"/>
          <p:cNvSpPr/>
          <p:nvPr/>
        </p:nvSpPr>
        <p:spPr>
          <a:xfrm>
            <a:off x="6217920" y="2103120"/>
            <a:ext cx="2194560" cy="292608"/>
          </a:xfrm>
          <a:prstGeom prst="rect">
            <a:avLst/>
          </a:prstGeom>
          <a:noFill/>
          <a:ln/>
        </p:spPr>
        <p:txBody>
          <a:bodyPr wrap="square" lIns="0" tIns="0" rIns="0" bIns="0" rtlCol="0" anchor="ctr"/>
          <a:lstStyle/>
          <a:p>
            <a:pPr indent="0" marL="0">
              <a:buNone/>
            </a:pPr>
            <a:r>
              <a:rPr lang="en-US" sz="1500" b="1" dirty="0">
                <a:solidFill>
                  <a:srgbClr val="13161C"/>
                </a:solidFill>
                <a:latin typeface="Arial" pitchFamily="34" charset="0"/>
                <a:ea typeface="Arial" pitchFamily="34" charset="-122"/>
                <a:cs typeface="Arial" pitchFamily="34" charset="-120"/>
              </a:rPr>
              <a:t>Prove it works</a:t>
            </a:r>
            <a:endParaRPr lang="en-US" sz="1500" dirty="0"/>
          </a:p>
        </p:txBody>
      </p:sp>
      <p:sp>
        <p:nvSpPr>
          <p:cNvPr id="20" name="Text 15"/>
          <p:cNvSpPr/>
          <p:nvPr/>
        </p:nvSpPr>
        <p:spPr>
          <a:xfrm>
            <a:off x="6217920" y="2395728"/>
            <a:ext cx="2194560" cy="219456"/>
          </a:xfrm>
          <a:prstGeom prst="rect">
            <a:avLst/>
          </a:prstGeom>
          <a:noFill/>
          <a:ln/>
        </p:spPr>
        <p:txBody>
          <a:bodyPr wrap="square" lIns="0" tIns="0" rIns="0" bIns="0" rtlCol="0" anchor="ctr"/>
          <a:lstStyle/>
          <a:p>
            <a:pPr indent="0" marL="0">
              <a:buNone/>
            </a:pPr>
            <a:r>
              <a:rPr lang="en-US" sz="900" b="1" spc="100" kern="0" dirty="0">
                <a:solidFill>
                  <a:srgbClr val="BF5700"/>
                </a:solidFill>
                <a:latin typeface="Arial" pitchFamily="34" charset="0"/>
                <a:ea typeface="Arial" pitchFamily="34" charset="-122"/>
                <a:cs typeface="Arial" pitchFamily="34" charset="-120"/>
              </a:rPr>
              <a:t>BACKTEST · STATION 4</a:t>
            </a:r>
            <a:endParaRPr lang="en-US" sz="900" dirty="0"/>
          </a:p>
        </p:txBody>
      </p:sp>
      <p:sp>
        <p:nvSpPr>
          <p:cNvPr id="21" name="Text 16"/>
          <p:cNvSpPr/>
          <p:nvPr/>
        </p:nvSpPr>
        <p:spPr>
          <a:xfrm>
            <a:off x="6217920" y="2697480"/>
            <a:ext cx="2240280" cy="178308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Replay March 2015–2018; train only on earlier games</a:t>
            </a:r>
            <a:endParaRPr lang="en-US" sz="1100" dirty="0"/>
          </a:p>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Beat seed + record baselines all 3 core years</a:t>
            </a:r>
            <a:endParaRPr lang="en-US" sz="1100" dirty="0"/>
          </a:p>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Seed baseline 2015–2017 only (no 2018 seeds)</a:t>
            </a:r>
            <a:endParaRPr lang="en-US" sz="1100" dirty="0"/>
          </a:p>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Boosted tree won 2018, but the choice uses core years only</a:t>
            </a:r>
            <a:endParaRPr lang="en-US" sz="1100" dirty="0"/>
          </a:p>
        </p:txBody>
      </p:sp>
      <p:sp>
        <p:nvSpPr>
          <p:cNvPr id="22" name="Text 17"/>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BF5700"/>
                </a:solidFill>
                <a:latin typeface="Arial" pitchFamily="34" charset="0"/>
                <a:ea typeface="Arial" pitchFamily="34" charset="-122"/>
                <a:cs typeface="Arial" pitchFamily="34" charset="-120"/>
              </a:rPr>
              <a:t>A3  ·  ARCHITECTURE DETAIL</a:t>
            </a:r>
            <a:endParaRPr lang="en-US" sz="1000" dirty="0"/>
          </a:p>
        </p:txBody>
      </p:sp>
      <p:sp>
        <p:nvSpPr>
          <p:cNvPr id="3" name="Text 1"/>
          <p:cNvSpPr/>
          <p:nvPr/>
        </p:nvSpPr>
        <p:spPr>
          <a:xfrm>
            <a:off x="548640" y="585216"/>
            <a:ext cx="8046720" cy="566928"/>
          </a:xfrm>
          <a:prstGeom prst="rect">
            <a:avLst/>
          </a:prstGeom>
          <a:noFill/>
          <a:ln/>
        </p:spPr>
        <p:txBody>
          <a:bodyPr wrap="square" lIns="0" tIns="0" rIns="0" bIns="0" rtlCol="0" anchor="t"/>
          <a:lstStyle/>
          <a:p>
            <a:pPr indent="0" marL="0">
              <a:buNone/>
            </a:pPr>
            <a:r>
              <a:rPr lang="en-US" sz="2800" b="1" dirty="0">
                <a:solidFill>
                  <a:srgbClr val="13161C"/>
                </a:solidFill>
                <a:latin typeface="Arial" pitchFamily="34" charset="0"/>
                <a:ea typeface="Arial" pitchFamily="34" charset="-122"/>
                <a:cs typeface="Arial" pitchFamily="34" charset="-120"/>
              </a:rPr>
              <a:t>End-to-end agentic solution (target state)</a:t>
            </a:r>
            <a:endParaRPr lang="en-US" sz="2800" dirty="0"/>
          </a:p>
        </p:txBody>
      </p:sp>
      <p:pic>
        <p:nvPicPr>
          <p:cNvPr id="4" name="Image 0" descr="/Users/samson/hackanton_2026/docs/diagrams/hi/1-end-to-end-architecture.png">    </p:cNvPr>
          <p:cNvPicPr>
            <a:picLocks noChangeAspect="1"/>
          </p:cNvPicPr>
          <p:nvPr/>
        </p:nvPicPr>
        <p:blipFill>
          <a:blip r:embed="rId1"/>
          <a:stretch>
            <a:fillRect/>
          </a:stretch>
        </p:blipFill>
        <p:spPr>
          <a:xfrm>
            <a:off x="457200" y="1234440"/>
            <a:ext cx="5238957" cy="3657600"/>
          </a:xfrm>
          <a:prstGeom prst="rect">
            <a:avLst/>
          </a:prstGeom>
        </p:spPr>
      </p:pic>
      <p:sp>
        <p:nvSpPr>
          <p:cNvPr id="5" name="Shape 2"/>
          <p:cNvSpPr/>
          <p:nvPr/>
        </p:nvSpPr>
        <p:spPr>
          <a:xfrm>
            <a:off x="5806440" y="1280160"/>
            <a:ext cx="310896" cy="310896"/>
          </a:xfrm>
          <a:prstGeom prst="ellipse">
            <a:avLst/>
          </a:prstGeom>
          <a:solidFill>
            <a:srgbClr val="BF5700"/>
          </a:solidFill>
          <a:ln/>
        </p:spPr>
      </p:sp>
      <p:sp>
        <p:nvSpPr>
          <p:cNvPr id="6" name="Text 3"/>
          <p:cNvSpPr/>
          <p:nvPr/>
        </p:nvSpPr>
        <p:spPr>
          <a:xfrm>
            <a:off x="5806440" y="12801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7" name="Text 4"/>
          <p:cNvSpPr/>
          <p:nvPr/>
        </p:nvSpPr>
        <p:spPr>
          <a:xfrm>
            <a:off x="6236208" y="1234440"/>
            <a:ext cx="2377440" cy="457200"/>
          </a:xfrm>
          <a:prstGeom prst="rect">
            <a:avLst/>
          </a:prstGeom>
          <a:noFill/>
          <a:ln/>
        </p:spPr>
        <p:txBody>
          <a:bodyPr wrap="square" lIns="0" tIns="0" rIns="0" bIns="0" rtlCol="0" anchor="t"/>
          <a:lstStyle/>
          <a:p>
            <a:pPr indent="0" marL="0">
              <a:buNone/>
            </a:pPr>
            <a:r>
              <a:rPr lang="en-US" sz="1100" b="1" dirty="0">
                <a:solidFill>
                  <a:srgbClr val="13161C"/>
                </a:solidFill>
                <a:latin typeface="Arial" pitchFamily="34" charset="0"/>
                <a:ea typeface="Arial" pitchFamily="34" charset="-122"/>
                <a:cs typeface="Arial" pitchFamily="34" charset="-120"/>
              </a:rPr>
              <a:t>User query</a:t>
            </a:r>
            <a:endParaRPr lang="en-US" sz="1100" dirty="0"/>
          </a:p>
          <a:p>
            <a:pPr indent="0" marL="0">
              <a:buNone/>
            </a:pPr>
            <a:r>
              <a:rPr lang="en-US" sz="950" dirty="0">
                <a:solidFill>
                  <a:srgbClr val="6B7280"/>
                </a:solidFill>
                <a:latin typeface="Arial" pitchFamily="34" charset="0"/>
                <a:ea typeface="Arial" pitchFamily="34" charset="-122"/>
                <a:cs typeface="Arial" pitchFamily="34" charset="-120"/>
              </a:rPr>
              <a:t>prompt submitted to Gemini</a:t>
            </a:r>
            <a:endParaRPr lang="en-US" sz="1100" dirty="0"/>
          </a:p>
        </p:txBody>
      </p:sp>
      <p:sp>
        <p:nvSpPr>
          <p:cNvPr id="8" name="Shape 5"/>
          <p:cNvSpPr/>
          <p:nvPr/>
        </p:nvSpPr>
        <p:spPr>
          <a:xfrm>
            <a:off x="5806440" y="1865376"/>
            <a:ext cx="310896" cy="310896"/>
          </a:xfrm>
          <a:prstGeom prst="ellipse">
            <a:avLst/>
          </a:prstGeom>
          <a:solidFill>
            <a:srgbClr val="BF5700"/>
          </a:solidFill>
          <a:ln/>
        </p:spPr>
      </p:sp>
      <p:sp>
        <p:nvSpPr>
          <p:cNvPr id="9" name="Text 6"/>
          <p:cNvSpPr/>
          <p:nvPr/>
        </p:nvSpPr>
        <p:spPr>
          <a:xfrm>
            <a:off x="5806440" y="186537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0" name="Text 7"/>
          <p:cNvSpPr/>
          <p:nvPr/>
        </p:nvSpPr>
        <p:spPr>
          <a:xfrm>
            <a:off x="6236208" y="1819656"/>
            <a:ext cx="2377440" cy="457200"/>
          </a:xfrm>
          <a:prstGeom prst="rect">
            <a:avLst/>
          </a:prstGeom>
          <a:noFill/>
          <a:ln/>
        </p:spPr>
        <p:txBody>
          <a:bodyPr wrap="square" lIns="0" tIns="0" rIns="0" bIns="0" rtlCol="0" anchor="t"/>
          <a:lstStyle/>
          <a:p>
            <a:pPr indent="0" marL="0">
              <a:buNone/>
            </a:pPr>
            <a:r>
              <a:rPr lang="en-US" sz="1100" b="1" dirty="0">
                <a:solidFill>
                  <a:srgbClr val="13161C"/>
                </a:solidFill>
                <a:latin typeface="Arial" pitchFamily="34" charset="0"/>
                <a:ea typeface="Arial" pitchFamily="34" charset="-122"/>
                <a:cs typeface="Arial" pitchFamily="34" charset="-120"/>
              </a:rPr>
              <a:t>Agent handoff</a:t>
            </a:r>
            <a:endParaRPr lang="en-US" sz="1100" dirty="0"/>
          </a:p>
          <a:p>
            <a:pPr indent="0" marL="0">
              <a:buNone/>
            </a:pPr>
            <a:r>
              <a:rPr lang="en-US" sz="950" dirty="0">
                <a:solidFill>
                  <a:srgbClr val="6B7280"/>
                </a:solidFill>
                <a:latin typeface="Arial" pitchFamily="34" charset="0"/>
                <a:ea typeface="Arial" pitchFamily="34" charset="-122"/>
                <a:cs typeface="Arial" pitchFamily="34" charset="-120"/>
              </a:rPr>
              <a:t>delegated to the BigQuery Data Agent</a:t>
            </a:r>
            <a:endParaRPr lang="en-US" sz="1100" dirty="0"/>
          </a:p>
        </p:txBody>
      </p:sp>
      <p:sp>
        <p:nvSpPr>
          <p:cNvPr id="11" name="Shape 8"/>
          <p:cNvSpPr/>
          <p:nvPr/>
        </p:nvSpPr>
        <p:spPr>
          <a:xfrm>
            <a:off x="5806440" y="2450592"/>
            <a:ext cx="310896" cy="310896"/>
          </a:xfrm>
          <a:prstGeom prst="ellipse">
            <a:avLst/>
          </a:prstGeom>
          <a:solidFill>
            <a:srgbClr val="BF5700"/>
          </a:solidFill>
          <a:ln/>
        </p:spPr>
      </p:sp>
      <p:sp>
        <p:nvSpPr>
          <p:cNvPr id="12" name="Text 9"/>
          <p:cNvSpPr/>
          <p:nvPr/>
        </p:nvSpPr>
        <p:spPr>
          <a:xfrm>
            <a:off x="5806440" y="24505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3" name="Text 10"/>
          <p:cNvSpPr/>
          <p:nvPr/>
        </p:nvSpPr>
        <p:spPr>
          <a:xfrm>
            <a:off x="6236208" y="2404872"/>
            <a:ext cx="2377440" cy="457200"/>
          </a:xfrm>
          <a:prstGeom prst="rect">
            <a:avLst/>
          </a:prstGeom>
          <a:noFill/>
          <a:ln/>
        </p:spPr>
        <p:txBody>
          <a:bodyPr wrap="square" lIns="0" tIns="0" rIns="0" bIns="0" rtlCol="0" anchor="t"/>
          <a:lstStyle/>
          <a:p>
            <a:pPr indent="0" marL="0">
              <a:buNone/>
            </a:pPr>
            <a:r>
              <a:rPr lang="en-US" sz="1100" b="1" dirty="0">
                <a:solidFill>
                  <a:srgbClr val="13161C"/>
                </a:solidFill>
                <a:latin typeface="Arial" pitchFamily="34" charset="0"/>
                <a:ea typeface="Arial" pitchFamily="34" charset="-122"/>
                <a:cs typeface="Arial" pitchFamily="34" charset="-120"/>
              </a:rPr>
              <a:t>NL → SQL</a:t>
            </a:r>
            <a:endParaRPr lang="en-US" sz="1100" dirty="0"/>
          </a:p>
          <a:p>
            <a:pPr indent="0" marL="0">
              <a:buNone/>
            </a:pPr>
            <a:r>
              <a:rPr lang="en-US" sz="950" dirty="0">
                <a:solidFill>
                  <a:srgbClr val="6B7280"/>
                </a:solidFill>
                <a:latin typeface="Arial" pitchFamily="34" charset="0"/>
                <a:ea typeface="Arial" pitchFamily="34" charset="-122"/>
                <a:cs typeface="Arial" pitchFamily="34" charset="-120"/>
              </a:rPr>
              <a:t>natural language becomes SQL</a:t>
            </a:r>
            <a:endParaRPr lang="en-US" sz="1100" dirty="0"/>
          </a:p>
        </p:txBody>
      </p:sp>
      <p:sp>
        <p:nvSpPr>
          <p:cNvPr id="14" name="Shape 11"/>
          <p:cNvSpPr/>
          <p:nvPr/>
        </p:nvSpPr>
        <p:spPr>
          <a:xfrm>
            <a:off x="5806440" y="3035808"/>
            <a:ext cx="310896" cy="310896"/>
          </a:xfrm>
          <a:prstGeom prst="ellipse">
            <a:avLst/>
          </a:prstGeom>
          <a:solidFill>
            <a:srgbClr val="BF5700"/>
          </a:solidFill>
          <a:ln/>
        </p:spPr>
      </p:sp>
      <p:sp>
        <p:nvSpPr>
          <p:cNvPr id="15" name="Text 12"/>
          <p:cNvSpPr/>
          <p:nvPr/>
        </p:nvSpPr>
        <p:spPr>
          <a:xfrm>
            <a:off x="5806440" y="30358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6" name="Text 13"/>
          <p:cNvSpPr/>
          <p:nvPr/>
        </p:nvSpPr>
        <p:spPr>
          <a:xfrm>
            <a:off x="6236208" y="2990088"/>
            <a:ext cx="2377440" cy="457200"/>
          </a:xfrm>
          <a:prstGeom prst="rect">
            <a:avLst/>
          </a:prstGeom>
          <a:noFill/>
          <a:ln/>
        </p:spPr>
        <p:txBody>
          <a:bodyPr wrap="square" lIns="0" tIns="0" rIns="0" bIns="0" rtlCol="0" anchor="t"/>
          <a:lstStyle/>
          <a:p>
            <a:pPr indent="0" marL="0">
              <a:buNone/>
            </a:pPr>
            <a:r>
              <a:rPr lang="en-US" sz="1100" b="1" dirty="0">
                <a:solidFill>
                  <a:srgbClr val="13161C"/>
                </a:solidFill>
                <a:latin typeface="Arial" pitchFamily="34" charset="0"/>
                <a:ea typeface="Arial" pitchFamily="34" charset="-122"/>
                <a:cs typeface="Arial" pitchFamily="34" charset="-120"/>
              </a:rPr>
              <a:t>Semantic grounding</a:t>
            </a:r>
            <a:endParaRPr lang="en-US" sz="1100" dirty="0"/>
          </a:p>
          <a:p>
            <a:pPr indent="0" marL="0">
              <a:buNone/>
            </a:pPr>
            <a:r>
              <a:rPr lang="en-US" sz="950" dirty="0">
                <a:solidFill>
                  <a:srgbClr val="6B7280"/>
                </a:solidFill>
                <a:latin typeface="Arial" pitchFamily="34" charset="0"/>
                <a:ea typeface="Arial" pitchFamily="34" charset="-122"/>
                <a:cs typeface="Arial" pitchFamily="34" charset="-120"/>
              </a:rPr>
              <a:t>curated tables, BQML, AI.GENERATE</a:t>
            </a:r>
            <a:endParaRPr lang="en-US" sz="1100" dirty="0"/>
          </a:p>
        </p:txBody>
      </p:sp>
      <p:sp>
        <p:nvSpPr>
          <p:cNvPr id="17" name="Shape 14"/>
          <p:cNvSpPr/>
          <p:nvPr/>
        </p:nvSpPr>
        <p:spPr>
          <a:xfrm>
            <a:off x="5806440" y="3621024"/>
            <a:ext cx="310896" cy="310896"/>
          </a:xfrm>
          <a:prstGeom prst="ellipse">
            <a:avLst/>
          </a:prstGeom>
          <a:solidFill>
            <a:srgbClr val="BF5700"/>
          </a:solidFill>
          <a:ln/>
        </p:spPr>
      </p:sp>
      <p:sp>
        <p:nvSpPr>
          <p:cNvPr id="18" name="Text 15"/>
          <p:cNvSpPr/>
          <p:nvPr/>
        </p:nvSpPr>
        <p:spPr>
          <a:xfrm>
            <a:off x="5806440" y="362102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19" name="Text 16"/>
          <p:cNvSpPr/>
          <p:nvPr/>
        </p:nvSpPr>
        <p:spPr>
          <a:xfrm>
            <a:off x="6236208" y="3575304"/>
            <a:ext cx="2377440" cy="457200"/>
          </a:xfrm>
          <a:prstGeom prst="rect">
            <a:avLst/>
          </a:prstGeom>
          <a:noFill/>
          <a:ln/>
        </p:spPr>
        <p:txBody>
          <a:bodyPr wrap="square" lIns="0" tIns="0" rIns="0" bIns="0" rtlCol="0" anchor="t"/>
          <a:lstStyle/>
          <a:p>
            <a:pPr indent="0" marL="0">
              <a:buNone/>
            </a:pPr>
            <a:r>
              <a:rPr lang="en-US" sz="1100" b="1" dirty="0">
                <a:solidFill>
                  <a:srgbClr val="13161C"/>
                </a:solidFill>
                <a:latin typeface="Arial" pitchFamily="34" charset="0"/>
                <a:ea typeface="Arial" pitchFamily="34" charset="-122"/>
                <a:cs typeface="Arial" pitchFamily="34" charset="-120"/>
              </a:rPr>
              <a:t>Read-only query</a:t>
            </a:r>
            <a:endParaRPr lang="en-US" sz="1100" dirty="0"/>
          </a:p>
          <a:p>
            <a:pPr indent="0" marL="0">
              <a:buNone/>
            </a:pPr>
            <a:r>
              <a:rPr lang="en-US" sz="950" dirty="0">
                <a:solidFill>
                  <a:srgbClr val="6B7280"/>
                </a:solidFill>
                <a:latin typeface="Arial" pitchFamily="34" charset="0"/>
                <a:ea typeface="Arial" pitchFamily="34" charset="-122"/>
                <a:cs typeface="Arial" pitchFamily="34" charset="-120"/>
              </a:rPr>
              <a:t>runs over immutable sources</a:t>
            </a:r>
            <a:endParaRPr lang="en-US" sz="1100" dirty="0"/>
          </a:p>
        </p:txBody>
      </p:sp>
      <p:sp>
        <p:nvSpPr>
          <p:cNvPr id="20" name="Shape 17"/>
          <p:cNvSpPr/>
          <p:nvPr/>
        </p:nvSpPr>
        <p:spPr>
          <a:xfrm>
            <a:off x="5806440" y="4206240"/>
            <a:ext cx="310896" cy="310896"/>
          </a:xfrm>
          <a:prstGeom prst="ellipse">
            <a:avLst/>
          </a:prstGeom>
          <a:solidFill>
            <a:srgbClr val="BF5700"/>
          </a:solidFill>
          <a:ln/>
        </p:spPr>
      </p:sp>
      <p:sp>
        <p:nvSpPr>
          <p:cNvPr id="21" name="Text 18"/>
          <p:cNvSpPr/>
          <p:nvPr/>
        </p:nvSpPr>
        <p:spPr>
          <a:xfrm>
            <a:off x="5806440" y="42062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22" name="Text 19"/>
          <p:cNvSpPr/>
          <p:nvPr/>
        </p:nvSpPr>
        <p:spPr>
          <a:xfrm>
            <a:off x="6236208" y="4160520"/>
            <a:ext cx="2377440" cy="457200"/>
          </a:xfrm>
          <a:prstGeom prst="rect">
            <a:avLst/>
          </a:prstGeom>
          <a:noFill/>
          <a:ln/>
        </p:spPr>
        <p:txBody>
          <a:bodyPr wrap="square" lIns="0" tIns="0" rIns="0" bIns="0" rtlCol="0" anchor="t"/>
          <a:lstStyle/>
          <a:p>
            <a:pPr indent="0" marL="0">
              <a:buNone/>
            </a:pPr>
            <a:r>
              <a:rPr lang="en-US" sz="1100" b="1" dirty="0">
                <a:solidFill>
                  <a:srgbClr val="13161C"/>
                </a:solidFill>
                <a:latin typeface="Arial" pitchFamily="34" charset="0"/>
                <a:ea typeface="Arial" pitchFamily="34" charset="-122"/>
                <a:cs typeface="Arial" pitchFamily="34" charset="-120"/>
              </a:rPr>
              <a:t>Insight delivery</a:t>
            </a:r>
            <a:endParaRPr lang="en-US" sz="1100" dirty="0"/>
          </a:p>
          <a:p>
            <a:pPr indent="0" marL="0">
              <a:buNone/>
            </a:pPr>
            <a:r>
              <a:rPr lang="en-US" sz="950" dirty="0">
                <a:solidFill>
                  <a:srgbClr val="6B7280"/>
                </a:solidFill>
                <a:latin typeface="Arial" pitchFamily="34" charset="0"/>
                <a:ea typeface="Arial" pitchFamily="34" charset="-122"/>
                <a:cs typeface="Arial" pitchFamily="34" charset="-120"/>
              </a:rPr>
              <a:t>synthesized answer with evidence</a:t>
            </a:r>
            <a:endParaRPr lang="en-US" sz="1100" dirty="0"/>
          </a:p>
        </p:txBody>
      </p:sp>
      <p:sp>
        <p:nvSpPr>
          <p:cNvPr id="23" name="Text 20"/>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BF5700"/>
                </a:solidFill>
                <a:latin typeface="Arial" pitchFamily="34" charset="0"/>
                <a:ea typeface="Arial" pitchFamily="34" charset="-122"/>
                <a:cs typeface="Arial" pitchFamily="34" charset="-120"/>
              </a:rPr>
              <a:t>A4  ·  TRUST BY DESIGN</a:t>
            </a:r>
            <a:endParaRPr lang="en-US" sz="1000" dirty="0"/>
          </a:p>
        </p:txBody>
      </p:sp>
      <p:sp>
        <p:nvSpPr>
          <p:cNvPr id="3" name="Text 1"/>
          <p:cNvSpPr/>
          <p:nvPr/>
        </p:nvSpPr>
        <p:spPr>
          <a:xfrm>
            <a:off x="548640" y="585216"/>
            <a:ext cx="8046720" cy="566928"/>
          </a:xfrm>
          <a:prstGeom prst="rect">
            <a:avLst/>
          </a:prstGeom>
          <a:noFill/>
          <a:ln/>
        </p:spPr>
        <p:txBody>
          <a:bodyPr wrap="square" lIns="0" tIns="0" rIns="0" bIns="0" rtlCol="0" anchor="t"/>
          <a:lstStyle/>
          <a:p>
            <a:pPr indent="0" marL="0">
              <a:buNone/>
            </a:pPr>
            <a:r>
              <a:rPr lang="en-US" sz="2800" b="1" dirty="0">
                <a:solidFill>
                  <a:srgbClr val="13161C"/>
                </a:solidFill>
                <a:latin typeface="Arial" pitchFamily="34" charset="0"/>
                <a:ea typeface="Arial" pitchFamily="34" charset="-122"/>
                <a:cs typeface="Arial" pitchFamily="34" charset="-120"/>
              </a:rPr>
              <a:t>The grounding chain</a:t>
            </a:r>
            <a:endParaRPr lang="en-US" sz="2800" dirty="0"/>
          </a:p>
        </p:txBody>
      </p:sp>
      <p:sp>
        <p:nvSpPr>
          <p:cNvPr id="4" name="Text 2"/>
          <p:cNvSpPr/>
          <p:nvPr/>
        </p:nvSpPr>
        <p:spPr>
          <a:xfrm>
            <a:off x="548640" y="1115568"/>
            <a:ext cx="8046720" cy="310896"/>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Every LLM claim traces to a query result. No ungrounded predictions.</a:t>
            </a:r>
            <a:endParaRPr lang="en-US" sz="1400" dirty="0"/>
          </a:p>
        </p:txBody>
      </p:sp>
      <p:pic>
        <p:nvPicPr>
          <p:cNvPr id="5" name="Image 0" descr="/Users/samson/hackanton_2026/docs/diagrams/hi/2-grounding-chain.png">    </p:cNvPr>
          <p:cNvPicPr>
            <a:picLocks noChangeAspect="1"/>
          </p:cNvPicPr>
          <p:nvPr/>
        </p:nvPicPr>
        <p:blipFill>
          <a:blip r:embed="rId1"/>
          <a:stretch>
            <a:fillRect/>
          </a:stretch>
        </p:blipFill>
        <p:spPr>
          <a:xfrm>
            <a:off x="548640" y="1600200"/>
            <a:ext cx="8046720" cy="3424337"/>
          </a:xfrm>
          <a:prstGeom prst="rect">
            <a:avLst/>
          </a:prstGeom>
        </p:spPr>
      </p:pic>
      <p:sp>
        <p:nvSpPr>
          <p:cNvPr id="6" name="Text 3"/>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BF5700"/>
                </a:solidFill>
                <a:latin typeface="Arial" pitchFamily="34" charset="0"/>
                <a:ea typeface="Arial" pitchFamily="34" charset="-122"/>
                <a:cs typeface="Arial" pitchFamily="34" charset="-120"/>
              </a:rPr>
              <a:t>A5  ·  THE AI LAYER</a:t>
            </a:r>
            <a:endParaRPr lang="en-US" sz="1000" dirty="0"/>
          </a:p>
        </p:txBody>
      </p:sp>
      <p:sp>
        <p:nvSpPr>
          <p:cNvPr id="3" name="Text 1"/>
          <p:cNvSpPr/>
          <p:nvPr/>
        </p:nvSpPr>
        <p:spPr>
          <a:xfrm>
            <a:off x="548640" y="585216"/>
            <a:ext cx="8046720" cy="566928"/>
          </a:xfrm>
          <a:prstGeom prst="rect">
            <a:avLst/>
          </a:prstGeom>
          <a:noFill/>
          <a:ln/>
        </p:spPr>
        <p:txBody>
          <a:bodyPr wrap="square" lIns="0" tIns="0" rIns="0" bIns="0" rtlCol="0" anchor="t"/>
          <a:lstStyle/>
          <a:p>
            <a:pPr indent="0" marL="0">
              <a:buNone/>
            </a:pPr>
            <a:r>
              <a:rPr lang="en-US" sz="2800" b="1" dirty="0">
                <a:solidFill>
                  <a:srgbClr val="13161C"/>
                </a:solidFill>
                <a:latin typeface="Arial" pitchFamily="34" charset="0"/>
                <a:ea typeface="Arial" pitchFamily="34" charset="-122"/>
                <a:cs typeface="Arial" pitchFamily="34" charset="-120"/>
              </a:rPr>
              <a:t>Front Office Analyst: target runtime</a:t>
            </a:r>
            <a:endParaRPr lang="en-US" sz="2800" dirty="0"/>
          </a:p>
        </p:txBody>
      </p:sp>
      <p:pic>
        <p:nvPicPr>
          <p:cNvPr id="4" name="Image 0" descr="/Users/samson/hackanton_2026/docs/diagrams/hi/3-runtime-sequence.png">    </p:cNvPr>
          <p:cNvPicPr>
            <a:picLocks noChangeAspect="1"/>
          </p:cNvPicPr>
          <p:nvPr/>
        </p:nvPicPr>
        <p:blipFill>
          <a:blip r:embed="rId1"/>
          <a:stretch>
            <a:fillRect/>
          </a:stretch>
        </p:blipFill>
        <p:spPr>
          <a:xfrm>
            <a:off x="457200" y="1325880"/>
            <a:ext cx="6207068" cy="3383280"/>
          </a:xfrm>
          <a:prstGeom prst="rect">
            <a:avLst/>
          </a:prstGeom>
        </p:spPr>
      </p:pic>
      <p:sp>
        <p:nvSpPr>
          <p:cNvPr id="5" name="Text 2"/>
          <p:cNvSpPr/>
          <p:nvPr/>
        </p:nvSpPr>
        <p:spPr>
          <a:xfrm>
            <a:off x="6812280" y="1463040"/>
            <a:ext cx="1874520" cy="310896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222731"/>
                </a:solidFill>
                <a:latin typeface="Arial" pitchFamily="34" charset="0"/>
                <a:ea typeface="Arial" pitchFamily="34" charset="-122"/>
                <a:cs typeface="Arial" pitchFamily="34" charset="-120"/>
              </a:rPr>
              <a:t>AI.GENERATE with gemini-2.5-flash, temperature 0, output_schema</a:t>
            </a:r>
            <a:endParaRPr lang="en-US" sz="1050" dirty="0"/>
          </a:p>
          <a:p>
            <a:pPr marL="152400" indent="-152400">
              <a:spcAft>
                <a:spcPts val="500"/>
              </a:spcAft>
              <a:buSzPct val="100000"/>
              <a:buChar char="•"/>
            </a:pPr>
            <a:r>
              <a:rPr lang="en-US" sz="1050" dirty="0">
                <a:solidFill>
                  <a:srgbClr val="222731"/>
                </a:solidFill>
                <a:latin typeface="Arial" pitchFamily="34" charset="0"/>
                <a:ea typeface="Arial" pitchFamily="34" charset="-122"/>
                <a:cs typeface="Arial" pitchFamily="34" charset="-120"/>
              </a:rPr>
              <a:t>Prompts carry numbers only: no team name, conference or seed</a:t>
            </a:r>
            <a:endParaRPr lang="en-US" sz="1050" dirty="0"/>
          </a:p>
          <a:p>
            <a:pPr marL="152400" indent="-152400">
              <a:spcAft>
                <a:spcPts val="500"/>
              </a:spcAft>
              <a:buSzPct val="100000"/>
              <a:buChar char="•"/>
            </a:pPr>
            <a:r>
              <a:rPr lang="en-US" sz="1050" dirty="0">
                <a:solidFill>
                  <a:srgbClr val="222731"/>
                </a:solidFill>
                <a:latin typeface="Arial" pitchFamily="34" charset="0"/>
                <a:ea typeface="Arial" pitchFamily="34" charset="-122"/>
                <a:cs typeface="Arial" pitchFamily="34" charset="-120"/>
              </a:rPr>
              <a:t>Agent in progress; 8 SQL-verified Q&amp;A ready in mart_agent_qa</a:t>
            </a:r>
            <a:endParaRPr lang="en-US" sz="1050" dirty="0"/>
          </a:p>
        </p:txBody>
      </p:sp>
      <p:sp>
        <p:nvSpPr>
          <p:cNvPr id="6" name="Text 3"/>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BF5700"/>
                </a:solidFill>
                <a:latin typeface="Arial" pitchFamily="34" charset="0"/>
                <a:ea typeface="Arial" pitchFamily="34" charset="-122"/>
                <a:cs typeface="Arial" pitchFamily="34" charset="-120"/>
              </a:rPr>
              <a:t>A6  ·  ENGINEERING BACKBONE</a:t>
            </a:r>
            <a:endParaRPr lang="en-US" sz="1000" dirty="0"/>
          </a:p>
        </p:txBody>
      </p:sp>
      <p:sp>
        <p:nvSpPr>
          <p:cNvPr id="3" name="Text 1"/>
          <p:cNvSpPr/>
          <p:nvPr/>
        </p:nvSpPr>
        <p:spPr>
          <a:xfrm>
            <a:off x="548640" y="585216"/>
            <a:ext cx="8046720" cy="566928"/>
          </a:xfrm>
          <a:prstGeom prst="rect">
            <a:avLst/>
          </a:prstGeom>
          <a:noFill/>
          <a:ln/>
        </p:spPr>
        <p:txBody>
          <a:bodyPr wrap="square" lIns="0" tIns="0" rIns="0" bIns="0" rtlCol="0" anchor="t"/>
          <a:lstStyle/>
          <a:p>
            <a:pPr indent="0" marL="0">
              <a:buNone/>
            </a:pPr>
            <a:r>
              <a:rPr lang="en-US" sz="2800" b="1" dirty="0">
                <a:solidFill>
                  <a:srgbClr val="13161C"/>
                </a:solidFill>
                <a:latin typeface="Arial" pitchFamily="34" charset="0"/>
                <a:ea typeface="Arial" pitchFamily="34" charset="-122"/>
                <a:cs typeface="Arial" pitchFamily="34" charset="-120"/>
              </a:rPr>
              <a:t>One dbt project, gated by CI</a:t>
            </a:r>
            <a:endParaRPr lang="en-US" sz="2800" dirty="0"/>
          </a:p>
        </p:txBody>
      </p:sp>
      <p:sp>
        <p:nvSpPr>
          <p:cNvPr id="4" name="Shape 2"/>
          <p:cNvSpPr/>
          <p:nvPr/>
        </p:nvSpPr>
        <p:spPr>
          <a:xfrm>
            <a:off x="548640" y="1325880"/>
            <a:ext cx="3931920" cy="3337560"/>
          </a:xfrm>
          <a:prstGeom prst="roundRect">
            <a:avLst>
              <a:gd name="adj" fmla="val 2192"/>
            </a:avLst>
          </a:prstGeom>
          <a:solidFill>
            <a:srgbClr val="F3F4F6"/>
          </a:solidFill>
          <a:ln/>
        </p:spPr>
      </p:sp>
      <p:sp>
        <p:nvSpPr>
          <p:cNvPr id="5" name="Text 3"/>
          <p:cNvSpPr/>
          <p:nvPr/>
        </p:nvSpPr>
        <p:spPr>
          <a:xfrm>
            <a:off x="731520" y="1444752"/>
            <a:ext cx="3566160" cy="274320"/>
          </a:xfrm>
          <a:prstGeom prst="rect">
            <a:avLst/>
          </a:prstGeom>
          <a:noFill/>
          <a:ln/>
        </p:spPr>
        <p:txBody>
          <a:bodyPr wrap="square" lIns="0" tIns="0" rIns="0" bIns="0" rtlCol="0" anchor="ctr"/>
          <a:lstStyle/>
          <a:p>
            <a:pPr indent="0" marL="0">
              <a:buNone/>
            </a:pPr>
            <a:r>
              <a:rPr lang="en-US" sz="1300" b="1" dirty="0">
                <a:solidFill>
                  <a:srgbClr val="13161C"/>
                </a:solidFill>
                <a:latin typeface="Arial" pitchFamily="34" charset="0"/>
                <a:ea typeface="Arial" pitchFamily="34" charset="-122"/>
                <a:cs typeface="Arial" pitchFamily="34" charset="-120"/>
              </a:rPr>
              <a:t>Seven layers, one prefix each</a:t>
            </a:r>
            <a:endParaRPr lang="en-US" sz="1300" dirty="0"/>
          </a:p>
        </p:txBody>
      </p:sp>
      <p:sp>
        <p:nvSpPr>
          <p:cNvPr id="6" name="Shape 4"/>
          <p:cNvSpPr/>
          <p:nvPr/>
        </p:nvSpPr>
        <p:spPr>
          <a:xfrm>
            <a:off x="731520" y="1810512"/>
            <a:ext cx="914400" cy="292608"/>
          </a:xfrm>
          <a:prstGeom prst="roundRect">
            <a:avLst>
              <a:gd name="adj" fmla="val 50000"/>
            </a:avLst>
          </a:prstGeom>
          <a:solidFill>
            <a:srgbClr val="13161C"/>
          </a:solidFill>
          <a:ln/>
        </p:spPr>
      </p:sp>
      <p:sp>
        <p:nvSpPr>
          <p:cNvPr id="7" name="Text 5"/>
          <p:cNvSpPr/>
          <p:nvPr/>
        </p:nvSpPr>
        <p:spPr>
          <a:xfrm>
            <a:off x="731520" y="1810512"/>
            <a:ext cx="91440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stg_</a:t>
            </a:r>
            <a:endParaRPr lang="en-US" sz="950" dirty="0"/>
          </a:p>
        </p:txBody>
      </p:sp>
      <p:sp>
        <p:nvSpPr>
          <p:cNvPr id="8" name="Text 6"/>
          <p:cNvSpPr/>
          <p:nvPr/>
        </p:nvSpPr>
        <p:spPr>
          <a:xfrm>
            <a:off x="1755648" y="1810512"/>
            <a:ext cx="2651760" cy="292608"/>
          </a:xfrm>
          <a:prstGeom prst="rect">
            <a:avLst/>
          </a:prstGeom>
          <a:noFill/>
          <a:ln/>
        </p:spPr>
        <p:txBody>
          <a:bodyPr wrap="square" lIns="0" tIns="0" rIns="0" bIns="0" rtlCol="0" anchor="ctr"/>
          <a:lstStyle/>
          <a:p>
            <a:pPr indent="0" marL="0">
              <a:buNone/>
            </a:pPr>
            <a:r>
              <a:rPr lang="en-US" sz="1000" b="1" dirty="0">
                <a:solidFill>
                  <a:srgbClr val="13161C"/>
                </a:solidFill>
                <a:latin typeface="Arial" pitchFamily="34" charset="0"/>
                <a:ea typeface="Arial" pitchFamily="34" charset="-122"/>
                <a:cs typeface="Arial" pitchFamily="34" charset="-120"/>
              </a:rPr>
              <a:t>00_stg  </a:t>
            </a:r>
            <a:pPr indent="0" marL="0">
              <a:buNone/>
            </a:pPr>
            <a:r>
              <a:rPr lang="en-US" sz="1000" dirty="0">
                <a:solidFill>
                  <a:srgbClr val="6B7280"/>
                </a:solidFill>
                <a:latin typeface="Arial" pitchFamily="34" charset="0"/>
                <a:ea typeface="Arial" pitchFamily="34" charset="-122"/>
                <a:cs typeface="Arial" pitchFamily="34" charset="-120"/>
              </a:rPr>
              <a:t>staging views, brackets</a:t>
            </a:r>
            <a:endParaRPr lang="en-US" sz="1000" dirty="0"/>
          </a:p>
        </p:txBody>
      </p:sp>
      <p:sp>
        <p:nvSpPr>
          <p:cNvPr id="9" name="Shape 7"/>
          <p:cNvSpPr/>
          <p:nvPr/>
        </p:nvSpPr>
        <p:spPr>
          <a:xfrm>
            <a:off x="731520" y="2212848"/>
            <a:ext cx="914400" cy="292608"/>
          </a:xfrm>
          <a:prstGeom prst="roundRect">
            <a:avLst>
              <a:gd name="adj" fmla="val 50000"/>
            </a:avLst>
          </a:prstGeom>
          <a:solidFill>
            <a:srgbClr val="13161C"/>
          </a:solidFill>
          <a:ln/>
        </p:spPr>
      </p:sp>
      <p:sp>
        <p:nvSpPr>
          <p:cNvPr id="10" name="Text 8"/>
          <p:cNvSpPr/>
          <p:nvPr/>
        </p:nvSpPr>
        <p:spPr>
          <a:xfrm>
            <a:off x="731520" y="2212848"/>
            <a:ext cx="91440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dq_</a:t>
            </a:r>
            <a:endParaRPr lang="en-US" sz="950" dirty="0"/>
          </a:p>
        </p:txBody>
      </p:sp>
      <p:sp>
        <p:nvSpPr>
          <p:cNvPr id="11" name="Text 9"/>
          <p:cNvSpPr/>
          <p:nvPr/>
        </p:nvSpPr>
        <p:spPr>
          <a:xfrm>
            <a:off x="1755648" y="2212848"/>
            <a:ext cx="2651760" cy="292608"/>
          </a:xfrm>
          <a:prstGeom prst="rect">
            <a:avLst/>
          </a:prstGeom>
          <a:noFill/>
          <a:ln/>
        </p:spPr>
        <p:txBody>
          <a:bodyPr wrap="square" lIns="0" tIns="0" rIns="0" bIns="0" rtlCol="0" anchor="ctr"/>
          <a:lstStyle/>
          <a:p>
            <a:pPr indent="0" marL="0">
              <a:buNone/>
            </a:pPr>
            <a:r>
              <a:rPr lang="en-US" sz="1000" b="1" dirty="0">
                <a:solidFill>
                  <a:srgbClr val="13161C"/>
                </a:solidFill>
                <a:latin typeface="Arial" pitchFamily="34" charset="0"/>
                <a:ea typeface="Arial" pitchFamily="34" charset="-122"/>
                <a:cs typeface="Arial" pitchFamily="34" charset="-120"/>
              </a:rPr>
              <a:t>01_dq  </a:t>
            </a:r>
            <a:pPr indent="0" marL="0">
              <a:buNone/>
            </a:pPr>
            <a:r>
              <a:rPr lang="en-US" sz="1000" dirty="0">
                <a:solidFill>
                  <a:srgbClr val="6B7280"/>
                </a:solidFill>
                <a:latin typeface="Arial" pitchFamily="34" charset="0"/>
                <a:ea typeface="Arial" pitchFamily="34" charset="-122"/>
                <a:cs typeface="Arial" pitchFamily="34" charset="-120"/>
              </a:rPr>
              <a:t>quality gate from Catalog scans</a:t>
            </a:r>
            <a:endParaRPr lang="en-US" sz="1000" dirty="0"/>
          </a:p>
        </p:txBody>
      </p:sp>
      <p:sp>
        <p:nvSpPr>
          <p:cNvPr id="12" name="Shape 10"/>
          <p:cNvSpPr/>
          <p:nvPr/>
        </p:nvSpPr>
        <p:spPr>
          <a:xfrm>
            <a:off x="731520" y="2615184"/>
            <a:ext cx="914400" cy="292608"/>
          </a:xfrm>
          <a:prstGeom prst="roundRect">
            <a:avLst>
              <a:gd name="adj" fmla="val 50000"/>
            </a:avLst>
          </a:prstGeom>
          <a:solidFill>
            <a:srgbClr val="13161C"/>
          </a:solidFill>
          <a:ln/>
        </p:spPr>
      </p:sp>
      <p:sp>
        <p:nvSpPr>
          <p:cNvPr id="13" name="Text 11"/>
          <p:cNvSpPr/>
          <p:nvPr/>
        </p:nvSpPr>
        <p:spPr>
          <a:xfrm>
            <a:off x="731520" y="2615184"/>
            <a:ext cx="91440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f_</a:t>
            </a:r>
            <a:endParaRPr lang="en-US" sz="950" dirty="0"/>
          </a:p>
        </p:txBody>
      </p:sp>
      <p:sp>
        <p:nvSpPr>
          <p:cNvPr id="14" name="Text 12"/>
          <p:cNvSpPr/>
          <p:nvPr/>
        </p:nvSpPr>
        <p:spPr>
          <a:xfrm>
            <a:off x="1755648" y="2615184"/>
            <a:ext cx="2651760" cy="292608"/>
          </a:xfrm>
          <a:prstGeom prst="rect">
            <a:avLst/>
          </a:prstGeom>
          <a:noFill/>
          <a:ln/>
        </p:spPr>
        <p:txBody>
          <a:bodyPr wrap="square" lIns="0" tIns="0" rIns="0" bIns="0" rtlCol="0" anchor="ctr"/>
          <a:lstStyle/>
          <a:p>
            <a:pPr indent="0" marL="0">
              <a:buNone/>
            </a:pPr>
            <a:r>
              <a:rPr lang="en-US" sz="1000" b="1" dirty="0">
                <a:solidFill>
                  <a:srgbClr val="13161C"/>
                </a:solidFill>
                <a:latin typeface="Arial" pitchFamily="34" charset="0"/>
                <a:ea typeface="Arial" pitchFamily="34" charset="-122"/>
                <a:cs typeface="Arial" pitchFamily="34" charset="-120"/>
              </a:rPr>
              <a:t>02_features  </a:t>
            </a:r>
            <a:pPr indent="0" marL="0">
              <a:buNone/>
            </a:pPr>
            <a:r>
              <a:rPr lang="en-US" sz="1000" dirty="0">
                <a:solidFill>
                  <a:srgbClr val="6B7280"/>
                </a:solidFill>
                <a:latin typeface="Arial" pitchFamily="34" charset="0"/>
                <a:ea typeface="Arial" pitchFamily="34" charset="-122"/>
                <a:cs typeface="Arial" pitchFamily="34" charset="-120"/>
              </a:rPr>
              <a:t>report cards, matchup rows</a:t>
            </a:r>
            <a:endParaRPr lang="en-US" sz="1000" dirty="0"/>
          </a:p>
        </p:txBody>
      </p:sp>
      <p:sp>
        <p:nvSpPr>
          <p:cNvPr id="15" name="Shape 13"/>
          <p:cNvSpPr/>
          <p:nvPr/>
        </p:nvSpPr>
        <p:spPr>
          <a:xfrm>
            <a:off x="731520" y="3017520"/>
            <a:ext cx="914400" cy="292608"/>
          </a:xfrm>
          <a:prstGeom prst="roundRect">
            <a:avLst>
              <a:gd name="adj" fmla="val 50000"/>
            </a:avLst>
          </a:prstGeom>
          <a:solidFill>
            <a:srgbClr val="BF5700"/>
          </a:solidFill>
          <a:ln/>
        </p:spPr>
      </p:sp>
      <p:sp>
        <p:nvSpPr>
          <p:cNvPr id="16" name="Text 14"/>
          <p:cNvSpPr/>
          <p:nvPr/>
        </p:nvSpPr>
        <p:spPr>
          <a:xfrm>
            <a:off x="731520" y="3017520"/>
            <a:ext cx="91440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m_ p_</a:t>
            </a:r>
            <a:endParaRPr lang="en-US" sz="950" dirty="0"/>
          </a:p>
        </p:txBody>
      </p:sp>
      <p:sp>
        <p:nvSpPr>
          <p:cNvPr id="17" name="Text 15"/>
          <p:cNvSpPr/>
          <p:nvPr/>
        </p:nvSpPr>
        <p:spPr>
          <a:xfrm>
            <a:off x="1755648" y="3017520"/>
            <a:ext cx="2651760" cy="292608"/>
          </a:xfrm>
          <a:prstGeom prst="rect">
            <a:avLst/>
          </a:prstGeom>
          <a:noFill/>
          <a:ln/>
        </p:spPr>
        <p:txBody>
          <a:bodyPr wrap="square" lIns="0" tIns="0" rIns="0" bIns="0" rtlCol="0" anchor="ctr"/>
          <a:lstStyle/>
          <a:p>
            <a:pPr indent="0" marL="0">
              <a:buNone/>
            </a:pPr>
            <a:r>
              <a:rPr lang="en-US" sz="1000" b="1" dirty="0">
                <a:solidFill>
                  <a:srgbClr val="13161C"/>
                </a:solidFill>
                <a:latin typeface="Arial" pitchFamily="34" charset="0"/>
                <a:ea typeface="Arial" pitchFamily="34" charset="-122"/>
                <a:cs typeface="Arial" pitchFamily="34" charset="-120"/>
              </a:rPr>
              <a:t>03_models  </a:t>
            </a:r>
            <a:pPr indent="0" marL="0">
              <a:buNone/>
            </a:pPr>
            <a:r>
              <a:rPr lang="en-US" sz="1000" dirty="0">
                <a:solidFill>
                  <a:srgbClr val="6B7280"/>
                </a:solidFill>
                <a:latin typeface="Arial" pitchFamily="34" charset="0"/>
                <a:ea typeface="Arial" pitchFamily="34" charset="-122"/>
                <a:cs typeface="Arial" pitchFamily="34" charset="-120"/>
              </a:rPr>
              <a:t>BQML training + predictions</a:t>
            </a:r>
            <a:endParaRPr lang="en-US" sz="1000" dirty="0"/>
          </a:p>
        </p:txBody>
      </p:sp>
      <p:sp>
        <p:nvSpPr>
          <p:cNvPr id="18" name="Shape 16"/>
          <p:cNvSpPr/>
          <p:nvPr/>
        </p:nvSpPr>
        <p:spPr>
          <a:xfrm>
            <a:off x="731520" y="3419856"/>
            <a:ext cx="914400" cy="292608"/>
          </a:xfrm>
          <a:prstGeom prst="roundRect">
            <a:avLst>
              <a:gd name="adj" fmla="val 50000"/>
            </a:avLst>
          </a:prstGeom>
          <a:solidFill>
            <a:srgbClr val="BF5700"/>
          </a:solidFill>
          <a:ln/>
        </p:spPr>
      </p:sp>
      <p:sp>
        <p:nvSpPr>
          <p:cNvPr id="19" name="Text 17"/>
          <p:cNvSpPr/>
          <p:nvPr/>
        </p:nvSpPr>
        <p:spPr>
          <a:xfrm>
            <a:off x="731520" y="3419856"/>
            <a:ext cx="91440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sim_ eval_</a:t>
            </a:r>
            <a:endParaRPr lang="en-US" sz="950" dirty="0"/>
          </a:p>
        </p:txBody>
      </p:sp>
      <p:sp>
        <p:nvSpPr>
          <p:cNvPr id="20" name="Text 18"/>
          <p:cNvSpPr/>
          <p:nvPr/>
        </p:nvSpPr>
        <p:spPr>
          <a:xfrm>
            <a:off x="1755648" y="3419856"/>
            <a:ext cx="2651760" cy="292608"/>
          </a:xfrm>
          <a:prstGeom prst="rect">
            <a:avLst/>
          </a:prstGeom>
          <a:noFill/>
          <a:ln/>
        </p:spPr>
        <p:txBody>
          <a:bodyPr wrap="square" lIns="0" tIns="0" rIns="0" bIns="0" rtlCol="0" anchor="ctr"/>
          <a:lstStyle/>
          <a:p>
            <a:pPr indent="0" marL="0">
              <a:buNone/>
            </a:pPr>
            <a:r>
              <a:rPr lang="en-US" sz="1000" b="1" dirty="0">
                <a:solidFill>
                  <a:srgbClr val="13161C"/>
                </a:solidFill>
                <a:latin typeface="Arial" pitchFamily="34" charset="0"/>
                <a:ea typeface="Arial" pitchFamily="34" charset="-122"/>
                <a:cs typeface="Arial" pitchFamily="34" charset="-120"/>
              </a:rPr>
              <a:t>04_sim  </a:t>
            </a:r>
            <a:pPr indent="0" marL="0">
              <a:buNone/>
            </a:pPr>
            <a:r>
              <a:rPr lang="en-US" sz="1000" dirty="0">
                <a:solidFill>
                  <a:srgbClr val="6B7280"/>
                </a:solidFill>
                <a:latin typeface="Arial" pitchFamily="34" charset="0"/>
                <a:ea typeface="Arial" pitchFamily="34" charset="-122"/>
                <a:cs typeface="Arial" pitchFamily="34" charset="-120"/>
              </a:rPr>
              <a:t>simulation, backtests</a:t>
            </a:r>
            <a:endParaRPr lang="en-US" sz="1000" dirty="0"/>
          </a:p>
        </p:txBody>
      </p:sp>
      <p:sp>
        <p:nvSpPr>
          <p:cNvPr id="21" name="Shape 19"/>
          <p:cNvSpPr/>
          <p:nvPr/>
        </p:nvSpPr>
        <p:spPr>
          <a:xfrm>
            <a:off x="731520" y="3822192"/>
            <a:ext cx="914400" cy="292608"/>
          </a:xfrm>
          <a:prstGeom prst="roundRect">
            <a:avLst>
              <a:gd name="adj" fmla="val 50000"/>
            </a:avLst>
          </a:prstGeom>
          <a:solidFill>
            <a:srgbClr val="13161C"/>
          </a:solidFill>
          <a:ln/>
        </p:spPr>
      </p:sp>
      <p:sp>
        <p:nvSpPr>
          <p:cNvPr id="22" name="Text 20"/>
          <p:cNvSpPr/>
          <p:nvPr/>
        </p:nvSpPr>
        <p:spPr>
          <a:xfrm>
            <a:off x="731520" y="3822192"/>
            <a:ext cx="91440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ai_</a:t>
            </a:r>
            <a:endParaRPr lang="en-US" sz="950" dirty="0"/>
          </a:p>
        </p:txBody>
      </p:sp>
      <p:sp>
        <p:nvSpPr>
          <p:cNvPr id="23" name="Text 21"/>
          <p:cNvSpPr/>
          <p:nvPr/>
        </p:nvSpPr>
        <p:spPr>
          <a:xfrm>
            <a:off x="1755648" y="3822192"/>
            <a:ext cx="2651760" cy="292608"/>
          </a:xfrm>
          <a:prstGeom prst="rect">
            <a:avLst/>
          </a:prstGeom>
          <a:noFill/>
          <a:ln/>
        </p:spPr>
        <p:txBody>
          <a:bodyPr wrap="square" lIns="0" tIns="0" rIns="0" bIns="0" rtlCol="0" anchor="ctr"/>
          <a:lstStyle/>
          <a:p>
            <a:pPr indent="0" marL="0">
              <a:buNone/>
            </a:pPr>
            <a:r>
              <a:rPr lang="en-US" sz="1000" b="1" dirty="0">
                <a:solidFill>
                  <a:srgbClr val="13161C"/>
                </a:solidFill>
                <a:latin typeface="Arial" pitchFamily="34" charset="0"/>
                <a:ea typeface="Arial" pitchFamily="34" charset="-122"/>
                <a:cs typeface="Arial" pitchFamily="34" charset="-120"/>
              </a:rPr>
              <a:t>05_ai  </a:t>
            </a:r>
            <a:pPr indent="0" marL="0">
              <a:buNone/>
            </a:pPr>
            <a:r>
              <a:rPr lang="en-US" sz="1000" dirty="0">
                <a:solidFill>
                  <a:srgbClr val="6B7280"/>
                </a:solidFill>
                <a:latin typeface="Arial" pitchFamily="34" charset="0"/>
                <a:ea typeface="Arial" pitchFamily="34" charset="-122"/>
                <a:cs typeface="Arial" pitchFamily="34" charset="-120"/>
              </a:rPr>
              <a:t>AI.GENERATE (tag: ai)</a:t>
            </a:r>
            <a:endParaRPr lang="en-US" sz="1000" dirty="0"/>
          </a:p>
        </p:txBody>
      </p:sp>
      <p:sp>
        <p:nvSpPr>
          <p:cNvPr id="24" name="Shape 22"/>
          <p:cNvSpPr/>
          <p:nvPr/>
        </p:nvSpPr>
        <p:spPr>
          <a:xfrm>
            <a:off x="731520" y="4224528"/>
            <a:ext cx="914400" cy="292608"/>
          </a:xfrm>
          <a:prstGeom prst="roundRect">
            <a:avLst>
              <a:gd name="adj" fmla="val 50000"/>
            </a:avLst>
          </a:prstGeom>
          <a:solidFill>
            <a:srgbClr val="13161C"/>
          </a:solidFill>
          <a:ln/>
        </p:spPr>
      </p:sp>
      <p:sp>
        <p:nvSpPr>
          <p:cNvPr id="25" name="Text 23"/>
          <p:cNvSpPr/>
          <p:nvPr/>
        </p:nvSpPr>
        <p:spPr>
          <a:xfrm>
            <a:off x="731520" y="4224528"/>
            <a:ext cx="91440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mart_</a:t>
            </a:r>
            <a:endParaRPr lang="en-US" sz="950" dirty="0"/>
          </a:p>
        </p:txBody>
      </p:sp>
      <p:sp>
        <p:nvSpPr>
          <p:cNvPr id="26" name="Text 24"/>
          <p:cNvSpPr/>
          <p:nvPr/>
        </p:nvSpPr>
        <p:spPr>
          <a:xfrm>
            <a:off x="1755648" y="4224528"/>
            <a:ext cx="2651760" cy="292608"/>
          </a:xfrm>
          <a:prstGeom prst="rect">
            <a:avLst/>
          </a:prstGeom>
          <a:noFill/>
          <a:ln/>
        </p:spPr>
        <p:txBody>
          <a:bodyPr wrap="square" lIns="0" tIns="0" rIns="0" bIns="0" rtlCol="0" anchor="ctr"/>
          <a:lstStyle/>
          <a:p>
            <a:pPr indent="0" marL="0">
              <a:buNone/>
            </a:pPr>
            <a:r>
              <a:rPr lang="en-US" sz="1000" b="1" dirty="0">
                <a:solidFill>
                  <a:srgbClr val="13161C"/>
                </a:solidFill>
                <a:latin typeface="Arial" pitchFamily="34" charset="0"/>
                <a:ea typeface="Arial" pitchFamily="34" charset="-122"/>
                <a:cs typeface="Arial" pitchFamily="34" charset="-120"/>
              </a:rPr>
              <a:t>06_marts  </a:t>
            </a:r>
            <a:pPr indent="0" marL="0">
              <a:buNone/>
            </a:pPr>
            <a:r>
              <a:rPr lang="en-US" sz="1000" dirty="0">
                <a:solidFill>
                  <a:srgbClr val="6B7280"/>
                </a:solidFill>
                <a:latin typeface="Arial" pitchFamily="34" charset="0"/>
                <a:ea typeface="Arial" pitchFamily="34" charset="-122"/>
                <a:cs typeface="Arial" pitchFamily="34" charset="-120"/>
              </a:rPr>
              <a:t>what dashboard + agent read</a:t>
            </a:r>
            <a:endParaRPr lang="en-US" sz="1000" dirty="0"/>
          </a:p>
        </p:txBody>
      </p:sp>
      <p:sp>
        <p:nvSpPr>
          <p:cNvPr id="27" name="Shape 25"/>
          <p:cNvSpPr/>
          <p:nvPr/>
        </p:nvSpPr>
        <p:spPr>
          <a:xfrm>
            <a:off x="4709160" y="1325880"/>
            <a:ext cx="3886200" cy="731520"/>
          </a:xfrm>
          <a:prstGeom prst="roundRect">
            <a:avLst>
              <a:gd name="adj" fmla="val 10000"/>
            </a:avLst>
          </a:prstGeom>
          <a:solidFill>
            <a:srgbClr val="FFFFFF"/>
          </a:solidFill>
          <a:ln w="12700">
            <a:solidFill>
              <a:srgbClr val="DDE0E5"/>
            </a:solidFill>
            <a:prstDash val="solid"/>
          </a:ln>
          <a:effectLst>
            <a:outerShdw sx="100000" sy="100000" kx="0" ky="0" algn="bl" rotWithShape="0" blurRad="101600" dist="25400" dir="5400000">
              <a:srgbClr val="000000">
                <a:alpha val="10000"/>
              </a:srgbClr>
            </a:outerShdw>
          </a:effectLst>
        </p:spPr>
      </p:sp>
      <p:sp>
        <p:nvSpPr>
          <p:cNvPr id="28" name="Shape 26"/>
          <p:cNvSpPr/>
          <p:nvPr/>
        </p:nvSpPr>
        <p:spPr>
          <a:xfrm>
            <a:off x="4864608" y="1481328"/>
            <a:ext cx="420624" cy="420624"/>
          </a:xfrm>
          <a:prstGeom prst="ellipse">
            <a:avLst/>
          </a:prstGeom>
          <a:solidFill>
            <a:srgbClr val="BF5700"/>
          </a:solidFill>
          <a:ln/>
        </p:spPr>
      </p:sp>
      <p:pic>
        <p:nvPicPr>
          <p:cNvPr id="29" name="Image 0" descr="preencoded.png">    </p:cNvPr>
          <p:cNvPicPr>
            <a:picLocks noChangeAspect="1"/>
          </p:cNvPicPr>
          <p:nvPr/>
        </p:nvPicPr>
        <p:blipFill>
          <a:blip r:embed="rId1"/>
          <a:stretch>
            <a:fillRect/>
          </a:stretch>
        </p:blipFill>
        <p:spPr>
          <a:xfrm>
            <a:off x="4973970" y="1590690"/>
            <a:ext cx="201900" cy="201900"/>
          </a:xfrm>
          <a:prstGeom prst="rect">
            <a:avLst/>
          </a:prstGeom>
        </p:spPr>
      </p:pic>
      <p:sp>
        <p:nvSpPr>
          <p:cNvPr id="30" name="Text 27"/>
          <p:cNvSpPr/>
          <p:nvPr/>
        </p:nvSpPr>
        <p:spPr>
          <a:xfrm>
            <a:off x="5440680" y="1325880"/>
            <a:ext cx="3063240" cy="731520"/>
          </a:xfrm>
          <a:prstGeom prst="rect">
            <a:avLst/>
          </a:prstGeom>
          <a:noFill/>
          <a:ln/>
        </p:spPr>
        <p:txBody>
          <a:bodyPr wrap="square" lIns="0" tIns="0" rIns="0" bIns="0" rtlCol="0" anchor="ctr"/>
          <a:lstStyle/>
          <a:p>
            <a:pPr indent="0" marL="0">
              <a:buNone/>
            </a:pPr>
            <a:r>
              <a:rPr lang="en-US" sz="1200" b="1" dirty="0">
                <a:solidFill>
                  <a:srgbClr val="13161C"/>
                </a:solidFill>
                <a:latin typeface="Arial" pitchFamily="34" charset="0"/>
                <a:ea typeface="Arial" pitchFamily="34" charset="-122"/>
                <a:cs typeface="Arial" pitchFamily="34" charset="-120"/>
              </a:rPr>
              <a:t>validate · every PR</a:t>
            </a:r>
            <a:pPr indent="0" marL="0">
              <a:buNone/>
            </a:pPr>
            <a:r>
              <a:rPr lang="en-US" sz="800" b="1" dirty="0">
                <a:solidFill>
                  <a:srgbClr val="2E7D32"/>
                </a:solidFill>
                <a:latin typeface="Arial" pitchFamily="34" charset="0"/>
                <a:ea typeface="Arial" pitchFamily="34" charset="-122"/>
                <a:cs typeface="Arial" pitchFamily="34" charset="-120"/>
              </a:rPr>
              <a:t>  LIVE</a:t>
            </a:r>
            <a:endParaRPr lang="en-US" sz="1200" dirty="0"/>
          </a:p>
          <a:p>
            <a:pPr indent="0" marL="0">
              <a:buNone/>
            </a:pPr>
            <a:r>
              <a:rPr lang="en-US" sz="1000" dirty="0">
                <a:solidFill>
                  <a:srgbClr val="6B7280"/>
                </a:solidFill>
                <a:latin typeface="Arial" pitchFamily="34" charset="0"/>
                <a:ea typeface="Arial" pitchFamily="34" charset="-122"/>
                <a:cs typeface="Arial" pitchFamily="34" charset="-120"/>
              </a:rPr>
              <a:t>ruff + dbt parse. Required check, passing on main.</a:t>
            </a:r>
            <a:endParaRPr lang="en-US" sz="1200" dirty="0"/>
          </a:p>
        </p:txBody>
      </p:sp>
      <p:sp>
        <p:nvSpPr>
          <p:cNvPr id="31" name="Shape 28"/>
          <p:cNvSpPr/>
          <p:nvPr/>
        </p:nvSpPr>
        <p:spPr>
          <a:xfrm>
            <a:off x="4709160" y="2194560"/>
            <a:ext cx="3886200" cy="731520"/>
          </a:xfrm>
          <a:prstGeom prst="roundRect">
            <a:avLst>
              <a:gd name="adj" fmla="val 10000"/>
            </a:avLst>
          </a:prstGeom>
          <a:solidFill>
            <a:srgbClr val="FFFFFF"/>
          </a:solidFill>
          <a:ln w="12700">
            <a:solidFill>
              <a:srgbClr val="DDE0E5"/>
            </a:solidFill>
            <a:prstDash val="solid"/>
          </a:ln>
          <a:effectLst>
            <a:outerShdw sx="100000" sy="100000" kx="0" ky="0" algn="bl" rotWithShape="0" blurRad="101600" dist="25400" dir="5400000">
              <a:srgbClr val="000000">
                <a:alpha val="10000"/>
              </a:srgbClr>
            </a:outerShdw>
          </a:effectLst>
        </p:spPr>
      </p:sp>
      <p:sp>
        <p:nvSpPr>
          <p:cNvPr id="32" name="Shape 29"/>
          <p:cNvSpPr/>
          <p:nvPr/>
        </p:nvSpPr>
        <p:spPr>
          <a:xfrm>
            <a:off x="4864608" y="2350008"/>
            <a:ext cx="420624" cy="420624"/>
          </a:xfrm>
          <a:prstGeom prst="ellipse">
            <a:avLst/>
          </a:prstGeom>
          <a:solidFill>
            <a:srgbClr val="BF5700"/>
          </a:solidFill>
          <a:ln/>
        </p:spPr>
      </p:sp>
      <p:pic>
        <p:nvPicPr>
          <p:cNvPr id="33" name="Image 1" descr="preencoded.png">    </p:cNvPr>
          <p:cNvPicPr>
            <a:picLocks noChangeAspect="1"/>
          </p:cNvPicPr>
          <p:nvPr/>
        </p:nvPicPr>
        <p:blipFill>
          <a:blip r:embed="rId2"/>
          <a:stretch>
            <a:fillRect/>
          </a:stretch>
        </p:blipFill>
        <p:spPr>
          <a:xfrm>
            <a:off x="4973970" y="2459370"/>
            <a:ext cx="201900" cy="201900"/>
          </a:xfrm>
          <a:prstGeom prst="rect">
            <a:avLst/>
          </a:prstGeom>
        </p:spPr>
      </p:pic>
      <p:sp>
        <p:nvSpPr>
          <p:cNvPr id="34" name="Text 30"/>
          <p:cNvSpPr/>
          <p:nvPr/>
        </p:nvSpPr>
        <p:spPr>
          <a:xfrm>
            <a:off x="5440680" y="2194560"/>
            <a:ext cx="3063240" cy="731520"/>
          </a:xfrm>
          <a:prstGeom prst="rect">
            <a:avLst/>
          </a:prstGeom>
          <a:noFill/>
          <a:ln/>
        </p:spPr>
        <p:txBody>
          <a:bodyPr wrap="square" lIns="0" tIns="0" rIns="0" bIns="0" rtlCol="0" anchor="ctr"/>
          <a:lstStyle/>
          <a:p>
            <a:pPr indent="0" marL="0">
              <a:buNone/>
            </a:pPr>
            <a:r>
              <a:rPr lang="en-US" sz="1200" b="1" dirty="0">
                <a:solidFill>
                  <a:srgbClr val="13161C"/>
                </a:solidFill>
                <a:latin typeface="Arial" pitchFamily="34" charset="0"/>
                <a:ea typeface="Arial" pitchFamily="34" charset="-122"/>
                <a:cs typeface="Arial" pitchFamily="34" charset="-120"/>
              </a:rPr>
              <a:t>e2e · pull requests</a:t>
            </a:r>
            <a:pPr indent="0" marL="0">
              <a:buNone/>
            </a:pPr>
            <a:r>
              <a:rPr lang="en-US" sz="800" b="1" dirty="0">
                <a:solidFill>
                  <a:srgbClr val="BF5700"/>
                </a:solidFill>
                <a:latin typeface="Arial" pitchFamily="34" charset="0"/>
                <a:ea typeface="Arial" pitchFamily="34" charset="-122"/>
                <a:cs typeface="Arial" pitchFamily="34" charset="-120"/>
              </a:rPr>
              <a:t>  NOT ENABLED</a:t>
            </a:r>
            <a:endParaRPr lang="en-US" sz="1200" dirty="0"/>
          </a:p>
          <a:p>
            <a:pPr indent="0" marL="0">
              <a:buNone/>
            </a:pPr>
            <a:r>
              <a:rPr lang="en-US" sz="1000" dirty="0">
                <a:solidFill>
                  <a:srgbClr val="6B7280"/>
                </a:solidFill>
                <a:latin typeface="Arial" pitchFamily="34" charset="0"/>
                <a:ea typeface="Arial" pitchFamily="34" charset="-122"/>
                <a:cs typeface="Arial" pitchFamily="34" charset="-120"/>
              </a:rPr>
              <a:t>Full build into an ephemeral dataset, 100 sims.</a:t>
            </a:r>
            <a:endParaRPr lang="en-US" sz="1200" dirty="0"/>
          </a:p>
        </p:txBody>
      </p:sp>
      <p:sp>
        <p:nvSpPr>
          <p:cNvPr id="35" name="Shape 31"/>
          <p:cNvSpPr/>
          <p:nvPr/>
        </p:nvSpPr>
        <p:spPr>
          <a:xfrm>
            <a:off x="4709160" y="3063240"/>
            <a:ext cx="3886200" cy="731520"/>
          </a:xfrm>
          <a:prstGeom prst="roundRect">
            <a:avLst>
              <a:gd name="adj" fmla="val 10000"/>
            </a:avLst>
          </a:prstGeom>
          <a:solidFill>
            <a:srgbClr val="FFFFFF"/>
          </a:solidFill>
          <a:ln w="12700">
            <a:solidFill>
              <a:srgbClr val="DDE0E5"/>
            </a:solidFill>
            <a:prstDash val="solid"/>
          </a:ln>
          <a:effectLst>
            <a:outerShdw sx="100000" sy="100000" kx="0" ky="0" algn="bl" rotWithShape="0" blurRad="101600" dist="25400" dir="5400000">
              <a:srgbClr val="000000">
                <a:alpha val="10000"/>
              </a:srgbClr>
            </a:outerShdw>
          </a:effectLst>
        </p:spPr>
      </p:sp>
      <p:sp>
        <p:nvSpPr>
          <p:cNvPr id="36" name="Shape 32"/>
          <p:cNvSpPr/>
          <p:nvPr/>
        </p:nvSpPr>
        <p:spPr>
          <a:xfrm>
            <a:off x="4864608" y="3218688"/>
            <a:ext cx="420624" cy="420624"/>
          </a:xfrm>
          <a:prstGeom prst="ellipse">
            <a:avLst/>
          </a:prstGeom>
          <a:solidFill>
            <a:srgbClr val="BF5700"/>
          </a:solidFill>
          <a:ln/>
        </p:spPr>
      </p:sp>
      <p:pic>
        <p:nvPicPr>
          <p:cNvPr id="37" name="Image 2" descr="preencoded.png">    </p:cNvPr>
          <p:cNvPicPr>
            <a:picLocks noChangeAspect="1"/>
          </p:cNvPicPr>
          <p:nvPr/>
        </p:nvPicPr>
        <p:blipFill>
          <a:blip r:embed="rId3"/>
          <a:stretch>
            <a:fillRect/>
          </a:stretch>
        </p:blipFill>
        <p:spPr>
          <a:xfrm>
            <a:off x="4973970" y="3328050"/>
            <a:ext cx="201900" cy="201900"/>
          </a:xfrm>
          <a:prstGeom prst="rect">
            <a:avLst/>
          </a:prstGeom>
        </p:spPr>
      </p:pic>
      <p:sp>
        <p:nvSpPr>
          <p:cNvPr id="38" name="Text 33"/>
          <p:cNvSpPr/>
          <p:nvPr/>
        </p:nvSpPr>
        <p:spPr>
          <a:xfrm>
            <a:off x="5440680" y="3063240"/>
            <a:ext cx="3063240" cy="731520"/>
          </a:xfrm>
          <a:prstGeom prst="rect">
            <a:avLst/>
          </a:prstGeom>
          <a:noFill/>
          <a:ln/>
        </p:spPr>
        <p:txBody>
          <a:bodyPr wrap="square" lIns="0" tIns="0" rIns="0" bIns="0" rtlCol="0" anchor="ctr"/>
          <a:lstStyle/>
          <a:p>
            <a:pPr indent="0" marL="0">
              <a:buNone/>
            </a:pPr>
            <a:r>
              <a:rPr lang="en-US" sz="1200" b="1" dirty="0">
                <a:solidFill>
                  <a:srgbClr val="13161C"/>
                </a:solidFill>
                <a:latin typeface="Arial" pitchFamily="34" charset="0"/>
                <a:ea typeface="Arial" pitchFamily="34" charset="-122"/>
                <a:cs typeface="Arial" pitchFamily="34" charset="-120"/>
              </a:rPr>
              <a:t>deploy · main</a:t>
            </a:r>
            <a:pPr indent="0" marL="0">
              <a:buNone/>
            </a:pPr>
            <a:r>
              <a:rPr lang="en-US" sz="800" b="1" dirty="0">
                <a:solidFill>
                  <a:srgbClr val="BF5700"/>
                </a:solidFill>
                <a:latin typeface="Arial" pitchFamily="34" charset="0"/>
                <a:ea typeface="Arial" pitchFamily="34" charset="-122"/>
                <a:cs typeface="Arial" pitchFamily="34" charset="-120"/>
              </a:rPr>
              <a:t>  NOT ENABLED</a:t>
            </a:r>
            <a:endParaRPr lang="en-US" sz="1200" dirty="0"/>
          </a:p>
          <a:p>
            <a:pPr indent="0" marL="0">
              <a:buNone/>
            </a:pPr>
            <a:r>
              <a:rPr lang="en-US" sz="1000" dirty="0">
                <a:solidFill>
                  <a:srgbClr val="6B7280"/>
                </a:solidFill>
                <a:latin typeface="Arial" pitchFamily="34" charset="0"/>
                <a:ea typeface="Arial" pitchFamily="34" charset="-122"/>
                <a:cs typeface="Arial" pitchFamily="34" charset="-120"/>
              </a:rPr>
              <a:t>Full build + tests into texas_longhorns.</a:t>
            </a:r>
            <a:endParaRPr lang="en-US" sz="1200" dirty="0"/>
          </a:p>
        </p:txBody>
      </p:sp>
      <p:sp>
        <p:nvSpPr>
          <p:cNvPr id="39" name="Text 34"/>
          <p:cNvSpPr/>
          <p:nvPr/>
        </p:nvSpPr>
        <p:spPr>
          <a:xfrm>
            <a:off x="4709160" y="3959352"/>
            <a:ext cx="3886200" cy="704088"/>
          </a:xfrm>
          <a:prstGeom prst="rect">
            <a:avLst/>
          </a:prstGeom>
          <a:noFill/>
          <a:ln/>
        </p:spPr>
        <p:txBody>
          <a:bodyPr wrap="square" lIns="0" tIns="0" rIns="0" bIns="0" rtlCol="0" anchor="t"/>
          <a:lstStyle/>
          <a:p>
            <a:pPr indent="0" marL="0">
              <a:buNone/>
            </a:pPr>
            <a:r>
              <a:rPr lang="en-US" sz="1000" i="1" dirty="0">
                <a:solidFill>
                  <a:srgbClr val="6B7280"/>
                </a:solidFill>
                <a:latin typeface="Arial" pitchFamily="34" charset="0"/>
                <a:ea typeface="Arial" pitchFamily="34" charset="-122"/>
                <a:cs typeface="Arial" pitchFamily="34" charset="-120"/>
              </a:rPr>
              <a:t>322 dbt tests pass on the deployed dataset. Before enabling: e2e must build the AI table its mart needs, and deploy shouldn't retrain 17 models per push.</a:t>
            </a:r>
            <a:endParaRPr lang="en-US" sz="1000" dirty="0"/>
          </a:p>
        </p:txBody>
      </p:sp>
      <p:sp>
        <p:nvSpPr>
          <p:cNvPr id="40" name="Text 35"/>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BF5700"/>
                </a:solidFill>
                <a:latin typeface="Arial" pitchFamily="34" charset="0"/>
                <a:ea typeface="Arial" pitchFamily="34" charset="-122"/>
                <a:cs typeface="Arial" pitchFamily="34" charset="-120"/>
              </a:rPr>
              <a:t>A7  ·  DISCOVERY &amp; GROWTH</a:t>
            </a:r>
            <a:endParaRPr lang="en-US" sz="1000" dirty="0"/>
          </a:p>
        </p:txBody>
      </p:sp>
      <p:sp>
        <p:nvSpPr>
          <p:cNvPr id="3" name="Text 1"/>
          <p:cNvSpPr/>
          <p:nvPr/>
        </p:nvSpPr>
        <p:spPr>
          <a:xfrm>
            <a:off x="548640" y="585216"/>
            <a:ext cx="8046720" cy="566928"/>
          </a:xfrm>
          <a:prstGeom prst="rect">
            <a:avLst/>
          </a:prstGeom>
          <a:noFill/>
          <a:ln/>
        </p:spPr>
        <p:txBody>
          <a:bodyPr wrap="square" lIns="0" tIns="0" rIns="0" bIns="0" rtlCol="0" anchor="t"/>
          <a:lstStyle/>
          <a:p>
            <a:pPr indent="0" marL="0">
              <a:buNone/>
            </a:pPr>
            <a:r>
              <a:rPr lang="en-US" sz="2800" b="1" dirty="0">
                <a:solidFill>
                  <a:srgbClr val="13161C"/>
                </a:solidFill>
                <a:latin typeface="Arial" pitchFamily="34" charset="0"/>
                <a:ea typeface="Arial" pitchFamily="34" charset="-122"/>
                <a:cs typeface="Arial" pitchFamily="34" charset="-120"/>
              </a:rPr>
              <a:t>The learning journey, in full</a:t>
            </a:r>
            <a:endParaRPr lang="en-US" sz="2800" dirty="0"/>
          </a:p>
        </p:txBody>
      </p:sp>
      <p:sp>
        <p:nvSpPr>
          <p:cNvPr id="4" name="Shape 2"/>
          <p:cNvSpPr/>
          <p:nvPr/>
        </p:nvSpPr>
        <p:spPr>
          <a:xfrm>
            <a:off x="548640" y="1325880"/>
            <a:ext cx="2560320" cy="3337560"/>
          </a:xfrm>
          <a:prstGeom prst="roundRect">
            <a:avLst>
              <a:gd name="adj" fmla="val 2857"/>
            </a:avLst>
          </a:prstGeom>
          <a:solidFill>
            <a:srgbClr val="F3F4F6"/>
          </a:solidFill>
          <a:ln/>
        </p:spPr>
      </p:sp>
      <p:sp>
        <p:nvSpPr>
          <p:cNvPr id="5" name="Shape 3"/>
          <p:cNvSpPr/>
          <p:nvPr/>
        </p:nvSpPr>
        <p:spPr>
          <a:xfrm>
            <a:off x="731520" y="1508760"/>
            <a:ext cx="457200" cy="457200"/>
          </a:xfrm>
          <a:prstGeom prst="ellipse">
            <a:avLst/>
          </a:prstGeom>
          <a:solidFill>
            <a:srgbClr val="BF5700"/>
          </a:solidFill>
          <a:ln/>
        </p:spPr>
      </p:sp>
      <p:pic>
        <p:nvPicPr>
          <p:cNvPr id="6" name="Image 0" descr="preencoded.png">    </p:cNvPr>
          <p:cNvPicPr>
            <a:picLocks noChangeAspect="1"/>
          </p:cNvPicPr>
          <p:nvPr/>
        </p:nvPicPr>
        <p:blipFill>
          <a:blip r:embed="rId1"/>
          <a:stretch>
            <a:fillRect/>
          </a:stretch>
        </p:blipFill>
        <p:spPr>
          <a:xfrm>
            <a:off x="850392" y="1627632"/>
            <a:ext cx="219456" cy="219456"/>
          </a:xfrm>
          <a:prstGeom prst="rect">
            <a:avLst/>
          </a:prstGeom>
        </p:spPr>
      </p:pic>
      <p:sp>
        <p:nvSpPr>
          <p:cNvPr id="7" name="Text 4"/>
          <p:cNvSpPr/>
          <p:nvPr/>
        </p:nvSpPr>
        <p:spPr>
          <a:xfrm>
            <a:off x="1298448" y="1572768"/>
            <a:ext cx="1737360" cy="329184"/>
          </a:xfrm>
          <a:prstGeom prst="rect">
            <a:avLst/>
          </a:prstGeom>
          <a:noFill/>
          <a:ln/>
        </p:spPr>
        <p:txBody>
          <a:bodyPr wrap="square" lIns="0" tIns="0" rIns="0" bIns="0" rtlCol="0" anchor="ctr"/>
          <a:lstStyle/>
          <a:p>
            <a:pPr indent="0" marL="0">
              <a:buNone/>
            </a:pPr>
            <a:r>
              <a:rPr lang="en-US" sz="1300" b="1" dirty="0">
                <a:solidFill>
                  <a:srgbClr val="13161C"/>
                </a:solidFill>
                <a:latin typeface="Arial" pitchFamily="34" charset="0"/>
                <a:ea typeface="Arial" pitchFamily="34" charset="-122"/>
                <a:cs typeface="Arial" pitchFamily="34" charset="-120"/>
              </a:rPr>
              <a:t>New capabilities</a:t>
            </a:r>
            <a:endParaRPr lang="en-US" sz="1300" dirty="0"/>
          </a:p>
        </p:txBody>
      </p:sp>
      <p:sp>
        <p:nvSpPr>
          <p:cNvPr id="8" name="Text 5"/>
          <p:cNvSpPr/>
          <p:nvPr/>
        </p:nvSpPr>
        <p:spPr>
          <a:xfrm>
            <a:off x="731520" y="2148840"/>
            <a:ext cx="2240280" cy="237744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BigQuery Data Agents (Agents Hub) for governed NL → SQL</a:t>
            </a:r>
            <a:endParaRPr lang="en-US" sz="1100" dirty="0"/>
          </a:p>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AI.GENERATE with output_schema for structured scouting</a:t>
            </a:r>
            <a:endParaRPr lang="en-US" sz="1100" dirty="0"/>
          </a:p>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BQML training + ML.PREDICT entirely in-warehouse</a:t>
            </a:r>
            <a:endParaRPr lang="en-US" sz="1100" dirty="0"/>
          </a:p>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Knowledge Catalog as the grounding source</a:t>
            </a:r>
            <a:endParaRPr lang="en-US" sz="1100" dirty="0"/>
          </a:p>
        </p:txBody>
      </p:sp>
      <p:sp>
        <p:nvSpPr>
          <p:cNvPr id="9" name="Shape 6"/>
          <p:cNvSpPr/>
          <p:nvPr/>
        </p:nvSpPr>
        <p:spPr>
          <a:xfrm>
            <a:off x="3291840" y="1325880"/>
            <a:ext cx="2560320" cy="3337560"/>
          </a:xfrm>
          <a:prstGeom prst="roundRect">
            <a:avLst>
              <a:gd name="adj" fmla="val 2857"/>
            </a:avLst>
          </a:prstGeom>
          <a:solidFill>
            <a:srgbClr val="F3F4F6"/>
          </a:solidFill>
          <a:ln/>
        </p:spPr>
      </p:sp>
      <p:sp>
        <p:nvSpPr>
          <p:cNvPr id="10" name="Shape 7"/>
          <p:cNvSpPr/>
          <p:nvPr/>
        </p:nvSpPr>
        <p:spPr>
          <a:xfrm>
            <a:off x="3474720" y="1508760"/>
            <a:ext cx="457200" cy="457200"/>
          </a:xfrm>
          <a:prstGeom prst="ellipse">
            <a:avLst/>
          </a:prstGeom>
          <a:solidFill>
            <a:srgbClr val="BF5700"/>
          </a:solidFill>
          <a:ln/>
        </p:spPr>
      </p:sp>
      <p:pic>
        <p:nvPicPr>
          <p:cNvPr id="11" name="Image 1" descr="preencoded.png">    </p:cNvPr>
          <p:cNvPicPr>
            <a:picLocks noChangeAspect="1"/>
          </p:cNvPicPr>
          <p:nvPr/>
        </p:nvPicPr>
        <p:blipFill>
          <a:blip r:embed="rId2"/>
          <a:stretch>
            <a:fillRect/>
          </a:stretch>
        </p:blipFill>
        <p:spPr>
          <a:xfrm>
            <a:off x="3593592" y="1627632"/>
            <a:ext cx="219456" cy="219456"/>
          </a:xfrm>
          <a:prstGeom prst="rect">
            <a:avLst/>
          </a:prstGeom>
        </p:spPr>
      </p:pic>
      <p:sp>
        <p:nvSpPr>
          <p:cNvPr id="12" name="Text 8"/>
          <p:cNvSpPr/>
          <p:nvPr/>
        </p:nvSpPr>
        <p:spPr>
          <a:xfrm>
            <a:off x="4041648" y="1572768"/>
            <a:ext cx="1737360" cy="329184"/>
          </a:xfrm>
          <a:prstGeom prst="rect">
            <a:avLst/>
          </a:prstGeom>
          <a:noFill/>
          <a:ln/>
        </p:spPr>
        <p:txBody>
          <a:bodyPr wrap="square" lIns="0" tIns="0" rIns="0" bIns="0" rtlCol="0" anchor="ctr"/>
          <a:lstStyle/>
          <a:p>
            <a:pPr indent="0" marL="0">
              <a:buNone/>
            </a:pPr>
            <a:r>
              <a:rPr lang="en-US" sz="1300" b="1" dirty="0">
                <a:solidFill>
                  <a:srgbClr val="13161C"/>
                </a:solidFill>
                <a:latin typeface="Arial" pitchFamily="34" charset="0"/>
                <a:ea typeface="Arial" pitchFamily="34" charset="-122"/>
                <a:cs typeface="Arial" pitchFamily="34" charset="-120"/>
              </a:rPr>
              <a:t>Challenges overcome</a:t>
            </a:r>
            <a:endParaRPr lang="en-US" sz="1300" dirty="0"/>
          </a:p>
        </p:txBody>
      </p:sp>
      <p:sp>
        <p:nvSpPr>
          <p:cNvPr id="13" name="Text 9"/>
          <p:cNvSpPr/>
          <p:nvPr/>
        </p:nvSpPr>
        <p:spPr>
          <a:xfrm>
            <a:off x="3474720" y="2148840"/>
            <a:ext cx="2240280" cy="237744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No Dataform permission → dbt on BigQuery</a:t>
            </a:r>
            <a:endParaRPr lang="en-US" sz="1100" dirty="0"/>
          </a:p>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AI.GENERATE_TABLE needs a connection → AI.GENERATE</a:t>
            </a:r>
            <a:endParaRPr lang="en-US" sz="1100" dirty="0"/>
          </a:p>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dbt OAuth blocked → gcloud access-token target</a:t>
            </a:r>
            <a:endParaRPr lang="en-US" sz="1100" dirty="0"/>
          </a:p>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Gemini knows post-2018 results → anonymized prompts</a:t>
            </a:r>
            <a:endParaRPr lang="en-US" sz="1100" dirty="0"/>
          </a:p>
        </p:txBody>
      </p:sp>
      <p:sp>
        <p:nvSpPr>
          <p:cNvPr id="14" name="Shape 10"/>
          <p:cNvSpPr/>
          <p:nvPr/>
        </p:nvSpPr>
        <p:spPr>
          <a:xfrm>
            <a:off x="6035040" y="1325880"/>
            <a:ext cx="2560320" cy="3337560"/>
          </a:xfrm>
          <a:prstGeom prst="roundRect">
            <a:avLst>
              <a:gd name="adj" fmla="val 2857"/>
            </a:avLst>
          </a:prstGeom>
          <a:solidFill>
            <a:srgbClr val="F3F4F6"/>
          </a:solidFill>
          <a:ln/>
        </p:spPr>
      </p:sp>
      <p:sp>
        <p:nvSpPr>
          <p:cNvPr id="15" name="Shape 11"/>
          <p:cNvSpPr/>
          <p:nvPr/>
        </p:nvSpPr>
        <p:spPr>
          <a:xfrm>
            <a:off x="6217920" y="1508760"/>
            <a:ext cx="457200" cy="457200"/>
          </a:xfrm>
          <a:prstGeom prst="ellipse">
            <a:avLst/>
          </a:prstGeom>
          <a:solidFill>
            <a:srgbClr val="BF5700"/>
          </a:solidFill>
          <a:ln/>
        </p:spPr>
      </p:sp>
      <p:pic>
        <p:nvPicPr>
          <p:cNvPr id="16" name="Image 2" descr="preencoded.png">    </p:cNvPr>
          <p:cNvPicPr>
            <a:picLocks noChangeAspect="1"/>
          </p:cNvPicPr>
          <p:nvPr/>
        </p:nvPicPr>
        <p:blipFill>
          <a:blip r:embed="rId3"/>
          <a:stretch>
            <a:fillRect/>
          </a:stretch>
        </p:blipFill>
        <p:spPr>
          <a:xfrm>
            <a:off x="6336792" y="1627632"/>
            <a:ext cx="219456" cy="219456"/>
          </a:xfrm>
          <a:prstGeom prst="rect">
            <a:avLst/>
          </a:prstGeom>
        </p:spPr>
      </p:pic>
      <p:sp>
        <p:nvSpPr>
          <p:cNvPr id="17" name="Text 12"/>
          <p:cNvSpPr/>
          <p:nvPr/>
        </p:nvSpPr>
        <p:spPr>
          <a:xfrm>
            <a:off x="6784848" y="1572768"/>
            <a:ext cx="1737360" cy="329184"/>
          </a:xfrm>
          <a:prstGeom prst="rect">
            <a:avLst/>
          </a:prstGeom>
          <a:noFill/>
          <a:ln/>
        </p:spPr>
        <p:txBody>
          <a:bodyPr wrap="square" lIns="0" tIns="0" rIns="0" bIns="0" rtlCol="0" anchor="ctr"/>
          <a:lstStyle/>
          <a:p>
            <a:pPr indent="0" marL="0">
              <a:buNone/>
            </a:pPr>
            <a:r>
              <a:rPr lang="en-US" sz="1300" b="1" dirty="0">
                <a:solidFill>
                  <a:srgbClr val="13161C"/>
                </a:solidFill>
                <a:latin typeface="Arial" pitchFamily="34" charset="0"/>
                <a:ea typeface="Arial" pitchFamily="34" charset="-122"/>
                <a:cs typeface="Arial" pitchFamily="34" charset="-120"/>
              </a:rPr>
              <a:t>Key takeaways</a:t>
            </a:r>
            <a:endParaRPr lang="en-US" sz="1300" dirty="0"/>
          </a:p>
        </p:txBody>
      </p:sp>
      <p:sp>
        <p:nvSpPr>
          <p:cNvPr id="18" name="Text 13"/>
          <p:cNvSpPr/>
          <p:nvPr/>
        </p:nvSpPr>
        <p:spPr>
          <a:xfrm>
            <a:off x="6217920" y="2148840"/>
            <a:ext cx="2240280" cy="237744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Keep compute next to the data: no movement, governed, fast</a:t>
            </a:r>
            <a:endParaRPr lang="en-US" sz="1100" dirty="0"/>
          </a:p>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Ground every claim in a query result to stop hallucination</a:t>
            </a:r>
            <a:endParaRPr lang="en-US" sz="1100" dirty="0"/>
          </a:p>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Pick models on core years only; never tune to the extension</a:t>
            </a:r>
            <a:endParaRPr lang="en-US" sz="1100" dirty="0"/>
          </a:p>
          <a:p>
            <a:pPr marL="152400" indent="-152400">
              <a:spcAft>
                <a:spcPts val="500"/>
              </a:spcAft>
              <a:buSzPct val="100000"/>
              <a:buChar char="•"/>
            </a:pPr>
            <a:r>
              <a:rPr lang="en-US" sz="1100" dirty="0">
                <a:solidFill>
                  <a:srgbClr val="222731"/>
                </a:solidFill>
                <a:latin typeface="Arial" pitchFamily="34" charset="0"/>
                <a:ea typeface="Arial" pitchFamily="34" charset="-122"/>
                <a:cs typeface="Arial" pitchFamily="34" charset="-120"/>
              </a:rPr>
              <a:t>Let data quality decide: 2013-14 dropped (65% of box scores missing)</a:t>
            </a:r>
            <a:endParaRPr lang="en-US" sz="1100" dirty="0"/>
          </a:p>
        </p:txBody>
      </p:sp>
      <p:sp>
        <p:nvSpPr>
          <p:cNvPr id="19" name="Text 14"/>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046720" cy="256032"/>
          </a:xfrm>
          <a:prstGeom prst="rect">
            <a:avLst/>
          </a:prstGeom>
          <a:noFill/>
          <a:ln/>
        </p:spPr>
        <p:txBody>
          <a:bodyPr wrap="square" lIns="0" tIns="0" rIns="0" bIns="0" rtlCol="0" anchor="ctr"/>
          <a:lstStyle/>
          <a:p>
            <a:pPr indent="0" marL="0">
              <a:buNone/>
            </a:pPr>
            <a:r>
              <a:rPr lang="en-US" sz="1000" b="1" spc="200" kern="0" dirty="0">
                <a:solidFill>
                  <a:srgbClr val="BF5700"/>
                </a:solidFill>
                <a:latin typeface="Arial" pitchFamily="34" charset="0"/>
                <a:ea typeface="Arial" pitchFamily="34" charset="-122"/>
                <a:cs typeface="Arial" pitchFamily="34" charset="-120"/>
              </a:rPr>
              <a:t>A8  ·  HOW WE MAP TO THE CRITERIA</a:t>
            </a:r>
            <a:endParaRPr lang="en-US" sz="1000" dirty="0"/>
          </a:p>
        </p:txBody>
      </p:sp>
      <p:sp>
        <p:nvSpPr>
          <p:cNvPr id="3" name="Text 1"/>
          <p:cNvSpPr/>
          <p:nvPr/>
        </p:nvSpPr>
        <p:spPr>
          <a:xfrm>
            <a:off x="548640" y="585216"/>
            <a:ext cx="8046720" cy="566928"/>
          </a:xfrm>
          <a:prstGeom prst="rect">
            <a:avLst/>
          </a:prstGeom>
          <a:noFill/>
          <a:ln/>
        </p:spPr>
        <p:txBody>
          <a:bodyPr wrap="square" lIns="0" tIns="0" rIns="0" bIns="0" rtlCol="0" anchor="t"/>
          <a:lstStyle/>
          <a:p>
            <a:pPr indent="0" marL="0">
              <a:buNone/>
            </a:pPr>
            <a:r>
              <a:rPr lang="en-US" sz="2800" b="1" dirty="0">
                <a:solidFill>
                  <a:srgbClr val="13161C"/>
                </a:solidFill>
                <a:latin typeface="Arial" pitchFamily="34" charset="0"/>
                <a:ea typeface="Arial" pitchFamily="34" charset="-122"/>
                <a:cs typeface="Arial" pitchFamily="34" charset="-120"/>
              </a:rPr>
              <a:t>Assessment matrix</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1645920"/>
                <a:gridCol w="3063240"/>
                <a:gridCol w="1828800"/>
                <a:gridCol w="1508760"/>
              </a:tblGrid>
              <a:tr h="566928">
                <a:tc>
                  <a:txBody>
                    <a:bodyPr/>
                    <a:lstStyle/>
                    <a:p>
                      <a:pPr indent="0" marL="0">
                        <a:buNone/>
                      </a:pPr>
                      <a:r>
                        <a:rPr lang="en-US" sz="1100" b="1" dirty="0">
                          <a:solidFill>
                            <a:srgbClr val="FFFFFF"/>
                          </a:solidFill>
                          <a:latin typeface="Arial" pitchFamily="34" charset="0"/>
                          <a:ea typeface="Arial" pitchFamily="34" charset="-122"/>
                          <a:cs typeface="Arial" pitchFamily="34" charset="-120"/>
                        </a:rPr>
                        <a:t>Criterion</a:t>
                      </a:r>
                      <a:endParaRPr lang="en-US" sz="110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3161C"/>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How we satisfy it</a:t>
                      </a:r>
                      <a:endParaRPr lang="en-US" sz="110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3161C"/>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Evidence</a:t>
                      </a:r>
                      <a:endParaRPr lang="en-US" sz="110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3161C"/>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Owner</a:t>
                      </a:r>
                      <a:endParaRPr lang="en-US" sz="110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3161C"/>
                    </a:solidFill>
                  </a:tcPr>
                </a:tc>
              </a:tr>
              <a:tr h="566928">
                <a:tc>
                  <a:txBody>
                    <a:bodyPr/>
                    <a:lstStyle/>
                    <a:p>
                      <a:pPr indent="0" marL="0">
                        <a:buNone/>
                      </a:pPr>
                      <a:r>
                        <a:rPr lang="en-US" sz="1100" dirty="0">
                          <a:solidFill>
                            <a:srgbClr val="222731"/>
                          </a:solidFill>
                          <a:latin typeface="Arial" pitchFamily="34" charset="0"/>
                          <a:ea typeface="Arial" pitchFamily="34" charset="-122"/>
                          <a:cs typeface="Arial" pitchFamily="34" charset="-120"/>
                        </a:rPr>
                        <a:t>Technical Execution</a:t>
                      </a:r>
                      <a:endParaRPr lang="en-US" sz="110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00" dirty="0">
                          <a:solidFill>
                            <a:srgbClr val="222731"/>
                          </a:solidFill>
                          <a:latin typeface="Arial" pitchFamily="34" charset="0"/>
                          <a:ea typeface="Arial" pitchFamily="34" charset="-122"/>
                          <a:cs typeface="Arial" pitchFamily="34" charset="-120"/>
                        </a:rPr>
                        <a:t>BQML with backtests, in-warehouse AI.GENERATE, SQL-verified agent Q&amp;A</a:t>
                      </a:r>
                      <a:endParaRPr lang="en-US" sz="110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00" dirty="0">
                          <a:solidFill>
                            <a:srgbClr val="222731"/>
                          </a:solidFill>
                          <a:latin typeface="Arial" pitchFamily="34" charset="0"/>
                          <a:ea typeface="Arial" pitchFamily="34" charset="-122"/>
                          <a:cs typeface="Arial" pitchFamily="34" charset="-120"/>
                        </a:rPr>
                        <a:t>Backtest scorecard, agent Q&amp;A</a:t>
                      </a:r>
                      <a:endParaRPr lang="en-US" sz="110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00" dirty="0">
                          <a:solidFill>
                            <a:srgbClr val="222731"/>
                          </a:solidFill>
                          <a:latin typeface="Arial" pitchFamily="34" charset="0"/>
                          <a:ea typeface="Arial" pitchFamily="34" charset="-122"/>
                          <a:cs typeface="Arial" pitchFamily="34" charset="-120"/>
                        </a:rPr>
                        <a:t>Data + ML Eng</a:t>
                      </a:r>
                      <a:endParaRPr lang="en-US" sz="110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r>
              <a:tr h="566928">
                <a:tc>
                  <a:txBody>
                    <a:bodyPr/>
                    <a:lstStyle/>
                    <a:p>
                      <a:pPr indent="0" marL="0">
                        <a:buNone/>
                      </a:pPr>
                      <a:r>
                        <a:rPr lang="en-US" sz="1100" dirty="0">
                          <a:solidFill>
                            <a:srgbClr val="222731"/>
                          </a:solidFill>
                          <a:latin typeface="Arial" pitchFamily="34" charset="0"/>
                          <a:ea typeface="Arial" pitchFamily="34" charset="-122"/>
                          <a:cs typeface="Arial" pitchFamily="34" charset="-120"/>
                        </a:rPr>
                        <a:t>Discovery &amp; Growth</a:t>
                      </a:r>
                      <a:endParaRPr lang="en-US" sz="110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00" dirty="0">
                          <a:solidFill>
                            <a:srgbClr val="222731"/>
                          </a:solidFill>
                          <a:latin typeface="Arial" pitchFamily="34" charset="0"/>
                          <a:ea typeface="Arial" pitchFamily="34" charset="-122"/>
                          <a:cs typeface="Arial" pitchFamily="34" charset="-120"/>
                        </a:rPr>
                        <a:t>Catalog scan to data map; dbt + CI; documented learnings</a:t>
                      </a:r>
                      <a:endParaRPr lang="en-US" sz="110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00" dirty="0">
                          <a:solidFill>
                            <a:srgbClr val="222731"/>
                          </a:solidFill>
                          <a:latin typeface="Arial" pitchFamily="34" charset="0"/>
                          <a:ea typeface="Arial" pitchFamily="34" charset="-122"/>
                          <a:cs typeface="Arial" pitchFamily="34" charset="-120"/>
                        </a:rPr>
                        <a:t>Learnings log, CI history</a:t>
                      </a:r>
                      <a:endParaRPr lang="en-US" sz="110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00" dirty="0">
                          <a:solidFill>
                            <a:srgbClr val="222731"/>
                          </a:solidFill>
                          <a:latin typeface="Arial" pitchFamily="34" charset="0"/>
                          <a:ea typeface="Arial" pitchFamily="34" charset="-122"/>
                          <a:cs typeface="Arial" pitchFamily="34" charset="-120"/>
                        </a:rPr>
                        <a:t>Captain + DE</a:t>
                      </a:r>
                      <a:endParaRPr lang="en-US" sz="110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r>
              <a:tr h="566928">
                <a:tc>
                  <a:txBody>
                    <a:bodyPr/>
                    <a:lstStyle/>
                    <a:p>
                      <a:pPr indent="0" marL="0">
                        <a:buNone/>
                      </a:pPr>
                      <a:r>
                        <a:rPr lang="en-US" sz="1100" dirty="0">
                          <a:solidFill>
                            <a:srgbClr val="222731"/>
                          </a:solidFill>
                          <a:latin typeface="Arial" pitchFamily="34" charset="0"/>
                          <a:ea typeface="Arial" pitchFamily="34" charset="-122"/>
                          <a:cs typeface="Arial" pitchFamily="34" charset="-120"/>
                        </a:rPr>
                        <a:t>Value &amp; Impact</a:t>
                      </a:r>
                      <a:endParaRPr lang="en-US" sz="110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00" dirty="0">
                          <a:solidFill>
                            <a:srgbClr val="222731"/>
                          </a:solidFill>
                          <a:latin typeface="Arial" pitchFamily="34" charset="0"/>
                          <a:ea typeface="Arial" pitchFamily="34" charset="-122"/>
                          <a:cs typeface="Arial" pitchFamily="34" charset="-120"/>
                        </a:rPr>
                        <a:t>Beats seed and record baselines; reusable client pattern</a:t>
                      </a:r>
                      <a:endParaRPr lang="en-US" sz="110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00" dirty="0">
                          <a:solidFill>
                            <a:srgbClr val="222731"/>
                          </a:solidFill>
                          <a:latin typeface="Arial" pitchFamily="34" charset="0"/>
                          <a:ea typeface="Arial" pitchFamily="34" charset="-122"/>
                          <a:cs typeface="Arial" pitchFamily="34" charset="-120"/>
                        </a:rPr>
                        <a:t>Log-loss delta, use cases</a:t>
                      </a:r>
                      <a:endParaRPr lang="en-US" sz="110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00" dirty="0">
                          <a:solidFill>
                            <a:srgbClr val="222731"/>
                          </a:solidFill>
                          <a:latin typeface="Arial" pitchFamily="34" charset="0"/>
                          <a:ea typeface="Arial" pitchFamily="34" charset="-122"/>
                          <a:cs typeface="Arial" pitchFamily="34" charset="-120"/>
                        </a:rPr>
                        <a:t>ML Eng + Captain</a:t>
                      </a:r>
                      <a:endParaRPr lang="en-US" sz="110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r>
              <a:tr h="566928">
                <a:tc>
                  <a:txBody>
                    <a:bodyPr/>
                    <a:lstStyle/>
                    <a:p>
                      <a:pPr indent="0" marL="0">
                        <a:buNone/>
                      </a:pPr>
                      <a:r>
                        <a:rPr lang="en-US" sz="1100" dirty="0">
                          <a:solidFill>
                            <a:srgbClr val="222731"/>
                          </a:solidFill>
                          <a:latin typeface="Arial" pitchFamily="34" charset="0"/>
                          <a:ea typeface="Arial" pitchFamily="34" charset="-122"/>
                          <a:cs typeface="Arial" pitchFamily="34" charset="-120"/>
                        </a:rPr>
                        <a:t>Storytelling</a:t>
                      </a:r>
                      <a:endParaRPr lang="en-US" sz="110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00" dirty="0">
                          <a:solidFill>
                            <a:srgbClr val="222731"/>
                          </a:solidFill>
                          <a:latin typeface="Arial" pitchFamily="34" charset="0"/>
                          <a:ea typeface="Arial" pitchFamily="34" charset="-122"/>
                          <a:cs typeface="Arial" pitchFamily="34" charset="-120"/>
                        </a:rPr>
                        <a:t>Prediction-first narrative, grounded scouting cards</a:t>
                      </a:r>
                      <a:endParaRPr lang="en-US" sz="110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00" dirty="0">
                          <a:solidFill>
                            <a:srgbClr val="222731"/>
                          </a:solidFill>
                          <a:latin typeface="Arial" pitchFamily="34" charset="0"/>
                          <a:ea typeface="Arial" pitchFamily="34" charset="-122"/>
                          <a:cs typeface="Arial" pitchFamily="34" charset="-120"/>
                        </a:rPr>
                        <a:t>This briefing</a:t>
                      </a:r>
                      <a:endParaRPr lang="en-US" sz="110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c>
                  <a:txBody>
                    <a:bodyPr/>
                    <a:lstStyle/>
                    <a:p>
                      <a:pPr indent="0" marL="0">
                        <a:buNone/>
                      </a:pPr>
                      <a:r>
                        <a:rPr lang="en-US" sz="1100" dirty="0">
                          <a:solidFill>
                            <a:srgbClr val="222731"/>
                          </a:solidFill>
                          <a:latin typeface="Arial" pitchFamily="34" charset="0"/>
                          <a:ea typeface="Arial" pitchFamily="34" charset="-122"/>
                          <a:cs typeface="Arial" pitchFamily="34" charset="-120"/>
                        </a:rPr>
                        <a:t>Captain + Analytics</a:t>
                      </a:r>
                      <a:endParaRPr lang="en-US" sz="1100" dirty="0">
                        <a:latin typeface="Arial" charset="0"/>
                        <a:ea typeface="Arial" charset="0"/>
                        <a:cs typeface="Arial" charset="0"/>
                      </a:endParaRPr>
                    </a:p>
                  </a:txBody>
                  <a:tcPr marL="91440" marR="91440"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FFFFF"/>
                    </a:solidFill>
                  </a:tcPr>
                </a:tc>
              </a:tr>
            </a:tbl>
          </a:graphicData>
        </a:graphic>
      </p:graphicFrame>
      <p:sp>
        <p:nvSpPr>
          <p:cNvPr id="5"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NCAA Championship Predictor — 5-Minute Executive Briefing</dc:title>
  <dc:subject>PptxGenJS Presentation</dc:subject>
  <dc:creator>Team texas_longhorns</dc:creator>
  <cp:lastModifiedBy>Team texas_longhorns</cp:lastModifiedBy>
  <cp:revision>1</cp:revision>
  <dcterms:created xsi:type="dcterms:W3CDTF">2026-09-17T03:59:57Z</dcterms:created>
  <dcterms:modified xsi:type="dcterms:W3CDTF">2026-09-17T03:59:57Z</dcterms:modified>
</cp:coreProperties>
</file>
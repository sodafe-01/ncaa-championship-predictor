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97148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NCAA DATA STRATEGY TEAM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1584424"/>
            <a:ext cx="7772400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the NCAA Champion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62000" y="2219325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0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AI-Driven Agentic Solution on Google Cloud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8194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25115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• BQML • AI.GENERATE • Data Agents • Gemini Enterprise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" y="3971776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Architect Briefing — 7-Person Execution Plan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7935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508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Allocation — 7 People, Parallel Swimlanes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571476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unblocks Science; Analytics &amp; Captain build the agentic and pitch layers concurrently.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8595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4864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Captain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 discovery, project management, pitch synthesis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Engineers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BigQuery schema, pipelines, table structuring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Scientists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BQML training, feature selection, prediction logic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Engineers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AI.GENERATE prompt routines, agent configuration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677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 •  ~20%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2535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Discovery &amp; Engineering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802" y="1285577"/>
            <a:ext cx="3962698" cy="3136106"/>
          </a:xfrm>
          <a:prstGeom prst="roundRect">
            <a:avLst>
              <a:gd name="adj" fmla="val 3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802" y="1314152"/>
            <a:ext cx="3962698" cy="0"/>
          </a:xfrm>
          <a:prstGeom prst="line">
            <a:avLst/>
          </a:prstGeom>
          <a:noFill/>
          <a:ln w="57150">
            <a:solidFill>
              <a:srgbClr val="3D5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402" y="1571327"/>
            <a:ext cx="357560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Scanning — Knowledge Catalog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6402" y="2142827"/>
            <a:ext cx="35756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TEAM CAPTAIN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6402" y="2428577"/>
            <a:ext cx="3505498" cy="16883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 all mapped BigQuery assets; export dataset → table → column inventory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for NCAA entities: team stats, games, brackets, rosters, seeds, advanced metrics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datasets on coverage, freshness &amp; grain; flag join keys and quality risks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one-page </a:t>
            </a:r>
            <a:pPr algn="l" indent="0" marL="0">
              <a:lnSpc>
                <a:spcPts val="1438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Map</a:t>
            </a:r>
            <a:pPr algn="l" indent="0" marL="0">
              <a:lnSpc>
                <a:spcPts val="1438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Data Scientists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73501" y="1285577"/>
            <a:ext cx="3962698" cy="3136106"/>
          </a:xfrm>
          <a:prstGeom prst="roundRect">
            <a:avLst>
              <a:gd name="adj" fmla="val 3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73501" y="1314152"/>
            <a:ext cx="3962698" cy="0"/>
          </a:xfrm>
          <a:prstGeom prst="line">
            <a:avLst/>
          </a:prstGeom>
          <a:noFill/>
          <a:ln w="57150">
            <a:solidFill>
              <a:srgbClr val="3D5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2101" y="1571327"/>
            <a:ext cx="3575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Structuring — BigQuery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2101" y="1923752"/>
            <a:ext cx="35756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DATA ENGINEERS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02101" y="2209502"/>
            <a:ext cx="3505498" cy="16883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staging → curated → feature layers (</a:t>
            </a:r>
            <a:pPr algn="l" indent="0" marL="0">
              <a:lnSpc>
                <a:spcPts val="1438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stg / dim / fct</a:t>
            </a:r>
            <a:pPr algn="l" indent="0" marL="0">
              <a:lnSpc>
                <a:spcPts val="1438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feat_team_season</a:t>
            </a:r>
            <a:pPr algn="l" indent="0" marL="0">
              <a:lnSpc>
                <a:spcPts val="1438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one row per team-season, the modeling spine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facts by season, cluster by team_id; enforce types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SQL data-quality assertions so models trust the inputs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677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 •  ~30%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2535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AI Implementation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802" y="1285577"/>
            <a:ext cx="3962698" cy="3358158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802" y="1314152"/>
            <a:ext cx="3962698" cy="0"/>
          </a:xfrm>
          <a:prstGeom prst="line">
            <a:avLst/>
          </a:prstGeom>
          <a:noFill/>
          <a:ln w="57150">
            <a:solidFill>
              <a:srgbClr val="EE6C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402" y="1571327"/>
            <a:ext cx="3575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BQML Championship Prediction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6402" y="1923752"/>
            <a:ext cx="35756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DATA SCIENTISTS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6402" y="2209502"/>
            <a:ext cx="3505498" cy="212943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Matchup model</a:t>
            </a:r>
            <a:pPr algn="l" indent="0" marL="0">
              <a:lnSpc>
                <a:spcPts val="1438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(primary): P(A beats B) — the reusable unit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via importance; prefer differential features (A−B)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LOGISTIC_REG + BOOSTED_TREE; compare with ML.EVALUATE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 on prior tournaments vs. seed-only baseline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Monte-Carlo bracket sim → </a:t>
            </a:r>
            <a:pPr algn="l" indent="0" marL="0">
              <a:lnSpc>
                <a:spcPts val="1438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P(champion) per team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73501" y="1285577"/>
            <a:ext cx="3962698" cy="3358158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73501" y="1314152"/>
            <a:ext cx="3962698" cy="0"/>
          </a:xfrm>
          <a:prstGeom prst="line">
            <a:avLst/>
          </a:prstGeom>
          <a:noFill/>
          <a:ln w="57150">
            <a:solidFill>
              <a:srgbClr val="EE6C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2101" y="1571327"/>
            <a:ext cx="3575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AI.GENERATE Routines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2101" y="1923752"/>
            <a:ext cx="35756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ANALYTICS ENGINEERS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02101" y="2209502"/>
            <a:ext cx="3505498" cy="16883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probabilities into plain-English "why they win/lose"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AI.GENERATE_TABLE → scouting cards (strength, weakness, X-factor)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prompts in real feature values to prevent hallucination</a:t>
            </a:r>
            <a:endParaRPr lang="en-US" sz="1150" dirty="0"/>
          </a:p>
          <a:p>
            <a:pPr algn="l" marL="101600" indent="-101600">
              <a:lnSpc>
                <a:spcPts val="1438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prompt templates in a </a:t>
            </a:r>
            <a:pPr algn="l" indent="0" marL="0">
              <a:lnSpc>
                <a:spcPts val="1438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pPr algn="l" indent="0" marL="0">
              <a:lnSpc>
                <a:spcPts val="1438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table for reuse &amp; audit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62025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 •  ~20%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00050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Architecture Blueprint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55550" y="1114425"/>
            <a:ext cx="3433763" cy="571202"/>
          </a:xfrm>
          <a:prstGeom prst="roundRect">
            <a:avLst>
              <a:gd name="adj" fmla="val 17787"/>
            </a:avLst>
          </a:prstGeom>
          <a:solidFill>
            <a:srgbClr val="EE6C4D"/>
          </a:solidFill>
          <a:ln/>
          <a:effectLst>
            <a:outerShdw sx="100000" sy="100000" kx="0" ky="0" algn="bl" rotWithShape="0" blurRad="5715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251" y="1215926"/>
            <a:ext cx="3139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3251" y="1441252"/>
            <a:ext cx="31399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wins &amp; why?"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1213" y="1761827"/>
            <a:ext cx="35024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5550" y="2009477"/>
            <a:ext cx="3433763" cy="571202"/>
          </a:xfrm>
          <a:prstGeom prst="roundRect">
            <a:avLst>
              <a:gd name="adj" fmla="val 1778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5715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251" y="2110978"/>
            <a:ext cx="3139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Enterprise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3251" y="2336304"/>
            <a:ext cx="31399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Orchestration, reasoning, synthesis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1213" y="2656880"/>
            <a:ext cx="35024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5550" y="2904530"/>
            <a:ext cx="3433763" cy="571202"/>
          </a:xfrm>
          <a:prstGeom prst="roundRect">
            <a:avLst>
              <a:gd name="adj" fmla="val 17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251" y="3006030"/>
            <a:ext cx="31399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Data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3251" y="3231356"/>
            <a:ext cx="31399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→ SQL, grounded in Catalog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1213" y="3551932"/>
            <a:ext cx="35024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5550" y="3799582"/>
            <a:ext cx="3433763" cy="863352"/>
          </a:xfrm>
          <a:prstGeom prst="roundRect">
            <a:avLst>
              <a:gd name="adj" fmla="val 11768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501" y="3926532"/>
            <a:ext cx="324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feat_team_season / fct_*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501" y="4129683"/>
            <a:ext cx="324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BQML models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(ML.PREDICT)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501" y="4332833"/>
            <a:ext cx="324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AI.GENERATE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narratives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43214" y="1114425"/>
            <a:ext cx="4745236" cy="3548509"/>
          </a:xfrm>
          <a:prstGeom prst="roundRect">
            <a:avLst>
              <a:gd name="adj" fmla="val 2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81314" y="1114425"/>
            <a:ext cx="0" cy="3548509"/>
          </a:xfrm>
          <a:prstGeom prst="line">
            <a:avLst/>
          </a:prstGeom>
          <a:noFill/>
          <a:ln w="76200">
            <a:solidFill>
              <a:srgbClr val="EE6C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2564" y="1317575"/>
            <a:ext cx="43479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22564" y="1628626"/>
            <a:ext cx="4262735" cy="134153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95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concerns:</a:t>
            </a:r>
            <a:pPr algn="l" indent="0" marL="0">
              <a:lnSpc>
                <a:spcPts val="1495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Agent does trusted SQL over the governed model; Gemini reasons and presents.</a:t>
            </a:r>
            <a:endParaRPr lang="en-US" sz="1150" dirty="0"/>
          </a:p>
          <a:p>
            <a:pPr algn="l" marL="101600" indent="-101600">
              <a:lnSpc>
                <a:spcPts val="1495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chain:</a:t>
            </a:r>
            <a:pPr algn="l" indent="0" marL="0">
              <a:lnSpc>
                <a:spcPts val="1495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 → curated tables → BQML → AI.GENERATE. Every claim traces to a query result.</a:t>
            </a:r>
            <a:endParaRPr lang="en-US" sz="1150" dirty="0"/>
          </a:p>
          <a:p>
            <a:pPr algn="l" marL="101600" indent="-101600">
              <a:lnSpc>
                <a:spcPts val="1495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Reusability:</a:t>
            </a:r>
            <a:pPr algn="l" indent="0" marL="0">
              <a:lnSpc>
                <a:spcPts val="1495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agent points at a semantic layer, not hardcoded queries — swap the dataset, keep the pattern.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677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 •  ~20%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2535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Pitch Runsheet (5–10 min)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28557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Team Captain (synthesis) — all contribute slides. Prediction-first storytelling.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0:00-1:00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champion prediction + confidence, upfront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1:00-3:30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Diagram; why Data Agent + Gemini split; why BQML in-warehouse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3:30-6:30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/ Findings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Contenders, scouting cards, key drivers, backtest vs. baseline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6:30-8:30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(66deg)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the agentic pattern generalizes to client work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8:30-10:00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+ Q&amp;A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Restate prediction, impact, next steps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677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 •  66DEGREES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2535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Reusing the Agentic Pattern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06301" y="1311027"/>
            <a:ext cx="4325243" cy="2727722"/>
          </a:xfrm>
          <a:prstGeom prst="roundRect">
            <a:avLst>
              <a:gd name="adj" fmla="val 37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44401" y="1311027"/>
            <a:ext cx="0" cy="2727722"/>
          </a:xfrm>
          <a:prstGeom prst="line">
            <a:avLst/>
          </a:prstGeom>
          <a:noFill/>
          <a:ln w="76200">
            <a:solidFill>
              <a:srgbClr val="EE6C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101" y="1539627"/>
            <a:ext cx="38676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Accelerator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1101" y="1860203"/>
            <a:ext cx="3867680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"Governed data + BQML + agentic narration" is a template for any client with a warehouse and a decision to make.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1101" y="2578745"/>
            <a:ext cx="386768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architecture — Catalog → curated model → BQML → Data Agent → Gemini — different domain.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1101" y="3091607"/>
            <a:ext cx="3867680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it as a </a:t>
            </a:r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discovery-to-agent engagement</a:t>
            </a:r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lowers time-to-value for clients already on GCP.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4694" y="1311027"/>
            <a:ext cx="3803005" cy="2727722"/>
          </a:xfrm>
          <a:prstGeom prst="roundRect">
            <a:avLst>
              <a:gd name="adj" fmla="val 3725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63294" y="1539627"/>
            <a:ext cx="34127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Use Cases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3294" y="1850678"/>
            <a:ext cx="3345805" cy="134585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&amp; retention prediction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fraud scoring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pipeline win-probability</a:t>
            </a:r>
            <a:endParaRPr lang="en-US" sz="1200" dirty="0"/>
          </a:p>
          <a:p>
            <a:pPr algn="l" marL="101600" indent="-1016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"ask-your-data" assistants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677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 •  CONTINUOUS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2535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Matrix vs. Judging Criteria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28557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Self-score before submission; every criterion has a named owner and evidence to show.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8778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182880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We Satisfy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Execution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BQML w/ backtests, in-warehouse AI.GENERATE, live agent 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ML.EVALUATE metrics, agent Q&amp;A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Scientists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 &amp; 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Rigorous Catalog scan to Data Map; documented learning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Map, dataset scoring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Captain + Data Eng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&amp; 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Prediction beats seed-only baseline; quantified reuse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 delta, business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 + Captain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Storytelling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Tight prediction-first narrative, grounded scouting cards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Runsheet, scouting cards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Captain + Analytics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31677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42535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 &amp; Risks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802" y="1361777"/>
            <a:ext cx="2574131" cy="1752302"/>
          </a:xfrm>
          <a:prstGeom prst="roundRect">
            <a:avLst>
              <a:gd name="adj" fmla="val 57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802" y="1390352"/>
            <a:ext cx="2574131" cy="0"/>
          </a:xfrm>
          <a:prstGeom prst="line">
            <a:avLst/>
          </a:prstGeom>
          <a:noFill/>
          <a:ln w="57150">
            <a:solidFill>
              <a:srgbClr val="EE6C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0952" y="1622078"/>
            <a:ext cx="2211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to Watch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0952" y="1923604"/>
            <a:ext cx="2211187" cy="987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feat_team_season must land day 1.</a:t>
            </a:r>
            <a:pPr algn="l" indent="0" marL="0">
              <a:lnSpc>
                <a:spcPts val="1552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Phase 2 can't start until the feature spine is stable. Data Scientists prototype on a sample in parallel.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84934" y="1361777"/>
            <a:ext cx="2574131" cy="1752302"/>
          </a:xfrm>
          <a:prstGeom prst="roundRect">
            <a:avLst>
              <a:gd name="adj" fmla="val 57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84934" y="1390352"/>
            <a:ext cx="2574131" cy="0"/>
          </a:xfrm>
          <a:prstGeom prst="line">
            <a:avLst/>
          </a:prstGeom>
          <a:noFill/>
          <a:ln w="57150">
            <a:solidFill>
              <a:srgbClr val="EE6C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8085" y="1622078"/>
            <a:ext cx="2211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Risk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88085" y="1923604"/>
            <a:ext cx="2211187" cy="789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Ungrounded LLM claims.</a:t>
            </a:r>
            <a:pPr algn="l" indent="0" marL="0">
              <a:lnSpc>
                <a:spcPts val="1552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Force AI.GENERATE to consume real feature values; demo the grounding chain live.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62067" y="1361777"/>
            <a:ext cx="2574131" cy="1752302"/>
          </a:xfrm>
          <a:prstGeom prst="roundRect">
            <a:avLst>
              <a:gd name="adj" fmla="val 57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62067" y="1390352"/>
            <a:ext cx="2574131" cy="0"/>
          </a:xfrm>
          <a:prstGeom prst="line">
            <a:avLst/>
          </a:prstGeom>
          <a:noFill/>
          <a:ln w="57150">
            <a:solidFill>
              <a:srgbClr val="EE6C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5218" y="1622078"/>
            <a:ext cx="2211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5218" y="1923604"/>
            <a:ext cx="2211187" cy="789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Over-engineering the model.</a:t>
            </a:r>
            <a:pPr algn="l" indent="0" marL="0">
              <a:lnSpc>
                <a:spcPts val="1552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backtested matchup model + clean bracket sim beats a fancy model with a broken narrative.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87338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E6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1458813"/>
            <a:ext cx="7772400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Prediction-First. Grounded. Reusable.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713286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094286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call</a:t>
            </a:r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a probability, backed by backtests vs. the seed-only baseline.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3414861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architecture</a:t>
            </a:r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every answer traces to a governed query.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3735437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66degrees accelerator</a:t>
            </a:r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ready to redeploy on the next client's warehouse.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NCAA Champion</dc:title>
  <dc:subject>PptxGenJS Presentation</dc:subject>
  <dc:creator>NCAA Data Strategy Team</dc:creator>
  <cp:lastModifiedBy>NCAA Data Strategy Team</cp:lastModifiedBy>
  <cp:revision>1</cp:revision>
  <dcterms:created xsi:type="dcterms:W3CDTF">2026-09-16T19:52:21Z</dcterms:created>
  <dcterms:modified xsi:type="dcterms:W3CDTF">2026-09-16T19:52:21Z</dcterms:modified>
</cp:coreProperties>
</file>